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371600"/>
            <a:ext cx="5943600" cy="5943600"/>
          </a:xfrm>
          <a:prstGeom prst="ellipse">
            <a:avLst/>
          </a:prstGeom>
          <a:solidFill>
            <a:srgbClr val="0A3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NMIMS : BUSINESS MANAGEMENT SCHOOL</a:t>
            </a:r>
          </a:p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Project Framework</a:t>
            </a:r>
          </a:p>
          <a:p>
            <a:pPr>
              <a:spcBef>
                <a:spcPts val="1000"/>
              </a:spcBef>
              <a:defRPr sz="2000">
                <a:solidFill>
                  <a:srgbClr val="64748B"/>
                </a:solidFill>
                <a:latin typeface="Arial"/>
              </a:defRPr>
            </a:pPr>
            <a:r>
              <a:t>Travel Agent Fraud &amp; Fake Booking Detector</a:t>
            </a:r>
            <a:br/>
            <a:r>
              <a:t>Hospitality &amp; Travel Vertical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AI OPPORTUNITY ASSESSMENT &amp; BLUEPRINT  |  BUSINESS CONTEXT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369D"/>
                </a:solidFill>
                <a:latin typeface="Arial"/>
              </a:defRPr>
            </a:pPr>
            <a:r>
              <a:t>AI FOR MANAGERS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Hospitality &amp; Travel: Key Business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Arial"/>
              </a:defRPr>
            </a:pPr>
            <a:r>
              <a:t>The travel sector operates on perishable inventory. We evaluated three major pain points and selected the highest-value problem to solve using AI: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28416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96265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369D"/>
                </a:solidFill>
                <a:latin typeface="Arial"/>
              </a:defRPr>
            </a:pPr>
            <a:r>
              <a:t>1. Inventory Spoilage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What happens:</a:t>
            </a:r>
            <a:r>
              <a:rPr b="0" sz="1200">
                <a:solidFill>
                  <a:srgbClr val="0F172A"/>
                </a:solidFill>
              </a:rPr>
              <a:t> Rogue agents block seats/rooms on hold for free, then cancel them last-minute if they can't sell them.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Business Impact:</a:t>
            </a:r>
            <a:r>
              <a:rPr b="0" sz="1200">
                <a:solidFill>
                  <a:srgbClr val="0F172A"/>
                </a:solidFill>
              </a:rPr>
              <a:t> The hotel or airline is left with empty rooms/seats that could have been sold to real passengers.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194560"/>
            <a:ext cx="3328416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2377440"/>
            <a:ext cx="296265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369D"/>
                </a:solidFill>
                <a:latin typeface="Arial"/>
              </a:defRPr>
            </a:pPr>
            <a:r>
              <a:t>2. Payment Fraud (Selected)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What happens:</a:t>
            </a:r>
            <a:r>
              <a:rPr b="0" sz="1200">
                <a:solidFill>
                  <a:srgbClr val="0F172A"/>
                </a:solidFill>
              </a:rPr>
              <a:t> Scammers use stolen cards to buy flights through agent portals. The airline pays for the ticket and faces heavy chargeback fees.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Business Impact:</a:t>
            </a:r>
            <a:r>
              <a:rPr b="0" sz="1200">
                <a:solidFill>
                  <a:srgbClr val="0F172A"/>
                </a:solidFill>
              </a:rPr>
              <a:t> Direct cash losses and risk of being banned by card networks.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2194560"/>
            <a:ext cx="3328416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377440"/>
            <a:ext cx="296265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369D"/>
                </a:solidFill>
                <a:latin typeface="Arial"/>
              </a:defRPr>
            </a:pPr>
            <a:r>
              <a:t>3. Commission Abuse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What happens:</a:t>
            </a:r>
            <a:r>
              <a:rPr b="0" sz="1200">
                <a:solidFill>
                  <a:srgbClr val="0F172A"/>
                </a:solidFill>
              </a:rPr>
              <a:t> Fake travel agents make bookings just to pocket sales commissions, then cancel the bookings later.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Business Impact:</a:t>
            </a:r>
            <a:r>
              <a:rPr b="0" sz="1200">
                <a:solidFill>
                  <a:srgbClr val="0F172A"/>
                </a:solidFill>
              </a:rPr>
              <a:t> Payouts are wasted on fake transactions, draining marketing budgets.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369D"/>
                </a:solidFill>
                <a:latin typeface="Arial"/>
              </a:defRPr>
            </a:pPr>
            <a:r>
              <a:t>AI FOR MANAGERS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Understanding the Threat: The Double-Agent Scam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Arial"/>
              </a:defRPr>
            </a:pPr>
            <a:r>
              <a:t>Stolen card fraud is NOT rare; it is the most common scam in travel because tickets are high-value and digital. Here is how a fake travel agent exploits the system: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28416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96265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369D"/>
                </a:solidFill>
                <a:latin typeface="Arial"/>
              </a:defRPr>
            </a:pPr>
            <a:r>
              <a:t>Step 1: Pocket the Cash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Scenario:</a:t>
            </a:r>
            <a:r>
              <a:rPr b="0" sz="1200">
                <a:solidFill>
                  <a:srgbClr val="0F172A"/>
                </a:solidFill>
              </a:rPr>
              <a:t> A real customer visits a fake travel agent and books a flight for $1,000.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Action:</a:t>
            </a:r>
            <a:r>
              <a:rPr b="0" sz="1200">
                <a:solidFill>
                  <a:srgbClr val="0F172A"/>
                </a:solidFill>
              </a:rPr>
              <a:t> The customer pays the agent in cash or direct bank transfer.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Result:</a:t>
            </a:r>
            <a:r>
              <a:rPr b="0" sz="1200">
                <a:solidFill>
                  <a:srgbClr val="0F172A"/>
                </a:solidFill>
              </a:rPr>
              <a:t> The fake agent now has $1,000 cash in hand.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194560"/>
            <a:ext cx="3328416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2377440"/>
            <a:ext cx="296265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369D"/>
                </a:solidFill>
                <a:latin typeface="Arial"/>
              </a:defRPr>
            </a:pPr>
            <a:r>
              <a:t>Step 2: Book with Stolen Card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Action:</a:t>
            </a:r>
            <a:r>
              <a:rPr b="0" sz="1200">
                <a:solidFill>
                  <a:srgbClr val="0F172A"/>
                </a:solidFill>
              </a:rPr>
              <a:t> The fake agent goes to the dark web, buys a stolen card, and books the real ticket on the airline portal.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Result:</a:t>
            </a:r>
            <a:r>
              <a:rPr b="0" sz="1200">
                <a:solidFill>
                  <a:srgbClr val="0F172A"/>
                </a:solidFill>
              </a:rPr>
              <a:t> The customer gets a valid ticket. The fake agent has pocketed $1,000 clean profit.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2194560"/>
            <a:ext cx="3328416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377440"/>
            <a:ext cx="296265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Step 3: The Chargeback Hit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Action:</a:t>
            </a:r>
            <a:r>
              <a:rPr b="0" sz="1200">
                <a:solidFill>
                  <a:srgbClr val="0F172A"/>
                </a:solidFill>
              </a:rPr>
              <a:t> Weeks later, the real cardholder sees the charge and reports it.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Penalty:</a:t>
            </a:r>
            <a:r>
              <a:rPr b="0" sz="1200">
                <a:solidFill>
                  <a:srgbClr val="0F172A"/>
                </a:solidFill>
              </a:rPr>
              <a:t> The bank forces the airline to refund the $1,000.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Damage:</a:t>
            </a:r>
            <a:r>
              <a:rPr b="0" sz="1200">
                <a:solidFill>
                  <a:srgbClr val="0F172A"/>
                </a:solidFill>
              </a:rPr>
              <a:t> The airline loses the ticket value, paid bank fees, and the scammer is gone.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369D"/>
                </a:solidFill>
                <a:latin typeface="Arial"/>
              </a:defRPr>
            </a:pPr>
            <a:r>
              <a:t>AI FOR MANAGERS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Primary &amp; Secondary Research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369D"/>
                </a:solidFill>
                <a:latin typeface="Arial"/>
              </a:defRPr>
            </a:pPr>
            <a:r>
              <a:t>Secondary Research Plan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Where we look:</a:t>
            </a:r>
            <a:r>
              <a:rPr b="0" sz="1200">
                <a:solidFill>
                  <a:srgbClr val="0F172A"/>
                </a:solidFill>
              </a:rPr>
              <a:t> Industry reports (Stripe, McKinsey), international airline fraud data (IATA), and past tech case studies.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What we learn:</a:t>
            </a:r>
            <a:r>
              <a:rPr b="0" sz="1200">
                <a:solidFill>
                  <a:srgbClr val="0F172A"/>
                </a:solidFill>
              </a:rPr>
              <a:t> The average cost of chargebacks, how dynamic pricing reacts to fake holds, and how other companies stop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64592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Primary Research (Whom Do We Interview?)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NOTE:</a:t>
            </a:r>
            <a:r>
              <a:rPr b="0" sz="1200">
                <a:solidFill>
                  <a:srgbClr val="0F172A"/>
                </a:solidFill>
              </a:rPr>
              <a:t> We DO NOT interview the criminals/fraudsters.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We interview the victims and managers suffering from fraud:</a:t>
            </a:r>
            <a:r>
              <a:rPr b="0" sz="1200">
                <a:solidFill>
                  <a:srgbClr val="0F172A"/>
                </a:solidFill>
              </a:rPr>
              <a:t/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- 1. Fraud Operations Managers: The business defenders who lose sleep checking logs and dealing with card chargebacks.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- 2. Honest Travel Agents: Portal users who suffer when security filters become too slow or lock them out of bookings.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  - 3. End Consumers: Travelers who face sudden ticket cancellations or price hikes.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Data target:</a:t>
            </a:r>
            <a:r>
              <a:rPr b="0" sz="1200">
                <a:solidFill>
                  <a:srgbClr val="0F172A"/>
                </a:solidFill>
              </a:rPr>
              <a:t> 3+ detailed interviews or 10+ survey responses.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369D"/>
                </a:solidFill>
                <a:latin typeface="Arial"/>
              </a:defRPr>
            </a:pPr>
            <a:r>
              <a:t>AI FOR MANAGERS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AI Opportunity Evaluation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Comparing potential AI projects to justify our focus. Fraud Detection offers the highest direct cost savings and best data availability: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Project Idea</a:t>
                      </a:r>
                    </a:p>
                  </a:txBody>
                  <a:tcPr>
                    <a:solidFill>
                      <a:srgbClr val="0A3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Business Value</a:t>
                      </a:r>
                    </a:p>
                  </a:txBody>
                  <a:tcPr>
                    <a:solidFill>
                      <a:srgbClr val="0A3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Money Saved</a:t>
                      </a:r>
                    </a:p>
                  </a:txBody>
                  <a:tcPr>
                    <a:solidFill>
                      <a:srgbClr val="0A3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Sales Potential</a:t>
                      </a:r>
                    </a:p>
                  </a:txBody>
                  <a:tcPr>
                    <a:solidFill>
                      <a:srgbClr val="0A3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Ease of Building</a:t>
                      </a:r>
                    </a:p>
                  </a:txBody>
                  <a:tcPr>
                    <a:solidFill>
                      <a:srgbClr val="0A3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 Available</a:t>
                      </a:r>
                    </a:p>
                  </a:txBody>
                  <a:tcPr>
                    <a:solidFill>
                      <a:srgbClr val="0A3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Priority Score</a:t>
                      </a:r>
                    </a:p>
                  </a:txBody>
                  <a:tcPr>
                    <a:solidFill>
                      <a:srgbClr val="0A369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AI Travel Fraud Detector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A369D"/>
                          </a:solidFill>
                          <a:latin typeface="Arial"/>
                        </a:defRPr>
                      </a:pPr>
                      <a:r>
                        <a:t>4.2 (Selected)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Dynamic Ticket Pricing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AI Travel Itinerary Planner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Easy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369D"/>
                </a:solidFill>
                <a:latin typeface="Arial"/>
              </a:defRPr>
            </a:pPr>
            <a:r>
              <a:t>AI FOR MANAGERS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How the AI Works: Our 'Smart Security'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369D"/>
                </a:solidFill>
                <a:latin typeface="Arial"/>
              </a:defRPr>
            </a:pPr>
            <a:r>
              <a:t>1. The Gatekeeper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Role:</a:t>
            </a:r>
            <a:r>
              <a:rPr b="0" sz="1200">
                <a:solidFill>
                  <a:srgbClr val="0F172A"/>
                </a:solidFill>
              </a:rPr>
              <a:t> Rule Checker.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Simple Analogy:</a:t>
            </a:r>
            <a:r>
              <a:rPr b="0" sz="1200">
                <a:solidFill>
                  <a:srgbClr val="0F172A"/>
                </a:solidFill>
              </a:rPr>
              <a:t> Checks ID card details at the door.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What it does:</a:t>
            </a:r>
            <a:r>
              <a:rPr b="0" sz="1200">
                <a:solidFill>
                  <a:srgbClr val="0F172A"/>
                </a:solidFill>
              </a:rPr>
              <a:t> Flags bookings where the card's billing country doesn't match where the user is logging in from.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1031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369D"/>
                </a:solidFill>
                <a:latin typeface="Arial"/>
              </a:defRPr>
            </a:pPr>
            <a:r>
              <a:t>2. The Shop Assistant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Role:</a:t>
            </a:r>
            <a:r>
              <a:rPr b="0" sz="1200">
                <a:solidFill>
                  <a:srgbClr val="0F172A"/>
                </a:solidFill>
              </a:rPr>
              <a:t> Speed Monitor.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Simple Analogy:</a:t>
            </a:r>
            <a:r>
              <a:rPr b="0" sz="1200">
                <a:solidFill>
                  <a:srgbClr val="0F172A"/>
                </a:solidFill>
              </a:rPr>
              <a:t> Watches how fast someone moves in a shop.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What it does:</a:t>
            </a:r>
            <a:r>
              <a:rPr b="0" sz="1200">
                <a:solidFill>
                  <a:srgbClr val="0F172A"/>
                </a:solidFill>
              </a:rPr>
              <a:t> Flags bookings typed at superhuman speeds (in milliseconds), identifying automated software bots.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1031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369D"/>
                </a:solidFill>
                <a:latin typeface="Arial"/>
              </a:defRPr>
            </a:pPr>
            <a:r>
              <a:t>3. The Detective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Role:</a:t>
            </a:r>
            <a:r>
              <a:rPr b="0" sz="1200">
                <a:solidFill>
                  <a:srgbClr val="0F172A"/>
                </a:solidFill>
              </a:rPr>
              <a:t> Connection Finder.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Simple Analogy:</a:t>
            </a:r>
            <a:r>
              <a:rPr b="0" sz="1200">
                <a:solidFill>
                  <a:srgbClr val="0F172A"/>
                </a:solidFill>
              </a:rPr>
              <a:t> Connects dots on a whiteboard.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What it does:</a:t>
            </a:r>
            <a:r>
              <a:rPr b="0" sz="1200">
                <a:solidFill>
                  <a:srgbClr val="0F172A"/>
                </a:solidFill>
              </a:rPr>
              <a:t> Detects if 5 different travel agents are sharing the same credit card number or device, exposing fraud networks.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28800"/>
            <a:ext cx="21031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4. The Auditor &amp; Manager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Role:</a:t>
            </a:r>
            <a:r>
              <a:rPr b="0" sz="1200">
                <a:solidFill>
                  <a:srgbClr val="0F172A"/>
                </a:solidFill>
              </a:rPr>
              <a:t> Language Reader.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Simple Analogy:</a:t>
            </a:r>
            <a:r>
              <a:rPr b="0" sz="1200">
                <a:solidFill>
                  <a:srgbClr val="0F172A"/>
                </a:solidFill>
              </a:rPr>
              <a:t> Reads note logs in files.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What it does:</a:t>
            </a:r>
            <a:r>
              <a:rPr b="0" sz="1200">
                <a:solidFill>
                  <a:srgbClr val="0F172A"/>
                </a:solidFill>
              </a:rPr>
              <a:t> Scans text comments for bot templates. Then, drafts a simple warning summary for our human employees.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369D"/>
                </a:solidFill>
                <a:latin typeface="Arial"/>
              </a:defRPr>
            </a:pPr>
            <a:r>
              <a:t>AI FOR MANAGERS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Implementation: How 'The Gatekeeper'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Arial"/>
              </a:defRPr>
            </a:pPr>
            <a:r>
              <a:t>The Gatekeeper runs instantly in the portal backend when a user clicks 'Book Now'. Here is the exact logical step-by-step program: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369D"/>
                </a:solidFill>
                <a:latin typeface="Arial"/>
              </a:defRPr>
            </a:pPr>
            <a:r>
              <a:t>Step 1: Extract Data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IP Address:</a:t>
            </a:r>
            <a:r>
              <a:rPr b="0" sz="1200">
                <a:solidFill>
                  <a:srgbClr val="0F172A"/>
                </a:solidFill>
              </a:rPr>
              <a:t> Checks where the agent is logging in (e.g. Russia).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Card Details:</a:t>
            </a:r>
            <a:r>
              <a:rPr b="0" sz="1200">
                <a:solidFill>
                  <a:srgbClr val="0F172A"/>
                </a:solidFill>
              </a:rPr>
              <a:t> Looks up card's Bank BIN number country (e.g. India).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Flight Time:</a:t>
            </a:r>
            <a:r>
              <a:rPr b="0" sz="1200">
                <a:solidFill>
                  <a:srgbClr val="0F172A"/>
                </a:solidFill>
              </a:rPr>
              <a:t> Checks when the flight departs (e.g. in 1.5 hours).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828800"/>
            <a:ext cx="21031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369D"/>
                </a:solidFill>
                <a:latin typeface="Arial"/>
              </a:defRPr>
            </a:pPr>
            <a:r>
              <a:t>Step 2: Run Logic Check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Test A:</a:t>
            </a:r>
            <a:r>
              <a:rPr b="0" sz="1200">
                <a:solidFill>
                  <a:srgbClr val="0F172A"/>
                </a:solidFill>
              </a:rPr>
              <a:t> Does the IP country match the Card country? (No, Russia vs India).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Test B:</a:t>
            </a:r>
            <a:r>
              <a:rPr b="0" sz="1200">
                <a:solidFill>
                  <a:srgbClr val="0F172A"/>
                </a:solidFill>
              </a:rPr>
              <a:t> Is flight time departure less than 2 hours? (Yes, 1.5 hours left).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Result:</a:t>
            </a:r>
            <a:r>
              <a:rPr b="0" sz="1200">
                <a:solidFill>
                  <a:srgbClr val="0F172A"/>
                </a:solidFill>
              </a:rPr>
              <a:t> High mismatch flag.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21031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Step 3: Trigger Action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Score Calculated:</a:t>
            </a:r>
            <a:r>
              <a:rPr b="0" sz="1200">
                <a:solidFill>
                  <a:srgbClr val="0F172A"/>
                </a:solidFill>
              </a:rPr>
              <a:t> System assigns 95/100 risk score.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Transaction Blocked:</a:t>
            </a:r>
            <a:r>
              <a:rPr b="0" sz="1200">
                <a:solidFill>
                  <a:srgbClr val="0F172A"/>
                </a:solidFill>
              </a:rPr>
              <a:t> Block ticket issuance instantly.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Alert:</a:t>
            </a:r>
            <a:r>
              <a:rPr b="0" sz="1200">
                <a:solidFill>
                  <a:srgbClr val="0F172A"/>
                </a:solidFill>
              </a:rPr>
              <a:t> Recommends security verification, protecting the airline.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369D"/>
                </a:solidFill>
                <a:latin typeface="Arial"/>
              </a:defRPr>
            </a:pPr>
            <a:r>
              <a:t>AI FOR MANAGERS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AI Dual-Value Proposition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369D"/>
                </a:solidFill>
                <a:latin typeface="Arial"/>
              </a:defRPr>
            </a:pPr>
            <a:r>
              <a:t>Value for the Travel Company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Stop Financial Leakage:</a:t>
            </a:r>
            <a:r>
              <a:rPr b="0" sz="1200">
                <a:solidFill>
                  <a:srgbClr val="0F172A"/>
                </a:solidFill>
              </a:rPr>
              <a:t> Prevents expensive credit card chargebacks and bank fines.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Protect Inventory:</a:t>
            </a:r>
            <a:r>
              <a:rPr b="0" sz="1200">
                <a:solidFill>
                  <a:srgbClr val="0F172A"/>
                </a:solidFill>
              </a:rPr>
              <a:t> Releases seats/rooms held by fake bookings, ensuring they can be sold to real customers.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Save Staff Labor:</a:t>
            </a:r>
            <a:r>
              <a:rPr b="0" sz="1200">
                <a:solidFill>
                  <a:srgbClr val="0F172A"/>
                </a:solidFill>
              </a:rPr>
              <a:t> Generates easy-to-read warnings for operations staff so they don't waste time on manual checks.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Target Goals:</a:t>
            </a:r>
            <a:r>
              <a:rPr b="0" sz="1200">
                <a:solidFill>
                  <a:srgbClr val="0F172A"/>
                </a:solidFill>
              </a:rPr>
              <a:t> 70% fewer chargebacks; 15% better room/seat occupancy.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64592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Value for the Everyday Customer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Cheaper Bookings:</a:t>
            </a:r>
            <a:r>
              <a:rPr b="0" sz="1200">
                <a:solidFill>
                  <a:srgbClr val="0F172A"/>
                </a:solidFill>
              </a:rPr>
              <a:t> Stops bot nets from artificially inflating ticket demand, keeping flight prices fair.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Scam Prevention:</a:t>
            </a:r>
            <a:r>
              <a:rPr b="0" sz="1200">
                <a:solidFill>
                  <a:srgbClr val="0F172A"/>
                </a:solidFill>
              </a:rPr>
              <a:t> Flags compromised travel agent credentials before they can sell fake boarding tickets to customers.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Travel Security:</a:t>
            </a:r>
            <a:r>
              <a:rPr b="0" sz="1200">
                <a:solidFill>
                  <a:srgbClr val="0F172A"/>
                </a:solidFill>
              </a:rPr>
              <a:t> Ensures customer tickets are completely verified, preventing gate cancellations at the airport.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369D"/>
                </a:solidFill>
                <a:latin typeface="Arial"/>
              </a:defRPr>
            </a:pPr>
            <a:r>
              <a:t>AI FOR MANAGERS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Critical Risks &amp; Ethical Concerns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369D"/>
                </a:solidFill>
                <a:latin typeface="Arial"/>
              </a:defRPr>
            </a:pPr>
            <a:r>
              <a:t>1. Protecting Privacy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The Risk:</a:t>
            </a:r>
            <a:r>
              <a:rPr b="0" sz="1200">
                <a:solidFill>
                  <a:srgbClr val="0F172A"/>
                </a:solidFill>
              </a:rPr>
              <a:t> Storing passenger names, card data, and click history raises severe privacy concerns.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The Fix:</a:t>
            </a:r>
            <a:r>
              <a:rPr b="0" sz="1200">
                <a:solidFill>
                  <a:srgbClr val="0F172A"/>
                </a:solidFill>
              </a:rPr>
              <a:t> Hashing/encrypting personal details before the AI analyzes them. Storing payment data only in secure vaults.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28800"/>
            <a:ext cx="2962656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369D"/>
                </a:solidFill>
                <a:latin typeface="Arial"/>
              </a:defRPr>
            </a:pPr>
            <a:r>
              <a:t>2. Geographical Bias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The Risk:</a:t>
            </a:r>
            <a:r>
              <a:rPr b="0" sz="1200">
                <a:solidFill>
                  <a:srgbClr val="0F172A"/>
                </a:solidFill>
              </a:rPr>
              <a:t> The AI could block honest travel agents in developing countries because their cards or booking habits look unusual.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The Fix:</a:t>
            </a:r>
            <a:r>
              <a:rPr b="0" sz="1200">
                <a:solidFill>
                  <a:srgbClr val="0F172A"/>
                </a:solidFill>
              </a:rPr>
              <a:t> Adjusting the AI settings to judge risk based on local behaviors, not one-size-fits-all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828800"/>
            <a:ext cx="2962656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369D"/>
                </a:solidFill>
                <a:latin typeface="Arial"/>
              </a:defRPr>
            </a:pPr>
            <a:r>
              <a:t>3. Clear Explanations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The Risk:</a:t>
            </a:r>
            <a:r>
              <a:rPr b="0" sz="1200">
                <a:solidFill>
                  <a:srgbClr val="0F172A"/>
                </a:solidFill>
              </a:rPr>
              <a:t> If the AI is a 'black box', human staff won't know *why* a booking was flagged and might make mistakes.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The Fix:</a:t>
            </a:r>
            <a:r>
              <a:rPr b="0" sz="1200">
                <a:solidFill>
                  <a:srgbClr val="0F172A"/>
                </a:solidFill>
              </a:rPr>
              <a:t> The AI Manager translates its logic into a simple sentence (e.g., 'Flagged for inhuman booking speed').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200400"/>
            <a:ext cx="5943600" cy="5943600"/>
          </a:xfrm>
          <a:prstGeom prst="ellipse">
            <a:avLst/>
          </a:prstGeom>
          <a:solidFill>
            <a:srgbClr val="0A3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Planning &amp; Execution Timeline</a:t>
            </a:r>
          </a:p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1. Planning &amp; Data Gathering (Months 1-2):</a:t>
            </a:r>
            <a:r>
              <a:rPr b="0" sz="1300">
                <a:solidFill>
                  <a:srgbClr val="FFFFFF"/>
                </a:solidFill>
              </a:rPr>
              <a:t> Collect past booking logs and label fake holds vs. real transactions.</a:t>
            </a:r>
          </a:p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2. Building the AI Security (Months 3-4):</a:t>
            </a:r>
            <a:r>
              <a:rPr b="0" sz="1300">
                <a:solidFill>
                  <a:srgbClr val="FFFFFF"/>
                </a:solidFill>
              </a:rPr>
              <a:t> Code the logic for the Gatekeeper, Speed Monitor, and Detective models.</a:t>
            </a:r>
          </a:p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3. Live Execution &amp; Launch (Month 5):</a:t>
            </a:r>
            <a:r>
              <a:rPr b="0" sz="1300">
                <a:solidFill>
                  <a:srgbClr val="FFFFFF"/>
                </a:solidFill>
              </a:rPr>
              <a:t> Connect the AI models to run in &lt;150ms at portal checkout.</a:t>
            </a:r>
          </a:p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4. Human Integration (Month 6):</a:t>
            </a:r>
            <a:r>
              <a:rPr b="0" sz="1300">
                <a:solidFill>
                  <a:srgbClr val="FFFFFF"/>
                </a:solidFill>
              </a:rPr>
              <a:t> Deploy the GenAI Co-pilot to summarize flags and draft agent emails.</a:t>
            </a:r>
          </a:p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5. Continuous Learning (Ongoing):</a:t>
            </a:r>
            <a:r>
              <a:rPr b="0" sz="1300">
                <a:solidFill>
                  <a:srgbClr val="FFFFFF"/>
                </a:solidFill>
              </a:rPr>
              <a:t> Train the AI with human-verified logs so it remains smart.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