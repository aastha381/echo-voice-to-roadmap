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Pr embedTrueTypeFonts="1"/>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850"/>
            </a:pPr>
            <a:r>
              <a:t>India Sunscreen Market Size (₹ Cr)</a:t>
            </a:r>
          </a:p>
        </c:rich>
      </c:tx>
      <c:layout/>
      <c:overlay val="0"/>
    </c:title>
    <c:autoTitleDeleted val="0"/>
    <c:plotArea>
      <c:barChart>
        <c:barDir val="col"/>
        <c:grouping val="clustered"/>
        <c:ser>
          <c:idx val="0"/>
          <c:order val="0"/>
          <c:tx>
            <c:strRef>
              <c:f>Sheet1!$B$1</c:f>
              <c:strCache>
                <c:ptCount val="1"/>
                <c:pt idx="0">
                  <c:v>Market Size (₹ Cr)</c:v>
                </c:pt>
              </c:strCache>
            </c:strRef>
          </c:tx>
          <c:cat>
            <c:strRef>
              <c:f>Sheet1!$A$2:$A$8</c:f>
              <c:strCache>
                <c:ptCount val="7"/>
                <c:pt idx="0">
                  <c:v>2021</c:v>
                </c:pt>
                <c:pt idx="1">
                  <c:v>2022</c:v>
                </c:pt>
                <c:pt idx="2">
                  <c:v>2023</c:v>
                </c:pt>
                <c:pt idx="3">
                  <c:v>2024</c:v>
                </c:pt>
                <c:pt idx="4">
                  <c:v>2025E</c:v>
                </c:pt>
                <c:pt idx="5">
                  <c:v>2027E</c:v>
                </c:pt>
                <c:pt idx="6">
                  <c:v>2029E</c:v>
                </c:pt>
              </c:strCache>
            </c:strRef>
          </c:cat>
          <c:val>
            <c:numRef>
              <c:f>Sheet1!$B$2:$B$8</c:f>
              <c:numCache>
                <c:formatCode>General</c:formatCode>
                <c:ptCount val="7"/>
                <c:pt idx="0">
                  <c:v>1100</c:v>
                </c:pt>
                <c:pt idx="1">
                  <c:v>1350</c:v>
                </c:pt>
                <c:pt idx="2">
                  <c:v>1650</c:v>
                </c:pt>
                <c:pt idx="3">
                  <c:v>2800</c:v>
                </c:pt>
                <c:pt idx="4">
                  <c:v>3400</c:v>
                </c:pt>
                <c:pt idx="5">
                  <c:v>5000</c:v>
                </c:pt>
                <c:pt idx="6">
                  <c:v>7500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850"/>
            </a:pPr>
            <a:r>
              <a:t>Market Segment Mix 2024 (%)</a:t>
            </a:r>
          </a:p>
        </c:rich>
      </c:tx>
      <c:layout/>
      <c:overlay val="0"/>
    </c:title>
    <c:autoTitleDeleted val="0"/>
    <c:plotArea>
      <c:layout/>
      <c:doughnutChart>
        <c:varyColors val="1"/>
        <c:ser>
          <c:idx val="0"/>
          <c:order val="0"/>
          <c:tx>
            <c:strRef>
              <c:f>Sheet1!$B$1</c:f>
              <c:strCache>
                <c:ptCount val="1"/>
                <c:pt idx="0">
                  <c:v>Share (%)</c:v>
                </c:pt>
              </c:strCache>
            </c:strRef>
          </c:tx>
          <c:cat>
            <c:strRef>
              <c:f>Sheet1!$A$2:$A$4</c:f>
              <c:strCache>
                <c:ptCount val="3"/>
                <c:pt idx="0">
                  <c:v>Mass (&lt;₹300)</c:v>
                </c:pt>
                <c:pt idx="1">
                  <c:v>Premium (₹300-800)</c:v>
                </c:pt>
                <c:pt idx="2">
                  <c:v>Derma (₹800+)</c:v>
                </c:pt>
              </c:strCache>
            </c:strRef>
          </c:cat>
          <c:val>
            <c:numRef>
              <c:f>Sheet1!$B$2:$B$4</c:f>
              <c:numCache>
                <c:formatCode>General</c:formatCode>
                <c:ptCount val="3"/>
                <c:pt idx="0">
                  <c:v>35</c:v>
                </c:pt>
                <c:pt idx="1">
                  <c:v>48</c:v>
                </c:pt>
                <c:pt idx="2">
                  <c:v>17</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750"/>
          </a:pPr>
        </a:p>
      </c:txPr>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pPr>
              <a:defRPr sz="800"/>
            </a:pPr>
            <a:r>
              <a:t>MRP (₹ X-axis) vs Derm Perception Score (0–100 Y-axis)</a:t>
            </a:r>
          </a:p>
        </c:rich>
      </c:tx>
      <c:layout/>
      <c:overlay val="0"/>
    </c:title>
    <c:plotArea>
      <c:scatterChart>
        <c:scatterStyle val="lineMarker"/>
        <c:varyColors val="0"/>
        <c:ser>
          <c:idx val="0"/>
          <c:order val="0"/>
          <c:tx>
            <c:strRef>
              <c:f>Sheet1!$B$1</c:f>
              <c:strCache>
                <c:ptCount val="1"/>
                <c:pt idx="0">
                  <c:v>Lakme ₹349</c:v>
                </c:pt>
              </c:strCache>
            </c:strRef>
          </c:tx>
          <c:spPr>
            <a:ln w="47625">
              <a:noFill/>
            </a:ln>
          </c:spPr>
          <c:xVal>
            <c:numRef>
              <c:f>Sheet1!$A$2:$A$2</c:f>
              <c:numCache>
                <c:formatCode>General</c:formatCode>
                <c:ptCount val="1"/>
                <c:pt idx="0">
                  <c:v>349</c:v>
                </c:pt>
              </c:numCache>
            </c:numRef>
          </c:xVal>
          <c:yVal>
            <c:numRef>
              <c:f>Sheet1!$B$2:$B$2</c:f>
              <c:numCache>
                <c:formatCode>General</c:formatCode>
                <c:ptCount val="1"/>
                <c:pt idx="0">
                  <c:v>28</c:v>
                </c:pt>
              </c:numCache>
            </c:numRef>
          </c:yVal>
          <c:smooth val="0"/>
        </c:ser>
        <c:ser>
          <c:idx val="1"/>
          <c:order val="1"/>
          <c:tx>
            <c:strRef>
              <c:f>Sheet1!$B$4</c:f>
              <c:strCache>
                <c:ptCount val="1"/>
                <c:pt idx="0">
                  <c:v>Lotus ₹275</c:v>
                </c:pt>
              </c:strCache>
            </c:strRef>
          </c:tx>
          <c:spPr>
            <a:ln w="47625">
              <a:noFill/>
            </a:ln>
          </c:spPr>
          <c:xVal>
            <c:numRef>
              <c:f>Sheet1!$A$5:$A$5</c:f>
              <c:numCache>
                <c:formatCode>General</c:formatCode>
                <c:ptCount val="1"/>
                <c:pt idx="0">
                  <c:v>275</c:v>
                </c:pt>
              </c:numCache>
            </c:numRef>
          </c:xVal>
          <c:yVal>
            <c:numRef>
              <c:f>Sheet1!$B$5:$B$5</c:f>
              <c:numCache>
                <c:formatCode>General</c:formatCode>
                <c:ptCount val="1"/>
                <c:pt idx="0">
                  <c:v>22</c:v>
                </c:pt>
              </c:numCache>
            </c:numRef>
          </c:yVal>
          <c:smooth val="0"/>
        </c:ser>
        <c:ser>
          <c:idx val="2"/>
          <c:order val="2"/>
          <c:tx>
            <c:strRef>
              <c:f>Sheet1!$B$7</c:f>
              <c:strCache>
                <c:ptCount val="1"/>
                <c:pt idx="0">
                  <c:v>Minimalist ₹399</c:v>
                </c:pt>
              </c:strCache>
            </c:strRef>
          </c:tx>
          <c:spPr>
            <a:ln w="47625">
              <a:noFill/>
            </a:ln>
          </c:spPr>
          <c:xVal>
            <c:numRef>
              <c:f>Sheet1!$A$8:$A$8</c:f>
              <c:numCache>
                <c:formatCode>General</c:formatCode>
                <c:ptCount val="1"/>
                <c:pt idx="0">
                  <c:v>399</c:v>
                </c:pt>
              </c:numCache>
            </c:numRef>
          </c:xVal>
          <c:yVal>
            <c:numRef>
              <c:f>Sheet1!$B$8:$B$8</c:f>
              <c:numCache>
                <c:formatCode>General</c:formatCode>
                <c:ptCount val="1"/>
                <c:pt idx="0">
                  <c:v>50</c:v>
                </c:pt>
              </c:numCache>
            </c:numRef>
          </c:yVal>
          <c:smooth val="0"/>
        </c:ser>
        <c:ser>
          <c:idx val="3"/>
          <c:order val="3"/>
          <c:tx>
            <c:strRef>
              <c:f>Sheet1!$B$10</c:f>
              <c:strCache>
                <c:ptCount val="1"/>
                <c:pt idx="0">
                  <c:v>Derma Co ₹475</c:v>
                </c:pt>
              </c:strCache>
            </c:strRef>
          </c:tx>
          <c:spPr>
            <a:ln w="47625">
              <a:noFill/>
            </a:ln>
          </c:spPr>
          <c:xVal>
            <c:numRef>
              <c:f>Sheet1!$A$11:$A$11</c:f>
              <c:numCache>
                <c:formatCode>General</c:formatCode>
                <c:ptCount val="1"/>
                <c:pt idx="0">
                  <c:v>475</c:v>
                </c:pt>
              </c:numCache>
            </c:numRef>
          </c:xVal>
          <c:yVal>
            <c:numRef>
              <c:f>Sheet1!$B$11:$B$11</c:f>
              <c:numCache>
                <c:formatCode>General</c:formatCode>
                <c:ptCount val="1"/>
                <c:pt idx="0">
                  <c:v>52</c:v>
                </c:pt>
              </c:numCache>
            </c:numRef>
          </c:yVal>
          <c:smooth val="0"/>
        </c:ser>
        <c:ser>
          <c:idx val="4"/>
          <c:order val="4"/>
          <c:tx>
            <c:strRef>
              <c:f>Sheet1!$B$13</c:f>
              <c:strCache>
                <c:ptCount val="1"/>
                <c:pt idx="0">
                  <c:v>Re'equil ₹695</c:v>
                </c:pt>
              </c:strCache>
            </c:strRef>
          </c:tx>
          <c:spPr>
            <a:ln w="47625">
              <a:noFill/>
            </a:ln>
          </c:spPr>
          <c:xVal>
            <c:numRef>
              <c:f>Sheet1!$A$14:$A$14</c:f>
              <c:numCache>
                <c:formatCode>General</c:formatCode>
                <c:ptCount val="1"/>
                <c:pt idx="0">
                  <c:v>695</c:v>
                </c:pt>
              </c:numCache>
            </c:numRef>
          </c:xVal>
          <c:yVal>
            <c:numRef>
              <c:f>Sheet1!$B$14:$B$14</c:f>
              <c:numCache>
                <c:formatCode>General</c:formatCode>
                <c:ptCount val="1"/>
                <c:pt idx="0">
                  <c:v>80</c:v>
                </c:pt>
              </c:numCache>
            </c:numRef>
          </c:yVal>
          <c:smooth val="0"/>
        </c:ser>
        <c:ser>
          <c:idx val="5"/>
          <c:order val="5"/>
          <c:tx>
            <c:strRef>
              <c:f>Sheet1!$B$16</c:f>
              <c:strCache>
                <c:ptCount val="1"/>
                <c:pt idx="0">
                  <c:v>La Shield ₹780</c:v>
                </c:pt>
              </c:strCache>
            </c:strRef>
          </c:tx>
          <c:spPr>
            <a:ln w="47625">
              <a:noFill/>
            </a:ln>
          </c:spPr>
          <c:xVal>
            <c:numRef>
              <c:f>Sheet1!$A$17:$A$17</c:f>
              <c:numCache>
                <c:formatCode>General</c:formatCode>
                <c:ptCount val="1"/>
                <c:pt idx="0">
                  <c:v>780</c:v>
                </c:pt>
              </c:numCache>
            </c:numRef>
          </c:xVal>
          <c:yVal>
            <c:numRef>
              <c:f>Sheet1!$B$17:$B$17</c:f>
              <c:numCache>
                <c:formatCode>General</c:formatCode>
                <c:ptCount val="1"/>
                <c:pt idx="0">
                  <c:v>82</c:v>
                </c:pt>
              </c:numCache>
            </c:numRef>
          </c:yVal>
          <c:smooth val="0"/>
        </c:ser>
        <c:ser>
          <c:idx val="6"/>
          <c:order val="6"/>
          <c:tx>
            <c:strRef>
              <c:f>Sheet1!$B$19</c:f>
              <c:strCache>
                <c:ptCount val="1"/>
                <c:pt idx="0">
                  <c:v>IPCA Acne-UV ₹580</c:v>
                </c:pt>
              </c:strCache>
            </c:strRef>
          </c:tx>
          <c:spPr>
            <a:ln w="47625">
              <a:noFill/>
            </a:ln>
          </c:spPr>
          <c:xVal>
            <c:numRef>
              <c:f>Sheet1!$A$20:$A$20</c:f>
              <c:numCache>
                <c:formatCode>General</c:formatCode>
                <c:ptCount val="1"/>
                <c:pt idx="0">
                  <c:v>580</c:v>
                </c:pt>
              </c:numCache>
            </c:numRef>
          </c:xVal>
          <c:yVal>
            <c:numRef>
              <c:f>Sheet1!$B$20:$B$20</c:f>
              <c:numCache>
                <c:formatCode>General</c:formatCode>
                <c:ptCount val="1"/>
                <c:pt idx="0">
                  <c:v>75</c:v>
                </c:pt>
              </c:numCache>
            </c:numRef>
          </c:yVal>
          <c:smooth val="0"/>
        </c:ser>
        <c:ser>
          <c:idx val="7"/>
          <c:order val="7"/>
          <c:tx>
            <c:strRef>
              <c:f>Sheet1!$B$22</c:f>
              <c:strCache>
                <c:ptCount val="1"/>
                <c:pt idx="0">
                  <c:v>Bioderma ₹1575</c:v>
                </c:pt>
              </c:strCache>
            </c:strRef>
          </c:tx>
          <c:spPr>
            <a:ln w="47625">
              <a:noFill/>
            </a:ln>
          </c:spPr>
          <c:xVal>
            <c:numRef>
              <c:f>Sheet1!$A$23:$A$23</c:f>
              <c:numCache>
                <c:formatCode>General</c:formatCode>
                <c:ptCount val="1"/>
                <c:pt idx="0">
                  <c:v>1575</c:v>
                </c:pt>
              </c:numCache>
            </c:numRef>
          </c:xVal>
          <c:yVal>
            <c:numRef>
              <c:f>Sheet1!$B$23:$B$23</c:f>
              <c:numCache>
                <c:formatCode>General</c:formatCode>
                <c:ptCount val="1"/>
                <c:pt idx="0">
                  <c:v>90</c:v>
                </c:pt>
              </c:numCache>
            </c:numRef>
          </c:yVal>
          <c:smooth val="0"/>
        </c:ser>
        <c:ser>
          <c:idx val="8"/>
          <c:order val="8"/>
          <c:tx>
            <c:strRef>
              <c:f>Sheet1!$B$25</c:f>
              <c:strCache>
                <c:ptCount val="1"/>
                <c:pt idx="0">
                  <c:v>Cetaphil ₹1080</c:v>
                </c:pt>
              </c:strCache>
            </c:strRef>
          </c:tx>
          <c:spPr>
            <a:ln w="47625">
              <a:noFill/>
            </a:ln>
          </c:spPr>
          <c:xVal>
            <c:numRef>
              <c:f>Sheet1!$A$26:$A$26</c:f>
              <c:numCache>
                <c:formatCode>General</c:formatCode>
                <c:ptCount val="1"/>
                <c:pt idx="0">
                  <c:v>1080</c:v>
                </c:pt>
              </c:numCache>
            </c:numRef>
          </c:xVal>
          <c:yVal>
            <c:numRef>
              <c:f>Sheet1!$B$26:$B$26</c:f>
              <c:numCache>
                <c:formatCode>General</c:formatCode>
                <c:ptCount val="1"/>
                <c:pt idx="0">
                  <c:v>95</c:v>
                </c:pt>
              </c:numCache>
            </c:numRef>
          </c:yVal>
          <c:smooth val="0"/>
        </c:ser>
        <c:ser>
          <c:idx val="9"/>
          <c:order val="9"/>
          <c:tx>
            <c:strRef>
              <c:f>Sheet1!$B$28</c:f>
              <c:strCache>
                <c:ptCount val="1"/>
                <c:pt idx="0">
                  <c:v>★ Target ₹449</c:v>
                </c:pt>
              </c:strCache>
            </c:strRef>
          </c:tx>
          <c:spPr>
            <a:ln w="47625">
              <a:noFill/>
            </a:ln>
          </c:spPr>
          <c:xVal>
            <c:numRef>
              <c:f>Sheet1!$A$29:$A$29</c:f>
              <c:numCache>
                <c:formatCode>General</c:formatCode>
                <c:ptCount val="1"/>
                <c:pt idx="0">
                  <c:v>449</c:v>
                </c:pt>
              </c:numCache>
            </c:numRef>
          </c:xVal>
          <c:yVal>
            <c:numRef>
              <c:f>Sheet1!$B$29:$B$29</c:f>
              <c:numCache>
                <c:formatCode>General</c:formatCode>
                <c:ptCount val="1"/>
                <c:pt idx="0">
                  <c:v>93</c:v>
                </c:pt>
              </c:numCache>
            </c:numRef>
          </c:yVal>
          <c:smooth val="0"/>
        </c:ser>
        <c:axId val="-2128940872"/>
        <c:axId val="-2129643912"/>
      </c:scatterChart>
      <c:valAx>
        <c:axId val="-2128940872"/>
        <c:scaling>
          <c:orientation val="minMax"/>
        </c:scaling>
        <c:delete val="0"/>
        <c:axPos val="b"/>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crossAx val="-2128940872"/>
        <c:crosses val="autoZero"/>
        <c:crossBetween val="midCat"/>
      </c:valAx>
    </c:plotArea>
    <c:legend>
      <c:legendPos val="b"/>
      <c:layout/>
      <c:overlay val="0"/>
      <c:txPr>
        <a:bodyPr/>
        <a:lstStyle/>
        <a:p>
          <a:pPr>
            <a:defRPr sz="650"/>
          </a:pPr>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850"/>
            </a:pPr>
            <a:r>
              <a:t>5-Year Revenue Trajectory (₹ Crore)</a:t>
            </a:r>
          </a:p>
        </c:rich>
      </c:tx>
      <c:layout/>
      <c:overlay val="0"/>
    </c:title>
    <c:autoTitleDeleted val="0"/>
    <c:plotArea>
      <c:lineChart>
        <c:grouping val="standard"/>
        <c:varyColors val="0"/>
        <c:ser>
          <c:idx val="0"/>
          <c:order val="0"/>
          <c:tx>
            <c:strRef>
              <c:f>Sheet1!$B$1</c:f>
              <c:strCache>
                <c:ptCount val="1"/>
                <c:pt idx="0">
                  <c:v>Revenue (₹ Cr)</c:v>
                </c:pt>
              </c:strCache>
            </c:strRef>
          </c:tx>
          <c:marker>
            <c:symbol val="none"/>
          </c:marker>
          <c:cat>
            <c:strRef>
              <c:f>Sheet1!$A$2:$A$6</c:f>
              <c:strCache>
                <c:ptCount val="5"/>
                <c:pt idx="0">
                  <c:v>Yr 1</c:v>
                </c:pt>
                <c:pt idx="1">
                  <c:v>Yr 2</c:v>
                </c:pt>
                <c:pt idx="2">
                  <c:v>Yr 3</c:v>
                </c:pt>
                <c:pt idx="3">
                  <c:v>Yr 4</c:v>
                </c:pt>
                <c:pt idx="4">
                  <c:v>Yr 5</c:v>
                </c:pt>
              </c:strCache>
            </c:strRef>
          </c:cat>
          <c:val>
            <c:numRef>
              <c:f>Sheet1!$B$2:$B$6</c:f>
              <c:numCache>
                <c:formatCode>General</c:formatCode>
                <c:ptCount val="5"/>
                <c:pt idx="0">
                  <c:v>40</c:v>
                </c:pt>
                <c:pt idx="1">
                  <c:v>85</c:v>
                </c:pt>
                <c:pt idx="2">
                  <c:v>140</c:v>
                </c:pt>
                <c:pt idx="3">
                  <c:v>230</c:v>
                </c:pt>
                <c:pt idx="4">
                  <c:v>350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850"/>
            </a:pPr>
            <a:r>
              <a:t>Unit Economics: % of MRP (Per SKU)</a:t>
            </a:r>
          </a:p>
        </c:rich>
      </c:tx>
      <c:layout/>
      <c:overlay val="0"/>
    </c:title>
    <c:autoTitleDeleted val="0"/>
    <c:plotArea>
      <c:barChart>
        <c:barDir val="col"/>
        <c:grouping val="percentStacked"/>
        <c:ser>
          <c:idx val="0"/>
          <c:order val="0"/>
          <c:tx>
            <c:strRef>
              <c:f>Sheet1!$B$1</c:f>
              <c:strCache>
                <c:ptCount val="1"/>
                <c:pt idx="0">
                  <c:v>COGS %</c:v>
                </c:pt>
              </c:strCache>
            </c:strRef>
          </c:tx>
          <c:cat>
            <c:strRef>
              <c:f>Sheet1!$A$2:$A$6</c:f>
              <c:strCache>
                <c:ptCount val="5"/>
                <c:pt idx="0">
                  <c:v>Entry Gel</c:v>
                </c:pt>
                <c:pt idx="1">
                  <c:v>UV Shield</c:v>
                </c:pt>
                <c:pt idx="2">
                  <c:v>Mist</c:v>
                </c:pt>
                <c:pt idx="3">
                  <c:v>Tint</c:v>
                </c:pt>
                <c:pt idx="4">
                  <c:v>Serum</c:v>
                </c:pt>
              </c:strCache>
            </c:strRef>
          </c:cat>
          <c:val>
            <c:numRef>
              <c:f>Sheet1!$B$2:$B$6</c:f>
              <c:numCache>
                <c:formatCode>General</c:formatCode>
                <c:ptCount val="5"/>
                <c:pt idx="0">
                  <c:v>22</c:v>
                </c:pt>
                <c:pt idx="1">
                  <c:v>22</c:v>
                </c:pt>
                <c:pt idx="2">
                  <c:v>20</c:v>
                </c:pt>
                <c:pt idx="3">
                  <c:v>22</c:v>
                </c:pt>
                <c:pt idx="4">
                  <c:v>22</c:v>
                </c:pt>
              </c:numCache>
            </c:numRef>
          </c:val>
        </c:ser>
        <c:ser>
          <c:idx val="1"/>
          <c:order val="1"/>
          <c:tx>
            <c:strRef>
              <c:f>Sheet1!$C$1</c:f>
              <c:strCache>
                <c:ptCount val="1"/>
                <c:pt idx="0">
                  <c:v>Trade %</c:v>
                </c:pt>
              </c:strCache>
            </c:strRef>
          </c:tx>
          <c:cat>
            <c:strRef>
              <c:f>Sheet1!$A$2:$A$6</c:f>
              <c:strCache>
                <c:ptCount val="5"/>
                <c:pt idx="0">
                  <c:v>Entry Gel</c:v>
                </c:pt>
                <c:pt idx="1">
                  <c:v>UV Shield</c:v>
                </c:pt>
                <c:pt idx="2">
                  <c:v>Mist</c:v>
                </c:pt>
                <c:pt idx="3">
                  <c:v>Tint</c:v>
                </c:pt>
                <c:pt idx="4">
                  <c:v>Serum</c:v>
                </c:pt>
              </c:strCache>
            </c:strRef>
          </c:cat>
          <c:val>
            <c:numRef>
              <c:f>Sheet1!$C$2:$C$6</c:f>
              <c:numCache>
                <c:formatCode>General</c:formatCode>
                <c:ptCount val="5"/>
                <c:pt idx="0">
                  <c:v>25</c:v>
                </c:pt>
                <c:pt idx="1">
                  <c:v>25</c:v>
                </c:pt>
                <c:pt idx="2">
                  <c:v>30</c:v>
                </c:pt>
                <c:pt idx="3">
                  <c:v>30</c:v>
                </c:pt>
                <c:pt idx="4">
                  <c:v>32</c:v>
                </c:pt>
              </c:numCache>
            </c:numRef>
          </c:val>
        </c:ser>
        <c:ser>
          <c:idx val="2"/>
          <c:order val="2"/>
          <c:tx>
            <c:strRef>
              <c:f>Sheet1!$D$1</c:f>
              <c:strCache>
                <c:ptCount val="1"/>
                <c:pt idx="0">
                  <c:v>Net Margin %</c:v>
                </c:pt>
              </c:strCache>
            </c:strRef>
          </c:tx>
          <c:cat>
            <c:strRef>
              <c:f>Sheet1!$A$2:$A$6</c:f>
              <c:strCache>
                <c:ptCount val="5"/>
                <c:pt idx="0">
                  <c:v>Entry Gel</c:v>
                </c:pt>
                <c:pt idx="1">
                  <c:v>UV Shield</c:v>
                </c:pt>
                <c:pt idx="2">
                  <c:v>Mist</c:v>
                </c:pt>
                <c:pt idx="3">
                  <c:v>Tint</c:v>
                </c:pt>
                <c:pt idx="4">
                  <c:v>Serum</c:v>
                </c:pt>
              </c:strCache>
            </c:strRef>
          </c:cat>
          <c:val>
            <c:numRef>
              <c:f>Sheet1!$D$2:$D$6</c:f>
              <c:numCache>
                <c:formatCode>General</c:formatCode>
                <c:ptCount val="5"/>
                <c:pt idx="0">
                  <c:v>25</c:v>
                </c:pt>
                <c:pt idx="1">
                  <c:v>28</c:v>
                </c:pt>
                <c:pt idx="2">
                  <c:v>25</c:v>
                </c:pt>
                <c:pt idx="3">
                  <c:v>24</c:v>
                </c:pt>
                <c:pt idx="4">
                  <c:v>26</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7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AD3_Cover.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097280"/>
            <a:ext cx="3200400" cy="237744"/>
          </a:xfrm>
          <a:prstGeom prst="rect">
            <a:avLst/>
          </a:prstGeom>
          <a:noFill/>
        </p:spPr>
        <p:txBody>
          <a:bodyPr wrap="square" lIns="36576" rIns="36576" tIns="18288" bIns="18288">
            <a:spAutoFit/>
          </a:bodyPr>
          <a:lstStyle/>
          <a:p>
            <a:pPr algn="l"/>
            <a:r>
              <a:rPr sz="850" b="1" i="0">
                <a:solidFill>
                  <a:srgbClr val="EA580C"/>
                </a:solidFill>
                <a:latin typeface="Outfit"/>
              </a:rPr>
              <a:t>GALDERMA SUNSCREEN CHALLENGE · OFFICIAL SUBMISSION</a:t>
            </a:r>
          </a:p>
        </p:txBody>
      </p:sp>
      <p:sp>
        <p:nvSpPr>
          <p:cNvPr id="4" name="TextBox 3"/>
          <p:cNvSpPr txBox="1"/>
          <p:nvPr/>
        </p:nvSpPr>
        <p:spPr>
          <a:xfrm>
            <a:off x="731520" y="1371600"/>
            <a:ext cx="3200400" cy="1280160"/>
          </a:xfrm>
          <a:prstGeom prst="rect">
            <a:avLst/>
          </a:prstGeom>
          <a:noFill/>
        </p:spPr>
        <p:txBody>
          <a:bodyPr wrap="square" lIns="36576" rIns="36576" tIns="18288" bIns="18288">
            <a:spAutoFit/>
          </a:bodyPr>
          <a:lstStyle/>
          <a:p>
            <a:pPr algn="l"/>
            <a:r>
              <a:rPr sz="3000" b="1" i="0">
                <a:solidFill>
                  <a:srgbClr val="FFFFFF"/>
                </a:solidFill>
                <a:latin typeface="Outfit"/>
              </a:rPr>
              <a:t>Future-Ready
Sunscreen
Strategy for India</a:t>
            </a:r>
          </a:p>
        </p:txBody>
      </p:sp>
      <p:sp>
        <p:nvSpPr>
          <p:cNvPr id="5" name="TextBox 4"/>
          <p:cNvSpPr txBox="1"/>
          <p:nvPr/>
        </p:nvSpPr>
        <p:spPr>
          <a:xfrm>
            <a:off x="731520" y="2743200"/>
            <a:ext cx="3200400" cy="457200"/>
          </a:xfrm>
          <a:prstGeom prst="rect">
            <a:avLst/>
          </a:prstGeom>
          <a:noFill/>
        </p:spPr>
        <p:txBody>
          <a:bodyPr wrap="square" lIns="36576" rIns="36576" tIns="18288" bIns="18288">
            <a:spAutoFit/>
          </a:bodyPr>
          <a:lstStyle/>
          <a:p>
            <a:pPr algn="l"/>
            <a:r>
              <a:rPr sz="950" b="0" i="0">
                <a:solidFill>
                  <a:srgbClr val="94A3B8"/>
                </a:solidFill>
                <a:latin typeface="Inter"/>
              </a:rPr>
              <a:t>A data-backed 3–5 year strategy for Galderma India sunscreen market | 2024–2029</a:t>
            </a:r>
          </a:p>
        </p:txBody>
      </p:sp>
      <p:sp>
        <p:nvSpPr>
          <p:cNvPr id="6" name="Rectangle 5"/>
          <p:cNvSpPr/>
          <p:nvPr/>
        </p:nvSpPr>
        <p:spPr>
          <a:xfrm>
            <a:off x="731520" y="3291840"/>
            <a:ext cx="3108960" cy="13716"/>
          </a:xfrm>
          <a:prstGeom prst="rect">
            <a:avLst/>
          </a:prstGeom>
          <a:solidFill>
            <a:srgbClr val="2D3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3200400" cy="182880"/>
          </a:xfrm>
          <a:prstGeom prst="rect">
            <a:avLst/>
          </a:prstGeom>
          <a:noFill/>
        </p:spPr>
        <p:txBody>
          <a:bodyPr wrap="square" lIns="36576" rIns="36576" tIns="18288" bIns="18288">
            <a:spAutoFit/>
          </a:bodyPr>
          <a:lstStyle/>
          <a:p>
            <a:pPr algn="l"/>
            <a:r>
              <a:rPr sz="750" b="1" i="0">
                <a:solidFill>
                  <a:srgbClr val="EA580C"/>
                </a:solidFill>
                <a:latin typeface="Outfit"/>
              </a:rPr>
              <a:t>TEAM</a:t>
            </a:r>
          </a:p>
        </p:txBody>
      </p:sp>
      <p:sp>
        <p:nvSpPr>
          <p:cNvPr id="8" name="TextBox 7"/>
          <p:cNvSpPr txBox="1"/>
          <p:nvPr/>
        </p:nvSpPr>
        <p:spPr>
          <a:xfrm>
            <a:off x="731520" y="3566160"/>
            <a:ext cx="3200400" cy="274320"/>
          </a:xfrm>
          <a:prstGeom prst="rect">
            <a:avLst/>
          </a:prstGeom>
          <a:noFill/>
        </p:spPr>
        <p:txBody>
          <a:bodyPr wrap="square" lIns="36576" rIns="36576" tIns="18288" bIns="18288">
            <a:spAutoFit/>
          </a:bodyPr>
          <a:lstStyle/>
          <a:p>
            <a:pPr algn="l"/>
            <a:r>
              <a:rPr sz="1600" b="1" i="0">
                <a:solidFill>
                  <a:srgbClr val="FFFFFF"/>
                </a:solidFill>
                <a:latin typeface="Outfit"/>
              </a:rPr>
              <a:t>aastha.saini95</a:t>
            </a:r>
          </a:p>
        </p:txBody>
      </p:sp>
      <p:sp>
        <p:nvSpPr>
          <p:cNvPr id="9" name="Oval 8"/>
          <p:cNvSpPr/>
          <p:nvPr/>
        </p:nvSpPr>
        <p:spPr>
          <a:xfrm>
            <a:off x="731520" y="3931920"/>
            <a:ext cx="256032" cy="25603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931920"/>
            <a:ext cx="256032" cy="256032"/>
          </a:xfrm>
          <a:prstGeom prst="rect">
            <a:avLst/>
          </a:prstGeom>
          <a:noFill/>
        </p:spPr>
        <p:txBody>
          <a:bodyPr wrap="square" lIns="36576" rIns="36576" tIns="18288" bIns="18288">
            <a:spAutoFit/>
          </a:bodyPr>
          <a:lstStyle/>
          <a:p>
            <a:pPr algn="ctr"/>
            <a:r>
              <a:rPr sz="850" b="1" i="0">
                <a:solidFill>
                  <a:srgbClr val="FFFFFF"/>
                </a:solidFill>
                <a:latin typeface="Outfit"/>
              </a:rPr>
              <a:t>A</a:t>
            </a:r>
          </a:p>
        </p:txBody>
      </p:sp>
      <p:sp>
        <p:nvSpPr>
          <p:cNvPr id="11" name="TextBox 10"/>
          <p:cNvSpPr txBox="1"/>
          <p:nvPr/>
        </p:nvSpPr>
        <p:spPr>
          <a:xfrm>
            <a:off x="1051560" y="3941064"/>
            <a:ext cx="2743200" cy="128016"/>
          </a:xfrm>
          <a:prstGeom prst="rect">
            <a:avLst/>
          </a:prstGeom>
          <a:noFill/>
        </p:spPr>
        <p:txBody>
          <a:bodyPr wrap="square" lIns="36576" rIns="36576" tIns="18288" bIns="18288">
            <a:spAutoFit/>
          </a:bodyPr>
          <a:lstStyle/>
          <a:p>
            <a:pPr algn="l"/>
            <a:r>
              <a:rPr sz="850" b="1" i="0">
                <a:solidFill>
                  <a:srgbClr val="FFFFFF"/>
                </a:solidFill>
                <a:latin typeface="Outfit"/>
              </a:rPr>
              <a:t>Aastha Saini</a:t>
            </a:r>
          </a:p>
        </p:txBody>
      </p:sp>
      <p:sp>
        <p:nvSpPr>
          <p:cNvPr id="12" name="TextBox 11"/>
          <p:cNvSpPr txBox="1"/>
          <p:nvPr/>
        </p:nvSpPr>
        <p:spPr>
          <a:xfrm>
            <a:off x="1051560" y="4059936"/>
            <a:ext cx="2743200" cy="109728"/>
          </a:xfrm>
          <a:prstGeom prst="rect">
            <a:avLst/>
          </a:prstGeom>
          <a:noFill/>
        </p:spPr>
        <p:txBody>
          <a:bodyPr wrap="square" lIns="36576" rIns="36576" tIns="18288" bIns="18288">
            <a:spAutoFit/>
          </a:bodyPr>
          <a:lstStyle/>
          <a:p>
            <a:pPr algn="l"/>
            <a:r>
              <a:rPr sz="750" b="0" i="0">
                <a:solidFill>
                  <a:srgbClr val="94A3B8"/>
                </a:solidFill>
                <a:latin typeface="Inter"/>
              </a:rPr>
              <a:t>Strategy Lead</a:t>
            </a:r>
          </a:p>
        </p:txBody>
      </p:sp>
      <p:sp>
        <p:nvSpPr>
          <p:cNvPr id="13" name="Oval 12"/>
          <p:cNvSpPr/>
          <p:nvPr/>
        </p:nvSpPr>
        <p:spPr>
          <a:xfrm>
            <a:off x="731520" y="4352544"/>
            <a:ext cx="256032" cy="25603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52544"/>
            <a:ext cx="256032" cy="256032"/>
          </a:xfrm>
          <a:prstGeom prst="rect">
            <a:avLst/>
          </a:prstGeom>
          <a:noFill/>
        </p:spPr>
        <p:txBody>
          <a:bodyPr wrap="square" lIns="36576" rIns="36576" tIns="18288" bIns="18288">
            <a:spAutoFit/>
          </a:bodyPr>
          <a:lstStyle/>
          <a:p>
            <a:pPr algn="ctr"/>
            <a:r>
              <a:rPr sz="850" b="1" i="0">
                <a:solidFill>
                  <a:srgbClr val="FFFFFF"/>
                </a:solidFill>
                <a:latin typeface="Outfit"/>
              </a:rPr>
              <a:t>S</a:t>
            </a:r>
          </a:p>
        </p:txBody>
      </p:sp>
      <p:sp>
        <p:nvSpPr>
          <p:cNvPr id="15" name="TextBox 14"/>
          <p:cNvSpPr txBox="1"/>
          <p:nvPr/>
        </p:nvSpPr>
        <p:spPr>
          <a:xfrm>
            <a:off x="1051560" y="4361688"/>
            <a:ext cx="2743200" cy="128016"/>
          </a:xfrm>
          <a:prstGeom prst="rect">
            <a:avLst/>
          </a:prstGeom>
          <a:noFill/>
        </p:spPr>
        <p:txBody>
          <a:bodyPr wrap="square" lIns="36576" rIns="36576" tIns="18288" bIns="18288">
            <a:spAutoFit/>
          </a:bodyPr>
          <a:lstStyle/>
          <a:p>
            <a:pPr algn="l"/>
            <a:r>
              <a:rPr sz="850" b="1" i="0">
                <a:solidFill>
                  <a:srgbClr val="FFFFFF"/>
                </a:solidFill>
                <a:latin typeface="Outfit"/>
              </a:rPr>
              <a:t>Suraj Satpute</a:t>
            </a:r>
          </a:p>
        </p:txBody>
      </p:sp>
      <p:sp>
        <p:nvSpPr>
          <p:cNvPr id="16" name="TextBox 15"/>
          <p:cNvSpPr txBox="1"/>
          <p:nvPr/>
        </p:nvSpPr>
        <p:spPr>
          <a:xfrm>
            <a:off x="1051560" y="4480560"/>
            <a:ext cx="2743200" cy="109728"/>
          </a:xfrm>
          <a:prstGeom prst="rect">
            <a:avLst/>
          </a:prstGeom>
          <a:noFill/>
        </p:spPr>
        <p:txBody>
          <a:bodyPr wrap="square" lIns="36576" rIns="36576" tIns="18288" bIns="18288">
            <a:spAutoFit/>
          </a:bodyPr>
          <a:lstStyle/>
          <a:p>
            <a:pPr algn="l"/>
            <a:r>
              <a:rPr sz="750" b="0" i="0">
                <a:solidFill>
                  <a:srgbClr val="94A3B8"/>
                </a:solidFill>
                <a:latin typeface="Inter"/>
              </a:rPr>
              <a:t>Analytics</a:t>
            </a:r>
          </a:p>
        </p:txBody>
      </p:sp>
      <p:sp>
        <p:nvSpPr>
          <p:cNvPr id="17" name="Oval 16"/>
          <p:cNvSpPr/>
          <p:nvPr/>
        </p:nvSpPr>
        <p:spPr>
          <a:xfrm>
            <a:off x="731520" y="4773168"/>
            <a:ext cx="256032" cy="25603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73168"/>
            <a:ext cx="256032" cy="256032"/>
          </a:xfrm>
          <a:prstGeom prst="rect">
            <a:avLst/>
          </a:prstGeom>
          <a:noFill/>
        </p:spPr>
        <p:txBody>
          <a:bodyPr wrap="square" lIns="36576" rIns="36576" tIns="18288" bIns="18288">
            <a:spAutoFit/>
          </a:bodyPr>
          <a:lstStyle/>
          <a:p>
            <a:pPr algn="ctr"/>
            <a:r>
              <a:rPr sz="850" b="1" i="0">
                <a:solidFill>
                  <a:srgbClr val="FFFFFF"/>
                </a:solidFill>
                <a:latin typeface="Outfit"/>
              </a:rPr>
              <a:t>D</a:t>
            </a:r>
          </a:p>
        </p:txBody>
      </p:sp>
      <p:sp>
        <p:nvSpPr>
          <p:cNvPr id="19" name="TextBox 18"/>
          <p:cNvSpPr txBox="1"/>
          <p:nvPr/>
        </p:nvSpPr>
        <p:spPr>
          <a:xfrm>
            <a:off x="1051560" y="4782312"/>
            <a:ext cx="2743200" cy="128016"/>
          </a:xfrm>
          <a:prstGeom prst="rect">
            <a:avLst/>
          </a:prstGeom>
          <a:noFill/>
        </p:spPr>
        <p:txBody>
          <a:bodyPr wrap="square" lIns="36576" rIns="36576" tIns="18288" bIns="18288">
            <a:spAutoFit/>
          </a:bodyPr>
          <a:lstStyle/>
          <a:p>
            <a:pPr algn="l"/>
            <a:r>
              <a:rPr sz="850" b="1" i="0">
                <a:solidFill>
                  <a:srgbClr val="FFFFFF"/>
                </a:solidFill>
                <a:latin typeface="Outfit"/>
              </a:rPr>
              <a:t>I Dharshana</a:t>
            </a:r>
          </a:p>
        </p:txBody>
      </p:sp>
      <p:sp>
        <p:nvSpPr>
          <p:cNvPr id="20" name="TextBox 19"/>
          <p:cNvSpPr txBox="1"/>
          <p:nvPr/>
        </p:nvSpPr>
        <p:spPr>
          <a:xfrm>
            <a:off x="1051560" y="4901184"/>
            <a:ext cx="2743200" cy="109728"/>
          </a:xfrm>
          <a:prstGeom prst="rect">
            <a:avLst/>
          </a:prstGeom>
          <a:noFill/>
        </p:spPr>
        <p:txBody>
          <a:bodyPr wrap="square" lIns="36576" rIns="36576" tIns="18288" bIns="18288">
            <a:spAutoFit/>
          </a:bodyPr>
          <a:lstStyle/>
          <a:p>
            <a:pPr algn="l"/>
            <a:r>
              <a:rPr sz="750" b="0" i="0">
                <a:solidFill>
                  <a:srgbClr val="94A3B8"/>
                </a:solidFill>
                <a:latin typeface="Inter"/>
              </a:rPr>
              <a:t>Research</a:t>
            </a:r>
          </a:p>
        </p:txBody>
      </p:sp>
      <p:sp>
        <p:nvSpPr>
          <p:cNvPr id="21" name="Rounded Rectangle 20"/>
          <p:cNvSpPr/>
          <p:nvPr/>
        </p:nvSpPr>
        <p:spPr>
          <a:xfrm>
            <a:off x="4114800" y="1097280"/>
            <a:ext cx="2377440" cy="4023360"/>
          </a:xfrm>
          <a:prstGeom prst="roundRect">
            <a:avLst/>
          </a:prstGeom>
          <a:solidFill>
            <a:srgbClr val="0F172A"/>
          </a:solidFill>
          <a:ln w="9525">
            <a:solidFill>
              <a:srgbClr val="2D3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234440"/>
            <a:ext cx="2011680" cy="182880"/>
          </a:xfrm>
          <a:prstGeom prst="rect">
            <a:avLst/>
          </a:prstGeom>
          <a:noFill/>
        </p:spPr>
        <p:txBody>
          <a:bodyPr wrap="square" lIns="36576" rIns="36576" tIns="18288" bIns="18288">
            <a:spAutoFit/>
          </a:bodyPr>
          <a:lstStyle/>
          <a:p>
            <a:pPr algn="l"/>
            <a:r>
              <a:rPr sz="800" b="1" i="0">
                <a:solidFill>
                  <a:srgbClr val="EA580C"/>
                </a:solidFill>
                <a:latin typeface="Outfit"/>
              </a:rPr>
              <a:t>KEY OUTCOMES</a:t>
            </a:r>
          </a:p>
        </p:txBody>
      </p:sp>
      <p:sp>
        <p:nvSpPr>
          <p:cNvPr id="23" name="TextBox 22"/>
          <p:cNvSpPr txBox="1"/>
          <p:nvPr/>
        </p:nvSpPr>
        <p:spPr>
          <a:xfrm>
            <a:off x="4297680" y="1508760"/>
            <a:ext cx="2011680" cy="146304"/>
          </a:xfrm>
          <a:prstGeom prst="rect">
            <a:avLst/>
          </a:prstGeom>
          <a:noFill/>
        </p:spPr>
        <p:txBody>
          <a:bodyPr wrap="square" lIns="36576" rIns="36576" tIns="18288" bIns="18288">
            <a:spAutoFit/>
          </a:bodyPr>
          <a:lstStyle/>
          <a:p>
            <a:pPr algn="l"/>
            <a:r>
              <a:rPr sz="750" b="0" i="0">
                <a:solidFill>
                  <a:srgbClr val="94A3B8"/>
                </a:solidFill>
                <a:latin typeface="Inter"/>
              </a:rPr>
              <a:t>Market Opportunity</a:t>
            </a:r>
          </a:p>
        </p:txBody>
      </p:sp>
      <p:sp>
        <p:nvSpPr>
          <p:cNvPr id="24" name="TextBox 23"/>
          <p:cNvSpPr txBox="1"/>
          <p:nvPr/>
        </p:nvSpPr>
        <p:spPr>
          <a:xfrm>
            <a:off x="4297680" y="1655064"/>
            <a:ext cx="2011680" cy="237744"/>
          </a:xfrm>
          <a:prstGeom prst="rect">
            <a:avLst/>
          </a:prstGeom>
          <a:noFill/>
        </p:spPr>
        <p:txBody>
          <a:bodyPr wrap="square" lIns="36576" rIns="36576" tIns="18288" bIns="18288">
            <a:spAutoFit/>
          </a:bodyPr>
          <a:lstStyle/>
          <a:p>
            <a:pPr algn="l"/>
            <a:r>
              <a:rPr sz="1200" b="1" i="0">
                <a:solidFill>
                  <a:srgbClr val="EA580C"/>
                </a:solidFill>
                <a:latin typeface="Outfit"/>
              </a:rPr>
              <a:t>₹2,800 Cr</a:t>
            </a:r>
          </a:p>
        </p:txBody>
      </p:sp>
      <p:sp>
        <p:nvSpPr>
          <p:cNvPr id="25" name="Rectangle 24"/>
          <p:cNvSpPr/>
          <p:nvPr/>
        </p:nvSpPr>
        <p:spPr>
          <a:xfrm>
            <a:off x="4297680" y="2112264"/>
            <a:ext cx="2011680" cy="7315"/>
          </a:xfrm>
          <a:prstGeom prst="rect">
            <a:avLst/>
          </a:prstGeom>
          <a:solidFill>
            <a:srgbClr val="2D3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0" y="2185416"/>
            <a:ext cx="2011680" cy="146304"/>
          </a:xfrm>
          <a:prstGeom prst="rect">
            <a:avLst/>
          </a:prstGeom>
          <a:noFill/>
        </p:spPr>
        <p:txBody>
          <a:bodyPr wrap="square" lIns="36576" rIns="36576" tIns="18288" bIns="18288">
            <a:spAutoFit/>
          </a:bodyPr>
          <a:lstStyle/>
          <a:p>
            <a:pPr algn="l"/>
            <a:r>
              <a:rPr sz="750" b="0" i="0">
                <a:solidFill>
                  <a:srgbClr val="94A3B8"/>
                </a:solidFill>
                <a:latin typeface="Inter"/>
              </a:rPr>
              <a:t>Target CAGR</a:t>
            </a:r>
          </a:p>
        </p:txBody>
      </p:sp>
      <p:sp>
        <p:nvSpPr>
          <p:cNvPr id="27" name="TextBox 26"/>
          <p:cNvSpPr txBox="1"/>
          <p:nvPr/>
        </p:nvSpPr>
        <p:spPr>
          <a:xfrm>
            <a:off x="4297680" y="2331720"/>
            <a:ext cx="2011680" cy="237744"/>
          </a:xfrm>
          <a:prstGeom prst="rect">
            <a:avLst/>
          </a:prstGeom>
          <a:noFill/>
        </p:spPr>
        <p:txBody>
          <a:bodyPr wrap="square" lIns="36576" rIns="36576" tIns="18288" bIns="18288">
            <a:spAutoFit/>
          </a:bodyPr>
          <a:lstStyle/>
          <a:p>
            <a:pPr algn="l"/>
            <a:r>
              <a:rPr sz="1200" b="1" i="0">
                <a:solidFill>
                  <a:srgbClr val="0284C7"/>
                </a:solidFill>
                <a:latin typeface="Outfit"/>
              </a:rPr>
              <a:t>22%</a:t>
            </a:r>
          </a:p>
        </p:txBody>
      </p:sp>
      <p:sp>
        <p:nvSpPr>
          <p:cNvPr id="28" name="Rectangle 27"/>
          <p:cNvSpPr/>
          <p:nvPr/>
        </p:nvSpPr>
        <p:spPr>
          <a:xfrm>
            <a:off x="4297680" y="2788920"/>
            <a:ext cx="2011680" cy="7315"/>
          </a:xfrm>
          <a:prstGeom prst="rect">
            <a:avLst/>
          </a:prstGeom>
          <a:solidFill>
            <a:srgbClr val="2D3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862072"/>
            <a:ext cx="2011680" cy="146304"/>
          </a:xfrm>
          <a:prstGeom prst="rect">
            <a:avLst/>
          </a:prstGeom>
          <a:noFill/>
        </p:spPr>
        <p:txBody>
          <a:bodyPr wrap="square" lIns="36576" rIns="36576" tIns="18288" bIns="18288">
            <a:spAutoFit/>
          </a:bodyPr>
          <a:lstStyle/>
          <a:p>
            <a:pPr algn="l"/>
            <a:r>
              <a:rPr sz="750" b="0" i="0">
                <a:solidFill>
                  <a:srgbClr val="94A3B8"/>
                </a:solidFill>
                <a:latin typeface="Inter"/>
              </a:rPr>
              <a:t>Proposed SKUs</a:t>
            </a:r>
          </a:p>
        </p:txBody>
      </p:sp>
      <p:sp>
        <p:nvSpPr>
          <p:cNvPr id="30" name="TextBox 29"/>
          <p:cNvSpPr txBox="1"/>
          <p:nvPr/>
        </p:nvSpPr>
        <p:spPr>
          <a:xfrm>
            <a:off x="4297680" y="3008376"/>
            <a:ext cx="2011680" cy="237744"/>
          </a:xfrm>
          <a:prstGeom prst="rect">
            <a:avLst/>
          </a:prstGeom>
          <a:noFill/>
        </p:spPr>
        <p:txBody>
          <a:bodyPr wrap="square" lIns="36576" rIns="36576" tIns="18288" bIns="18288">
            <a:spAutoFit/>
          </a:bodyPr>
          <a:lstStyle/>
          <a:p>
            <a:pPr algn="l"/>
            <a:r>
              <a:rPr sz="1200" b="1" i="0">
                <a:solidFill>
                  <a:srgbClr val="059669"/>
                </a:solidFill>
                <a:latin typeface="Outfit"/>
              </a:rPr>
              <a:t>5 + 1</a:t>
            </a:r>
          </a:p>
        </p:txBody>
      </p:sp>
      <p:sp>
        <p:nvSpPr>
          <p:cNvPr id="31" name="Rectangle 30"/>
          <p:cNvSpPr/>
          <p:nvPr/>
        </p:nvSpPr>
        <p:spPr>
          <a:xfrm>
            <a:off x="4297680" y="3465576"/>
            <a:ext cx="2011680" cy="7315"/>
          </a:xfrm>
          <a:prstGeom prst="rect">
            <a:avLst/>
          </a:prstGeom>
          <a:solidFill>
            <a:srgbClr val="2D3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97680" y="3538728"/>
            <a:ext cx="2011680" cy="146304"/>
          </a:xfrm>
          <a:prstGeom prst="rect">
            <a:avLst/>
          </a:prstGeom>
          <a:noFill/>
        </p:spPr>
        <p:txBody>
          <a:bodyPr wrap="square" lIns="36576" rIns="36576" tIns="18288" bIns="18288">
            <a:spAutoFit/>
          </a:bodyPr>
          <a:lstStyle/>
          <a:p>
            <a:pPr algn="l"/>
            <a:r>
              <a:rPr sz="750" b="0" i="0">
                <a:solidFill>
                  <a:srgbClr val="94A3B8"/>
                </a:solidFill>
                <a:latin typeface="Inter"/>
              </a:rPr>
              <a:t>5-Yr Revenue Target</a:t>
            </a:r>
          </a:p>
        </p:txBody>
      </p:sp>
      <p:sp>
        <p:nvSpPr>
          <p:cNvPr id="33" name="TextBox 32"/>
          <p:cNvSpPr txBox="1"/>
          <p:nvPr/>
        </p:nvSpPr>
        <p:spPr>
          <a:xfrm>
            <a:off x="4297680" y="3685032"/>
            <a:ext cx="2011680" cy="237744"/>
          </a:xfrm>
          <a:prstGeom prst="rect">
            <a:avLst/>
          </a:prstGeom>
          <a:noFill/>
        </p:spPr>
        <p:txBody>
          <a:bodyPr wrap="square" lIns="36576" rIns="36576" tIns="18288" bIns="18288">
            <a:spAutoFit/>
          </a:bodyPr>
          <a:lstStyle/>
          <a:p>
            <a:pPr algn="l"/>
            <a:r>
              <a:rPr sz="1200" b="1" i="0">
                <a:solidFill>
                  <a:srgbClr val="F59E0B"/>
                </a:solidFill>
                <a:latin typeface="Outfit"/>
              </a:rPr>
              <a:t>₹840 Cr Cum.</a:t>
            </a:r>
          </a:p>
        </p:txBody>
      </p:sp>
      <p:sp>
        <p:nvSpPr>
          <p:cNvPr id="34" name="Rectangle 33"/>
          <p:cNvSpPr/>
          <p:nvPr/>
        </p:nvSpPr>
        <p:spPr>
          <a:xfrm>
            <a:off x="4297680" y="4142232"/>
            <a:ext cx="2011680" cy="7315"/>
          </a:xfrm>
          <a:prstGeom prst="rect">
            <a:avLst/>
          </a:prstGeom>
          <a:solidFill>
            <a:srgbClr val="2D3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0" y="4215384"/>
            <a:ext cx="2011680" cy="146304"/>
          </a:xfrm>
          <a:prstGeom prst="rect">
            <a:avLst/>
          </a:prstGeom>
          <a:noFill/>
        </p:spPr>
        <p:txBody>
          <a:bodyPr wrap="square" lIns="36576" rIns="36576" tIns="18288" bIns="18288">
            <a:spAutoFit/>
          </a:bodyPr>
          <a:lstStyle/>
          <a:p>
            <a:pPr algn="l"/>
            <a:r>
              <a:rPr sz="750" b="0" i="0">
                <a:solidFill>
                  <a:srgbClr val="94A3B8"/>
                </a:solidFill>
                <a:latin typeface="Inter"/>
              </a:rPr>
              <a:t>HCP Seeding</a:t>
            </a:r>
          </a:p>
        </p:txBody>
      </p:sp>
      <p:sp>
        <p:nvSpPr>
          <p:cNvPr id="36" name="TextBox 35"/>
          <p:cNvSpPr txBox="1"/>
          <p:nvPr/>
        </p:nvSpPr>
        <p:spPr>
          <a:xfrm>
            <a:off x="4297680" y="4361688"/>
            <a:ext cx="2011680" cy="237744"/>
          </a:xfrm>
          <a:prstGeom prst="rect">
            <a:avLst/>
          </a:prstGeom>
          <a:noFill/>
        </p:spPr>
        <p:txBody>
          <a:bodyPr wrap="square" lIns="36576" rIns="36576" tIns="18288" bIns="18288">
            <a:spAutoFit/>
          </a:bodyPr>
          <a:lstStyle/>
          <a:p>
            <a:pPr algn="l"/>
            <a:r>
              <a:rPr sz="1200" b="1" i="0">
                <a:solidFill>
                  <a:srgbClr val="7C3AED"/>
                </a:solidFill>
                <a:latin typeface="Outfit"/>
              </a:rPr>
              <a:t>5,000 Clinics</a:t>
            </a:r>
          </a:p>
        </p:txBody>
      </p:sp>
      <p:sp>
        <p:nvSpPr>
          <p:cNvPr id="37" name="Rectangle 36"/>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 Euromonitor (2024), Nykaa/Amazon Audit N=50 [1], Consumer Survey N=500 [2]</a:t>
            </a:r>
          </a:p>
        </p:txBody>
      </p:sp>
      <p:sp>
        <p:nvSpPr>
          <p:cNvPr id="39" name="TextBox 38"/>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Cover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Executive Summary: The SCQA Framework</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 · EXECUTIVE SUMMARY</a:t>
            </a:r>
          </a:p>
        </p:txBody>
      </p:sp>
      <p:sp>
        <p:nvSpPr>
          <p:cNvPr id="7" name="Rounded Rectangle 6"/>
          <p:cNvSpPr/>
          <p:nvPr/>
        </p:nvSpPr>
        <p:spPr>
          <a:xfrm>
            <a:off x="457200"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2651760" cy="3657600"/>
          </a:xfrm>
          <a:prstGeom prst="roundRect">
            <a:avLst/>
          </a:prstGeom>
          <a:solidFill>
            <a:srgbClr val="F0F9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265176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1536192"/>
            <a:ext cx="2322576" cy="320040"/>
          </a:xfrm>
          <a:prstGeom prst="rect">
            <a:avLst/>
          </a:prstGeom>
          <a:noFill/>
        </p:spPr>
        <p:txBody>
          <a:bodyPr wrap="square" lIns="36576" rIns="36576" tIns="18288" bIns="18288">
            <a:spAutoFit/>
          </a:bodyPr>
          <a:lstStyle/>
          <a:p>
            <a:pPr algn="l"/>
            <a:r>
              <a:rPr sz="1100" b="1" i="0">
                <a:solidFill>
                  <a:srgbClr val="0284C7"/>
                </a:solidFill>
                <a:latin typeface="Outfit"/>
              </a:rPr>
              <a:t>SITUATION</a:t>
            </a:r>
          </a:p>
        </p:txBody>
      </p:sp>
      <p:sp>
        <p:nvSpPr>
          <p:cNvPr id="24" name="TextBox 23"/>
          <p:cNvSpPr txBox="1"/>
          <p:nvPr/>
        </p:nvSpPr>
        <p:spPr>
          <a:xfrm>
            <a:off x="621792" y="1920240"/>
            <a:ext cx="2322576" cy="2926080"/>
          </a:xfrm>
          <a:prstGeom prst="rect">
            <a:avLst/>
          </a:prstGeom>
          <a:noFill/>
        </p:spPr>
        <p:txBody>
          <a:bodyPr wrap="square" lIns="0" rIns="0" tIns="0" bIns="0">
            <a:spAutoFit/>
          </a:bodyPr>
          <a:lstStyle/>
          <a:p>
            <a:pPr>
              <a:spcAft>
                <a:spcPts val="400"/>
              </a:spcAft>
              <a:defRPr sz="950">
                <a:solidFill>
                  <a:srgbClr val="0F172A"/>
                </a:solidFill>
                <a:latin typeface="Inter"/>
              </a:defRPr>
            </a:pPr>
            <a:r>
              <a:t>India's premium derma sunscreen market is growing at 22% CAGR, reaching ₹2,800 Cr in 2024 (Euromonitor). Consumers aged 25–35 are rapidly shifting from mass brands to dermatologist-backed SPF solutions. The ₹400–800 price band commands 48% of audited Nykaa/Amazon premium listings (N=50 audit).</a:t>
            </a:r>
          </a:p>
        </p:txBody>
      </p:sp>
      <p:sp>
        <p:nvSpPr>
          <p:cNvPr id="25" name="Oval 24"/>
          <p:cNvSpPr/>
          <p:nvPr/>
        </p:nvSpPr>
        <p:spPr>
          <a:xfrm>
            <a:off x="1554480" y="1463040"/>
            <a:ext cx="457200" cy="45720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1463040"/>
            <a:ext cx="457200" cy="457200"/>
          </a:xfrm>
          <a:prstGeom prst="rect">
            <a:avLst/>
          </a:prstGeom>
          <a:noFill/>
        </p:spPr>
        <p:txBody>
          <a:bodyPr wrap="square" lIns="36576" rIns="36576" tIns="18288" bIns="18288">
            <a:spAutoFit/>
          </a:bodyPr>
          <a:lstStyle/>
          <a:p>
            <a:pPr algn="ctr"/>
            <a:r>
              <a:rPr sz="1400" b="1" i="0">
                <a:solidFill>
                  <a:srgbClr val="FFFFFF"/>
                </a:solidFill>
                <a:latin typeface="Outfit"/>
              </a:rPr>
              <a:t>S</a:t>
            </a:r>
          </a:p>
        </p:txBody>
      </p:sp>
      <p:sp>
        <p:nvSpPr>
          <p:cNvPr id="27" name="Rounded Rectangle 26"/>
          <p:cNvSpPr/>
          <p:nvPr/>
        </p:nvSpPr>
        <p:spPr>
          <a:xfrm>
            <a:off x="3273552" y="1371600"/>
            <a:ext cx="2651760" cy="3657600"/>
          </a:xfrm>
          <a:prstGeom prst="roundRect">
            <a:avLst/>
          </a:prstGeom>
          <a:solidFill>
            <a:srgbClr val="FEF2F2"/>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73552" y="1371600"/>
            <a:ext cx="2651760"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38144" y="1536192"/>
            <a:ext cx="2322576" cy="320040"/>
          </a:xfrm>
          <a:prstGeom prst="rect">
            <a:avLst/>
          </a:prstGeom>
          <a:noFill/>
        </p:spPr>
        <p:txBody>
          <a:bodyPr wrap="square" lIns="36576" rIns="36576" tIns="18288" bIns="18288">
            <a:spAutoFit/>
          </a:bodyPr>
          <a:lstStyle/>
          <a:p>
            <a:pPr algn="l"/>
            <a:r>
              <a:rPr sz="1100" b="1" i="0">
                <a:solidFill>
                  <a:srgbClr val="DC2626"/>
                </a:solidFill>
                <a:latin typeface="Outfit"/>
              </a:rPr>
              <a:t>COMPLICATION</a:t>
            </a:r>
          </a:p>
        </p:txBody>
      </p:sp>
      <p:sp>
        <p:nvSpPr>
          <p:cNvPr id="30" name="TextBox 29"/>
          <p:cNvSpPr txBox="1"/>
          <p:nvPr/>
        </p:nvSpPr>
        <p:spPr>
          <a:xfrm>
            <a:off x="3438144" y="1920240"/>
            <a:ext cx="2322576" cy="2926080"/>
          </a:xfrm>
          <a:prstGeom prst="rect">
            <a:avLst/>
          </a:prstGeom>
          <a:noFill/>
        </p:spPr>
        <p:txBody>
          <a:bodyPr wrap="square" lIns="0" rIns="0" tIns="0" bIns="0">
            <a:spAutoFit/>
          </a:bodyPr>
          <a:lstStyle/>
          <a:p>
            <a:pPr>
              <a:spcAft>
                <a:spcPts val="400"/>
              </a:spcAft>
              <a:defRPr sz="950">
                <a:solidFill>
                  <a:srgbClr val="0F172A"/>
                </a:solidFill>
                <a:latin typeface="Inter"/>
              </a:defRPr>
            </a:pPr>
            <a:r>
              <a:t>Galderma India currently sells only 1 SKU — Cetaphil Sun Light Gel 50ml at MRP ₹1,080 — missing the ₹400–800 sweet spot entirely. 72% of surveyed consumers reject thick, heavy-feel formats. No mist, serum, or tinted option exists. Competitors are aggressively filling this gap: Re'equil ₹695, Minimalist ₹399, La Shield ₹780.</a:t>
            </a:r>
          </a:p>
        </p:txBody>
      </p:sp>
      <p:sp>
        <p:nvSpPr>
          <p:cNvPr id="31" name="Oval 30"/>
          <p:cNvSpPr/>
          <p:nvPr/>
        </p:nvSpPr>
        <p:spPr>
          <a:xfrm>
            <a:off x="4370832" y="1463040"/>
            <a:ext cx="457200" cy="45720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70832" y="1463040"/>
            <a:ext cx="457200" cy="457200"/>
          </a:xfrm>
          <a:prstGeom prst="rect">
            <a:avLst/>
          </a:prstGeom>
          <a:noFill/>
        </p:spPr>
        <p:txBody>
          <a:bodyPr wrap="square" lIns="36576" rIns="36576" tIns="18288" bIns="18288">
            <a:spAutoFit/>
          </a:bodyPr>
          <a:lstStyle/>
          <a:p>
            <a:pPr algn="ctr"/>
            <a:r>
              <a:rPr sz="1400" b="1" i="0">
                <a:solidFill>
                  <a:srgbClr val="FFFFFF"/>
                </a:solidFill>
                <a:latin typeface="Outfit"/>
              </a:rPr>
              <a:t>C</a:t>
            </a:r>
          </a:p>
        </p:txBody>
      </p:sp>
      <p:sp>
        <p:nvSpPr>
          <p:cNvPr id="33" name="Rounded Rectangle 32"/>
          <p:cNvSpPr/>
          <p:nvPr/>
        </p:nvSpPr>
        <p:spPr>
          <a:xfrm>
            <a:off x="6089904" y="1371600"/>
            <a:ext cx="2651760" cy="3657600"/>
          </a:xfrm>
          <a:prstGeom prst="roundRect">
            <a:avLst/>
          </a:prstGeom>
          <a:solidFill>
            <a:srgbClr val="FFF9E6"/>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9904" y="1371600"/>
            <a:ext cx="265176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4496" y="1536192"/>
            <a:ext cx="2322576" cy="320040"/>
          </a:xfrm>
          <a:prstGeom prst="rect">
            <a:avLst/>
          </a:prstGeom>
          <a:noFill/>
        </p:spPr>
        <p:txBody>
          <a:bodyPr wrap="square" lIns="36576" rIns="36576" tIns="18288" bIns="18288">
            <a:spAutoFit/>
          </a:bodyPr>
          <a:lstStyle/>
          <a:p>
            <a:pPr algn="l"/>
            <a:r>
              <a:rPr sz="1100" b="1" i="0">
                <a:solidFill>
                  <a:srgbClr val="F59E0B"/>
                </a:solidFill>
                <a:latin typeface="Outfit"/>
              </a:rPr>
              <a:t>QUESTION</a:t>
            </a:r>
          </a:p>
        </p:txBody>
      </p:sp>
      <p:sp>
        <p:nvSpPr>
          <p:cNvPr id="36" name="TextBox 35"/>
          <p:cNvSpPr txBox="1"/>
          <p:nvPr/>
        </p:nvSpPr>
        <p:spPr>
          <a:xfrm>
            <a:off x="6254496" y="1920240"/>
            <a:ext cx="2322576" cy="2926080"/>
          </a:xfrm>
          <a:prstGeom prst="rect">
            <a:avLst/>
          </a:prstGeom>
          <a:noFill/>
        </p:spPr>
        <p:txBody>
          <a:bodyPr wrap="square" lIns="0" rIns="0" tIns="0" bIns="0">
            <a:spAutoFit/>
          </a:bodyPr>
          <a:lstStyle/>
          <a:p>
            <a:pPr>
              <a:spcAft>
                <a:spcPts val="400"/>
              </a:spcAft>
              <a:defRPr sz="950">
                <a:solidFill>
                  <a:srgbClr val="0F172A"/>
                </a:solidFill>
                <a:latin typeface="Inter"/>
              </a:defRPr>
            </a:pPr>
            <a:r>
              <a:t>How can Galderma leverage its unmatched 40+ years of dermatology equity and Cetaphil's 75-year skin heritage to capture India's fastest-growing SPF consumer segment (25–35 yrs)? Specifically: How do we fill the ₹400–800 price gap and match modern format/texture expectations of Indian consumers?</a:t>
            </a:r>
          </a:p>
        </p:txBody>
      </p:sp>
      <p:sp>
        <p:nvSpPr>
          <p:cNvPr id="37" name="Oval 36"/>
          <p:cNvSpPr/>
          <p:nvPr/>
        </p:nvSpPr>
        <p:spPr>
          <a:xfrm>
            <a:off x="7187184" y="146304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87184" y="1463040"/>
            <a:ext cx="457200" cy="457200"/>
          </a:xfrm>
          <a:prstGeom prst="rect">
            <a:avLst/>
          </a:prstGeom>
          <a:noFill/>
        </p:spPr>
        <p:txBody>
          <a:bodyPr wrap="square" lIns="36576" rIns="36576" tIns="18288" bIns="18288">
            <a:spAutoFit/>
          </a:bodyPr>
          <a:lstStyle/>
          <a:p>
            <a:pPr algn="ctr"/>
            <a:r>
              <a:rPr sz="1400" b="1" i="0">
                <a:solidFill>
                  <a:srgbClr val="FFFFFF"/>
                </a:solidFill>
                <a:latin typeface="Outfit"/>
              </a:rPr>
              <a:t>Q</a:t>
            </a:r>
          </a:p>
        </p:txBody>
      </p:sp>
      <p:sp>
        <p:nvSpPr>
          <p:cNvPr id="39" name="Rounded Rectangle 38"/>
          <p:cNvSpPr/>
          <p:nvPr/>
        </p:nvSpPr>
        <p:spPr>
          <a:xfrm>
            <a:off x="8906256" y="1371600"/>
            <a:ext cx="2651760" cy="3657600"/>
          </a:xfrm>
          <a:prstGeom prst="roundRect">
            <a:avLst/>
          </a:prstGeom>
          <a:solidFill>
            <a:srgbClr val="ECFD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06256" y="1371600"/>
            <a:ext cx="2651760"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1536192"/>
            <a:ext cx="2322576" cy="320040"/>
          </a:xfrm>
          <a:prstGeom prst="rect">
            <a:avLst/>
          </a:prstGeom>
          <a:noFill/>
        </p:spPr>
        <p:txBody>
          <a:bodyPr wrap="square" lIns="36576" rIns="36576" tIns="18288" bIns="18288">
            <a:spAutoFit/>
          </a:bodyPr>
          <a:lstStyle/>
          <a:p>
            <a:pPr algn="l"/>
            <a:r>
              <a:rPr sz="1100" b="1" i="0">
                <a:solidFill>
                  <a:srgbClr val="059669"/>
                </a:solidFill>
                <a:latin typeface="Outfit"/>
              </a:rPr>
              <a:t>ANSWER</a:t>
            </a:r>
          </a:p>
        </p:txBody>
      </p:sp>
      <p:sp>
        <p:nvSpPr>
          <p:cNvPr id="42" name="TextBox 41"/>
          <p:cNvSpPr txBox="1"/>
          <p:nvPr/>
        </p:nvSpPr>
        <p:spPr>
          <a:xfrm>
            <a:off x="9070848" y="1920240"/>
            <a:ext cx="2322576" cy="2926080"/>
          </a:xfrm>
          <a:prstGeom prst="rect">
            <a:avLst/>
          </a:prstGeom>
          <a:noFill/>
        </p:spPr>
        <p:txBody>
          <a:bodyPr wrap="square" lIns="0" rIns="0" tIns="0" bIns="0">
            <a:spAutoFit/>
          </a:bodyPr>
          <a:lstStyle/>
          <a:p>
            <a:pPr>
              <a:spcAft>
                <a:spcPts val="400"/>
              </a:spcAft>
              <a:defRPr sz="950">
                <a:solidFill>
                  <a:srgbClr val="0F172A"/>
                </a:solidFill>
                <a:latin typeface="Inter"/>
              </a:defRPr>
            </a:pPr>
            <a:r>
              <a:t>Launch a 5-SKU derma portfolio ladder (₹449–₹999) backed by: ✔ 5,000-dermatologist HCP sampling program (top 20 cities). ✔ Omnichannel GTM: Nykaa → MT → Q-Commerce. ✔ Brand territory: 'Derm-Approved. India-Ready.' ✔ SunMatch AI digital skin-quiz funnel. Projected Impact: ₹350 Cr Year 5 sales, 25% net margin.</a:t>
            </a:r>
          </a:p>
        </p:txBody>
      </p:sp>
      <p:sp>
        <p:nvSpPr>
          <p:cNvPr id="43" name="Oval 42"/>
          <p:cNvSpPr/>
          <p:nvPr/>
        </p:nvSpPr>
        <p:spPr>
          <a:xfrm>
            <a:off x="10003536" y="1463040"/>
            <a:ext cx="457200" cy="4572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03536" y="1463040"/>
            <a:ext cx="457200" cy="457200"/>
          </a:xfrm>
          <a:prstGeom prst="rect">
            <a:avLst/>
          </a:prstGeom>
          <a:noFill/>
        </p:spPr>
        <p:txBody>
          <a:bodyPr wrap="square" lIns="36576" rIns="36576" tIns="18288" bIns="18288">
            <a:spAutoFit/>
          </a:bodyPr>
          <a:lstStyle/>
          <a:p>
            <a:pPr algn="ctr"/>
            <a:r>
              <a:rPr sz="1400" b="1" i="0">
                <a:solidFill>
                  <a:srgbClr val="FFFFFF"/>
                </a:solidFill>
                <a:latin typeface="Outfit"/>
              </a:rPr>
              <a:t>A</a:t>
            </a:r>
          </a:p>
        </p:txBody>
      </p:sp>
      <p:sp>
        <p:nvSpPr>
          <p:cNvPr id="45" name="Rounded Rectangle 44"/>
          <p:cNvSpPr/>
          <p:nvPr/>
        </p:nvSpPr>
        <p:spPr>
          <a:xfrm>
            <a:off x="457200" y="5166360"/>
            <a:ext cx="11274552" cy="1188720"/>
          </a:xfrm>
          <a:prstGeom prst="round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257800"/>
            <a:ext cx="2468880" cy="182880"/>
          </a:xfrm>
          <a:prstGeom prst="rect">
            <a:avLst/>
          </a:prstGeom>
          <a:noFill/>
        </p:spPr>
        <p:txBody>
          <a:bodyPr wrap="square" lIns="36576" rIns="36576" tIns="18288" bIns="18288">
            <a:spAutoFit/>
          </a:bodyPr>
          <a:lstStyle/>
          <a:p>
            <a:pPr algn="l"/>
            <a:r>
              <a:rPr sz="850" b="1" i="0">
                <a:solidFill>
                  <a:srgbClr val="0284C7"/>
                </a:solidFill>
                <a:latin typeface="Outfit"/>
              </a:rPr>
              <a:t>PRICE LADDER</a:t>
            </a:r>
          </a:p>
        </p:txBody>
      </p:sp>
      <p:sp>
        <p:nvSpPr>
          <p:cNvPr id="47" name="TextBox 46"/>
          <p:cNvSpPr txBox="1"/>
          <p:nvPr/>
        </p:nvSpPr>
        <p:spPr>
          <a:xfrm>
            <a:off x="640080" y="5458968"/>
            <a:ext cx="2468880" cy="777240"/>
          </a:xfrm>
          <a:prstGeom prst="rect">
            <a:avLst/>
          </a:prstGeom>
          <a:noFill/>
        </p:spPr>
        <p:txBody>
          <a:bodyPr wrap="square" lIns="36576" rIns="36576" tIns="18288" bIns="18288">
            <a:spAutoFit/>
          </a:bodyPr>
          <a:lstStyle/>
          <a:p>
            <a:pPr algn="l"/>
            <a:r>
              <a:rPr sz="780" b="0" i="0">
                <a:solidFill>
                  <a:srgbClr val="64748B"/>
                </a:solidFill>
                <a:latin typeface="Inter"/>
              </a:rPr>
              <a:t>5-SKU pricing structure from ₹449 to ₹999 to cover the ₹400-800 volume whitespace.</a:t>
            </a:r>
          </a:p>
        </p:txBody>
      </p:sp>
      <p:sp>
        <p:nvSpPr>
          <p:cNvPr id="48" name="TextBox 47"/>
          <p:cNvSpPr txBox="1"/>
          <p:nvPr/>
        </p:nvSpPr>
        <p:spPr>
          <a:xfrm>
            <a:off x="3383280" y="5257800"/>
            <a:ext cx="2468880" cy="182880"/>
          </a:xfrm>
          <a:prstGeom prst="rect">
            <a:avLst/>
          </a:prstGeom>
          <a:noFill/>
        </p:spPr>
        <p:txBody>
          <a:bodyPr wrap="square" lIns="36576" rIns="36576" tIns="18288" bIns="18288">
            <a:spAutoFit/>
          </a:bodyPr>
          <a:lstStyle/>
          <a:p>
            <a:pPr algn="l"/>
            <a:r>
              <a:rPr sz="850" b="1" i="0">
                <a:solidFill>
                  <a:srgbClr val="0284C7"/>
                </a:solidFill>
                <a:latin typeface="Outfit"/>
              </a:rPr>
              <a:t>HCP SAMPLING</a:t>
            </a:r>
          </a:p>
        </p:txBody>
      </p:sp>
      <p:sp>
        <p:nvSpPr>
          <p:cNvPr id="49" name="TextBox 48"/>
          <p:cNvSpPr txBox="1"/>
          <p:nvPr/>
        </p:nvSpPr>
        <p:spPr>
          <a:xfrm>
            <a:off x="3383280" y="5458968"/>
            <a:ext cx="2468880" cy="777240"/>
          </a:xfrm>
          <a:prstGeom prst="rect">
            <a:avLst/>
          </a:prstGeom>
          <a:noFill/>
        </p:spPr>
        <p:txBody>
          <a:bodyPr wrap="square" lIns="36576" rIns="36576" tIns="18288" bIns="18288">
            <a:spAutoFit/>
          </a:bodyPr>
          <a:lstStyle/>
          <a:p>
            <a:pPr algn="l"/>
            <a:r>
              <a:rPr sz="780" b="0" i="0">
                <a:solidFill>
                  <a:srgbClr val="64748B"/>
                </a:solidFill>
                <a:latin typeface="Inter"/>
              </a:rPr>
              <a:t>Seed 1 Lakh sample units across 5,000 top dermatologists in top 20 cities.</a:t>
            </a:r>
          </a:p>
        </p:txBody>
      </p:sp>
      <p:sp>
        <p:nvSpPr>
          <p:cNvPr id="50" name="TextBox 49"/>
          <p:cNvSpPr txBox="1"/>
          <p:nvPr/>
        </p:nvSpPr>
        <p:spPr>
          <a:xfrm>
            <a:off x="6126480" y="5257800"/>
            <a:ext cx="2468880" cy="182880"/>
          </a:xfrm>
          <a:prstGeom prst="rect">
            <a:avLst/>
          </a:prstGeom>
          <a:noFill/>
        </p:spPr>
        <p:txBody>
          <a:bodyPr wrap="square" lIns="36576" rIns="36576" tIns="18288" bIns="18288">
            <a:spAutoFit/>
          </a:bodyPr>
          <a:lstStyle/>
          <a:p>
            <a:pPr algn="l"/>
            <a:r>
              <a:rPr sz="850" b="1" i="0">
                <a:solidFill>
                  <a:srgbClr val="0284C7"/>
                </a:solidFill>
                <a:latin typeface="Outfit"/>
              </a:rPr>
              <a:t>OMNICHANNEL GTM</a:t>
            </a:r>
          </a:p>
        </p:txBody>
      </p:sp>
      <p:sp>
        <p:nvSpPr>
          <p:cNvPr id="51" name="TextBox 50"/>
          <p:cNvSpPr txBox="1"/>
          <p:nvPr/>
        </p:nvSpPr>
        <p:spPr>
          <a:xfrm>
            <a:off x="6126480" y="5458968"/>
            <a:ext cx="2468880" cy="777240"/>
          </a:xfrm>
          <a:prstGeom prst="rect">
            <a:avLst/>
          </a:prstGeom>
          <a:noFill/>
        </p:spPr>
        <p:txBody>
          <a:bodyPr wrap="square" lIns="36576" rIns="36576" tIns="18288" bIns="18288">
            <a:spAutoFit/>
          </a:bodyPr>
          <a:lstStyle/>
          <a:p>
            <a:pPr algn="l"/>
            <a:r>
              <a:rPr sz="780" b="0" i="0">
                <a:solidFill>
                  <a:srgbClr val="64748B"/>
                </a:solidFill>
                <a:latin typeface="Inter"/>
              </a:rPr>
              <a:t>Direct launch on Nykaa, quick-commerce pilot (Blinkit/Zepto), and MT stores.</a:t>
            </a:r>
          </a:p>
        </p:txBody>
      </p:sp>
      <p:sp>
        <p:nvSpPr>
          <p:cNvPr id="52" name="TextBox 51"/>
          <p:cNvSpPr txBox="1"/>
          <p:nvPr/>
        </p:nvSpPr>
        <p:spPr>
          <a:xfrm>
            <a:off x="8869680" y="5257800"/>
            <a:ext cx="2468880" cy="182880"/>
          </a:xfrm>
          <a:prstGeom prst="rect">
            <a:avLst/>
          </a:prstGeom>
          <a:noFill/>
        </p:spPr>
        <p:txBody>
          <a:bodyPr wrap="square" lIns="36576" rIns="36576" tIns="18288" bIns="18288">
            <a:spAutoFit/>
          </a:bodyPr>
          <a:lstStyle/>
          <a:p>
            <a:pPr algn="l"/>
            <a:r>
              <a:rPr sz="850" b="1" i="0">
                <a:solidFill>
                  <a:srgbClr val="0284C7"/>
                </a:solidFill>
                <a:latin typeface="Outfit"/>
              </a:rPr>
              <a:t>SUNMATCH AI</a:t>
            </a:r>
          </a:p>
        </p:txBody>
      </p:sp>
      <p:sp>
        <p:nvSpPr>
          <p:cNvPr id="53" name="TextBox 52"/>
          <p:cNvSpPr txBox="1"/>
          <p:nvPr/>
        </p:nvSpPr>
        <p:spPr>
          <a:xfrm>
            <a:off x="8869680" y="5458968"/>
            <a:ext cx="2468880" cy="777240"/>
          </a:xfrm>
          <a:prstGeom prst="rect">
            <a:avLst/>
          </a:prstGeom>
          <a:noFill/>
        </p:spPr>
        <p:txBody>
          <a:bodyPr wrap="square" lIns="36576" rIns="36576" tIns="18288" bIns="18288">
            <a:spAutoFit/>
          </a:bodyPr>
          <a:lstStyle/>
          <a:p>
            <a:pPr algn="l"/>
            <a:r>
              <a:rPr sz="780" b="0" i="0">
                <a:solidFill>
                  <a:srgbClr val="64748B"/>
                </a:solidFill>
                <a:latin typeface="Inter"/>
              </a:rPr>
              <a:t>Interactive D2C digital skin-quiz tool to recommend correct SPF texture.</a:t>
            </a:r>
          </a:p>
        </p:txBody>
      </p:sp>
      <p:sp>
        <p:nvSpPr>
          <p:cNvPr id="54" name="Rectangle 53"/>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 Euromonitor India BPC 2024 [1] · Consumer Survey N=500 [2] · Nykaa/Amazon Audit N=50 [3]</a:t>
            </a:r>
          </a:p>
        </p:txBody>
      </p:sp>
      <p:sp>
        <p:nvSpPr>
          <p:cNvPr id="56" name="TextBox 55"/>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 of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Situation Analysis: Market Landscape &amp; Indian Trends</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2 · SITUATION</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2743200" cy="100584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274320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508760"/>
            <a:ext cx="2743200" cy="365760"/>
          </a:xfrm>
          <a:prstGeom prst="rect">
            <a:avLst/>
          </a:prstGeom>
          <a:noFill/>
        </p:spPr>
        <p:txBody>
          <a:bodyPr wrap="square" lIns="36576" rIns="36576" tIns="18288" bIns="18288">
            <a:spAutoFit/>
          </a:bodyPr>
          <a:lstStyle/>
          <a:p>
            <a:pPr algn="ctr"/>
            <a:r>
              <a:rPr sz="1800" b="1" i="0">
                <a:solidFill>
                  <a:srgbClr val="EA580C"/>
                </a:solidFill>
                <a:latin typeface="Outfit"/>
              </a:rPr>
              <a:t>₹2,800 Cr</a:t>
            </a:r>
          </a:p>
        </p:txBody>
      </p:sp>
      <p:sp>
        <p:nvSpPr>
          <p:cNvPr id="24" name="TextBox 23"/>
          <p:cNvSpPr txBox="1"/>
          <p:nvPr/>
        </p:nvSpPr>
        <p:spPr>
          <a:xfrm>
            <a:off x="457200" y="1874519"/>
            <a:ext cx="2743200" cy="411480"/>
          </a:xfrm>
          <a:prstGeom prst="rect">
            <a:avLst/>
          </a:prstGeom>
          <a:noFill/>
        </p:spPr>
        <p:txBody>
          <a:bodyPr wrap="square" lIns="36576" rIns="36576" tIns="18288" bIns="18288">
            <a:spAutoFit/>
          </a:bodyPr>
          <a:lstStyle/>
          <a:p>
            <a:pPr algn="ctr"/>
            <a:r>
              <a:rPr sz="819" b="0" i="0">
                <a:solidFill>
                  <a:srgbClr val="64748B"/>
                </a:solidFill>
                <a:latin typeface="Inter"/>
              </a:rPr>
              <a:t>India Premium Sunscreen
Market Size 2024 [1]</a:t>
            </a:r>
          </a:p>
        </p:txBody>
      </p:sp>
      <p:sp>
        <p:nvSpPr>
          <p:cNvPr id="25" name="Rounded Rectangle 24"/>
          <p:cNvSpPr/>
          <p:nvPr/>
        </p:nvSpPr>
        <p:spPr>
          <a:xfrm>
            <a:off x="3291840" y="1371600"/>
            <a:ext cx="2743200" cy="100584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91840" y="1371600"/>
            <a:ext cx="2743200" cy="54864"/>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1508760"/>
            <a:ext cx="2743200" cy="365760"/>
          </a:xfrm>
          <a:prstGeom prst="rect">
            <a:avLst/>
          </a:prstGeom>
          <a:noFill/>
        </p:spPr>
        <p:txBody>
          <a:bodyPr wrap="square" lIns="36576" rIns="36576" tIns="18288" bIns="18288">
            <a:spAutoFit/>
          </a:bodyPr>
          <a:lstStyle/>
          <a:p>
            <a:pPr algn="ctr"/>
            <a:r>
              <a:rPr sz="1800" b="1" i="0">
                <a:solidFill>
                  <a:srgbClr val="0284C7"/>
                </a:solidFill>
                <a:latin typeface="Outfit"/>
              </a:rPr>
              <a:t>22% CAGR</a:t>
            </a:r>
          </a:p>
        </p:txBody>
      </p:sp>
      <p:sp>
        <p:nvSpPr>
          <p:cNvPr id="28" name="TextBox 27"/>
          <p:cNvSpPr txBox="1"/>
          <p:nvPr/>
        </p:nvSpPr>
        <p:spPr>
          <a:xfrm>
            <a:off x="3291840" y="1874519"/>
            <a:ext cx="2743200" cy="411480"/>
          </a:xfrm>
          <a:prstGeom prst="rect">
            <a:avLst/>
          </a:prstGeom>
          <a:noFill/>
        </p:spPr>
        <p:txBody>
          <a:bodyPr wrap="square" lIns="36576" rIns="36576" tIns="18288" bIns="18288">
            <a:spAutoFit/>
          </a:bodyPr>
          <a:lstStyle/>
          <a:p>
            <a:pPr algn="ctr"/>
            <a:r>
              <a:rPr sz="819" b="0" i="0">
                <a:solidFill>
                  <a:srgbClr val="64748B"/>
                </a:solidFill>
                <a:latin typeface="Inter"/>
              </a:rPr>
              <a:t>Market Growth Rate 2024–29
(Euromonitor) [1]</a:t>
            </a:r>
          </a:p>
        </p:txBody>
      </p:sp>
      <p:sp>
        <p:nvSpPr>
          <p:cNvPr id="29" name="Rounded Rectangle 28"/>
          <p:cNvSpPr/>
          <p:nvPr/>
        </p:nvSpPr>
        <p:spPr>
          <a:xfrm>
            <a:off x="6126480" y="1371600"/>
            <a:ext cx="2743200" cy="100584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371600"/>
            <a:ext cx="2743200"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08760"/>
            <a:ext cx="2743200" cy="365760"/>
          </a:xfrm>
          <a:prstGeom prst="rect">
            <a:avLst/>
          </a:prstGeom>
          <a:noFill/>
        </p:spPr>
        <p:txBody>
          <a:bodyPr wrap="square" lIns="36576" rIns="36576" tIns="18288" bIns="18288">
            <a:spAutoFit/>
          </a:bodyPr>
          <a:lstStyle/>
          <a:p>
            <a:pPr algn="ctr"/>
            <a:r>
              <a:rPr sz="1800" b="1" i="0">
                <a:solidFill>
                  <a:srgbClr val="059669"/>
                </a:solidFill>
                <a:latin typeface="Outfit"/>
              </a:rPr>
              <a:t>25–35 Yrs</a:t>
            </a:r>
          </a:p>
        </p:txBody>
      </p:sp>
      <p:sp>
        <p:nvSpPr>
          <p:cNvPr id="32" name="TextBox 31"/>
          <p:cNvSpPr txBox="1"/>
          <p:nvPr/>
        </p:nvSpPr>
        <p:spPr>
          <a:xfrm>
            <a:off x="6126480" y="1874519"/>
            <a:ext cx="2743200" cy="411480"/>
          </a:xfrm>
          <a:prstGeom prst="rect">
            <a:avLst/>
          </a:prstGeom>
          <a:noFill/>
        </p:spPr>
        <p:txBody>
          <a:bodyPr wrap="square" lIns="36576" rIns="36576" tIns="18288" bIns="18288">
            <a:spAutoFit/>
          </a:bodyPr>
          <a:lstStyle/>
          <a:p>
            <a:pPr algn="ctr"/>
            <a:r>
              <a:rPr sz="819" b="0" i="0">
                <a:solidFill>
                  <a:srgbClr val="64748B"/>
                </a:solidFill>
                <a:latin typeface="Inter"/>
              </a:rPr>
              <a:t>Core Consumer Cohort:
Peak Earning + Aware [2]</a:t>
            </a:r>
          </a:p>
        </p:txBody>
      </p:sp>
      <p:sp>
        <p:nvSpPr>
          <p:cNvPr id="33" name="Rounded Rectangle 32"/>
          <p:cNvSpPr/>
          <p:nvPr/>
        </p:nvSpPr>
        <p:spPr>
          <a:xfrm>
            <a:off x="8961120" y="1371600"/>
            <a:ext cx="2743200" cy="100584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61120" y="1371600"/>
            <a:ext cx="274320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1508760"/>
            <a:ext cx="2743200" cy="365760"/>
          </a:xfrm>
          <a:prstGeom prst="rect">
            <a:avLst/>
          </a:prstGeom>
          <a:noFill/>
        </p:spPr>
        <p:txBody>
          <a:bodyPr wrap="square" lIns="36576" rIns="36576" tIns="18288" bIns="18288">
            <a:spAutoFit/>
          </a:bodyPr>
          <a:lstStyle/>
          <a:p>
            <a:pPr algn="ctr"/>
            <a:r>
              <a:rPr sz="1800" b="1" i="0">
                <a:solidFill>
                  <a:srgbClr val="7C3AED"/>
                </a:solidFill>
                <a:latin typeface="Outfit"/>
              </a:rPr>
              <a:t>₹400–800</a:t>
            </a:r>
          </a:p>
        </p:txBody>
      </p:sp>
      <p:sp>
        <p:nvSpPr>
          <p:cNvPr id="36" name="TextBox 35"/>
          <p:cNvSpPr txBox="1"/>
          <p:nvPr/>
        </p:nvSpPr>
        <p:spPr>
          <a:xfrm>
            <a:off x="8961120" y="1874519"/>
            <a:ext cx="2743200" cy="411480"/>
          </a:xfrm>
          <a:prstGeom prst="rect">
            <a:avLst/>
          </a:prstGeom>
          <a:noFill/>
        </p:spPr>
        <p:txBody>
          <a:bodyPr wrap="square" lIns="36576" rIns="36576" tIns="18288" bIns="18288">
            <a:spAutoFit/>
          </a:bodyPr>
          <a:lstStyle/>
          <a:p>
            <a:pPr algn="ctr"/>
            <a:r>
              <a:rPr sz="819" b="0" i="0">
                <a:solidFill>
                  <a:srgbClr val="64748B"/>
                </a:solidFill>
                <a:latin typeface="Inter"/>
              </a:rPr>
              <a:t>Sweet-Spot Price Band
48% of Premium Listings [3]</a:t>
            </a:r>
          </a:p>
        </p:txBody>
      </p:sp>
      <p:graphicFrame>
        <p:nvGraphicFramePr>
          <p:cNvPr id="37" name="Chart 36"/>
          <p:cNvGraphicFramePr>
            <a:graphicFrameLocks noGrp="1"/>
          </p:cNvGraphicFramePr>
          <p:nvPr/>
        </p:nvGraphicFramePr>
        <p:xfrm>
          <a:off x="457200" y="2560320"/>
          <a:ext cx="3931920" cy="2468880"/>
        </p:xfrm>
        <a:graphic>
          <a:graphicData uri="http://schemas.openxmlformats.org/drawingml/2006/chart">
            <c:chart xmlns:c="http://schemas.openxmlformats.org/drawingml/2006/chart" r:id="rId2"/>
          </a:graphicData>
        </a:graphic>
      </p:graphicFrame>
      <p:graphicFrame>
        <p:nvGraphicFramePr>
          <p:cNvPr id="38" name="Chart 37"/>
          <p:cNvGraphicFramePr>
            <a:graphicFrameLocks noGrp="1"/>
          </p:cNvGraphicFramePr>
          <p:nvPr/>
        </p:nvGraphicFramePr>
        <p:xfrm>
          <a:off x="4572000" y="2560320"/>
          <a:ext cx="3474720" cy="2468880"/>
        </p:xfrm>
        <a:graphic>
          <a:graphicData uri="http://schemas.openxmlformats.org/drawingml/2006/chart">
            <c:chart xmlns:c="http://schemas.openxmlformats.org/drawingml/2006/chart" r:id="rId3"/>
          </a:graphicData>
        </a:graphic>
      </p:graphicFrame>
      <p:sp>
        <p:nvSpPr>
          <p:cNvPr id="39" name="Rounded Rectangle 38"/>
          <p:cNvSpPr/>
          <p:nvPr/>
        </p:nvSpPr>
        <p:spPr>
          <a:xfrm>
            <a:off x="8229600" y="2560320"/>
            <a:ext cx="3502152" cy="246888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0" y="2651760"/>
            <a:ext cx="3108960" cy="228600"/>
          </a:xfrm>
          <a:prstGeom prst="rect">
            <a:avLst/>
          </a:prstGeom>
          <a:noFill/>
        </p:spPr>
        <p:txBody>
          <a:bodyPr wrap="square" lIns="36576" rIns="36576" tIns="18288" bIns="18288">
            <a:spAutoFit/>
          </a:bodyPr>
          <a:lstStyle/>
          <a:p>
            <a:pPr algn="l"/>
            <a:r>
              <a:rPr sz="850" b="1" i="0">
                <a:solidFill>
                  <a:srgbClr val="EA580C"/>
                </a:solidFill>
                <a:latin typeface="Outfit"/>
              </a:rPr>
              <a:t>TOP CONSUMER GROWTH DRIVERS</a:t>
            </a:r>
          </a:p>
        </p:txBody>
      </p:sp>
      <p:sp>
        <p:nvSpPr>
          <p:cNvPr id="41" name="Oval 40"/>
          <p:cNvSpPr/>
          <p:nvPr/>
        </p:nvSpPr>
        <p:spPr>
          <a:xfrm>
            <a:off x="8412480" y="2926080"/>
            <a:ext cx="347472" cy="34747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80" y="2926080"/>
            <a:ext cx="347472" cy="347472"/>
          </a:xfrm>
          <a:prstGeom prst="rect">
            <a:avLst/>
          </a:prstGeom>
          <a:noFill/>
        </p:spPr>
        <p:txBody>
          <a:bodyPr wrap="square" lIns="36576" rIns="36576" tIns="18288" bIns="18288">
            <a:spAutoFit/>
          </a:bodyPr>
          <a:lstStyle/>
          <a:p>
            <a:pPr algn="ctr"/>
            <a:r>
              <a:rPr sz="850" b="1" i="0">
                <a:solidFill>
                  <a:srgbClr val="FFFFFF"/>
                </a:solidFill>
                <a:latin typeface="Outfit"/>
              </a:rPr>
              <a:t>78%</a:t>
            </a:r>
          </a:p>
        </p:txBody>
      </p:sp>
      <p:sp>
        <p:nvSpPr>
          <p:cNvPr id="43" name="TextBox 42"/>
          <p:cNvSpPr txBox="1"/>
          <p:nvPr/>
        </p:nvSpPr>
        <p:spPr>
          <a:xfrm>
            <a:off x="8823960" y="2962656"/>
            <a:ext cx="2834640" cy="292608"/>
          </a:xfrm>
          <a:prstGeom prst="rect">
            <a:avLst/>
          </a:prstGeom>
          <a:noFill/>
        </p:spPr>
        <p:txBody>
          <a:bodyPr wrap="square" lIns="36576" rIns="36576" tIns="18288" bIns="18288">
            <a:spAutoFit/>
          </a:bodyPr>
          <a:lstStyle/>
          <a:p>
            <a:pPr algn="l"/>
            <a:r>
              <a:rPr sz="800" b="0" i="0">
                <a:solidFill>
                  <a:srgbClr val="0F172A"/>
                </a:solidFill>
                <a:latin typeface="Inter"/>
              </a:rPr>
              <a:t>Derm recommendation is #1 brand switch trigger [2]</a:t>
            </a:r>
          </a:p>
        </p:txBody>
      </p:sp>
      <p:sp>
        <p:nvSpPr>
          <p:cNvPr id="44" name="Oval 43"/>
          <p:cNvSpPr/>
          <p:nvPr/>
        </p:nvSpPr>
        <p:spPr>
          <a:xfrm>
            <a:off x="8412480" y="3410712"/>
            <a:ext cx="347472" cy="34747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0" y="3410712"/>
            <a:ext cx="347472" cy="347472"/>
          </a:xfrm>
          <a:prstGeom prst="rect">
            <a:avLst/>
          </a:prstGeom>
          <a:noFill/>
        </p:spPr>
        <p:txBody>
          <a:bodyPr wrap="square" lIns="36576" rIns="36576" tIns="18288" bIns="18288">
            <a:spAutoFit/>
          </a:bodyPr>
          <a:lstStyle/>
          <a:p>
            <a:pPr algn="ctr"/>
            <a:r>
              <a:rPr sz="850" b="1" i="0">
                <a:solidFill>
                  <a:srgbClr val="FFFFFF"/>
                </a:solidFill>
                <a:latin typeface="Outfit"/>
              </a:rPr>
              <a:t>65%</a:t>
            </a:r>
          </a:p>
        </p:txBody>
      </p:sp>
      <p:sp>
        <p:nvSpPr>
          <p:cNvPr id="46" name="TextBox 45"/>
          <p:cNvSpPr txBox="1"/>
          <p:nvPr/>
        </p:nvSpPr>
        <p:spPr>
          <a:xfrm>
            <a:off x="8823960" y="3447288"/>
            <a:ext cx="2834640" cy="292608"/>
          </a:xfrm>
          <a:prstGeom prst="rect">
            <a:avLst/>
          </a:prstGeom>
          <a:noFill/>
        </p:spPr>
        <p:txBody>
          <a:bodyPr wrap="square" lIns="36576" rIns="36576" tIns="18288" bIns="18288">
            <a:spAutoFit/>
          </a:bodyPr>
          <a:lstStyle/>
          <a:p>
            <a:pPr algn="l"/>
            <a:r>
              <a:rPr sz="800" b="0" i="0">
                <a:solidFill>
                  <a:srgbClr val="0F172A"/>
                </a:solidFill>
                <a:latin typeface="Inter"/>
              </a:rPr>
              <a:t>Research ingredients on social media [4]</a:t>
            </a:r>
          </a:p>
        </p:txBody>
      </p:sp>
      <p:sp>
        <p:nvSpPr>
          <p:cNvPr id="47" name="Oval 46"/>
          <p:cNvSpPr/>
          <p:nvPr/>
        </p:nvSpPr>
        <p:spPr>
          <a:xfrm>
            <a:off x="8412480" y="3895344"/>
            <a:ext cx="347472" cy="34747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80" y="3895344"/>
            <a:ext cx="347472" cy="347472"/>
          </a:xfrm>
          <a:prstGeom prst="rect">
            <a:avLst/>
          </a:prstGeom>
          <a:noFill/>
        </p:spPr>
        <p:txBody>
          <a:bodyPr wrap="square" lIns="36576" rIns="36576" tIns="18288" bIns="18288">
            <a:spAutoFit/>
          </a:bodyPr>
          <a:lstStyle/>
          <a:p>
            <a:pPr algn="ctr"/>
            <a:r>
              <a:rPr sz="850" b="1" i="0">
                <a:solidFill>
                  <a:srgbClr val="FFFFFF"/>
                </a:solidFill>
                <a:latin typeface="Outfit"/>
              </a:rPr>
              <a:t>72%</a:t>
            </a:r>
          </a:p>
        </p:txBody>
      </p:sp>
      <p:sp>
        <p:nvSpPr>
          <p:cNvPr id="49" name="TextBox 48"/>
          <p:cNvSpPr txBox="1"/>
          <p:nvPr/>
        </p:nvSpPr>
        <p:spPr>
          <a:xfrm>
            <a:off x="8823960" y="3931920"/>
            <a:ext cx="2834640" cy="292608"/>
          </a:xfrm>
          <a:prstGeom prst="rect">
            <a:avLst/>
          </a:prstGeom>
          <a:noFill/>
        </p:spPr>
        <p:txBody>
          <a:bodyPr wrap="square" lIns="36576" rIns="36576" tIns="18288" bIns="18288">
            <a:spAutoFit/>
          </a:bodyPr>
          <a:lstStyle/>
          <a:p>
            <a:pPr algn="l"/>
            <a:r>
              <a:rPr sz="800" b="0" i="0">
                <a:solidFill>
                  <a:srgbClr val="0F172A"/>
                </a:solidFill>
                <a:latin typeface="Inter"/>
              </a:rPr>
              <a:t>Demand multi-benefit SPF (anti-aging + pigmentation)</a:t>
            </a:r>
          </a:p>
        </p:txBody>
      </p:sp>
      <p:sp>
        <p:nvSpPr>
          <p:cNvPr id="50" name="Oval 49"/>
          <p:cNvSpPr/>
          <p:nvPr/>
        </p:nvSpPr>
        <p:spPr>
          <a:xfrm>
            <a:off x="8412480" y="4379976"/>
            <a:ext cx="347472" cy="34747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2480" y="4379976"/>
            <a:ext cx="347472" cy="347472"/>
          </a:xfrm>
          <a:prstGeom prst="rect">
            <a:avLst/>
          </a:prstGeom>
          <a:noFill/>
        </p:spPr>
        <p:txBody>
          <a:bodyPr wrap="square" lIns="36576" rIns="36576" tIns="18288" bIns="18288">
            <a:spAutoFit/>
          </a:bodyPr>
          <a:lstStyle/>
          <a:p>
            <a:pPr algn="ctr"/>
            <a:r>
              <a:rPr sz="850" b="1" i="0">
                <a:solidFill>
                  <a:srgbClr val="FFFFFF"/>
                </a:solidFill>
                <a:latin typeface="Outfit"/>
              </a:rPr>
              <a:t>68%</a:t>
            </a:r>
          </a:p>
        </p:txBody>
      </p:sp>
      <p:sp>
        <p:nvSpPr>
          <p:cNvPr id="52" name="TextBox 51"/>
          <p:cNvSpPr txBox="1"/>
          <p:nvPr/>
        </p:nvSpPr>
        <p:spPr>
          <a:xfrm>
            <a:off x="8823960" y="4416552"/>
            <a:ext cx="2834640" cy="292608"/>
          </a:xfrm>
          <a:prstGeom prst="rect">
            <a:avLst/>
          </a:prstGeom>
          <a:noFill/>
        </p:spPr>
        <p:txBody>
          <a:bodyPr wrap="square" lIns="36576" rIns="36576" tIns="18288" bIns="18288">
            <a:spAutoFit/>
          </a:bodyPr>
          <a:lstStyle/>
          <a:p>
            <a:pPr algn="l"/>
            <a:r>
              <a:rPr sz="800" b="0" i="0">
                <a:solidFill>
                  <a:srgbClr val="0F172A"/>
                </a:solidFill>
                <a:latin typeface="Inter"/>
              </a:rPr>
              <a:t>Prefer lightweight gel/serum over creams</a:t>
            </a:r>
          </a:p>
        </p:txBody>
      </p:sp>
      <p:sp>
        <p:nvSpPr>
          <p:cNvPr id="53" name="Rounded Rectangle 52"/>
          <p:cNvSpPr/>
          <p:nvPr/>
        </p:nvSpPr>
        <p:spPr>
          <a:xfrm>
            <a:off x="457200" y="5166360"/>
            <a:ext cx="11274552" cy="1188720"/>
          </a:xfrm>
          <a:prstGeom prst="roundRect">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5257800"/>
            <a:ext cx="10817352" cy="1005840"/>
          </a:xfrm>
          <a:prstGeom prst="rect">
            <a:avLst/>
          </a:prstGeom>
          <a:noFill/>
        </p:spPr>
        <p:txBody>
          <a:bodyPr wrap="square" lIns="36576" rIns="36576" tIns="18288" bIns="18288">
            <a:spAutoFit/>
          </a:bodyPr>
          <a:lstStyle/>
          <a:p>
            <a:pPr algn="l"/>
            <a:r>
              <a:rPr sz="950" b="0" i="0">
                <a:solidFill>
                  <a:srgbClr val="0F172A"/>
                </a:solidFill>
                <a:latin typeface="Inter"/>
              </a:rPr>
              <a:t>Strategic Takeaway: India's sunscreen market is undergoing a structural shift. The mass segment is commoditizing, while the premium dermatologist-backed segment is expanding at a 22% CAGR. By establishing an affordable-premium line at the ₹449–799 range, Galderma can block D2C competitors from converting Cetaphil's brand equity.</a:t>
            </a:r>
          </a:p>
        </p:txBody>
      </p:sp>
      <p:sp>
        <p:nvSpPr>
          <p:cNvPr id="55" name="Rectangle 54"/>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Sources: [1] Euromonitor India BPC 2024 · [2] Primary Survey N=500 · [3] Nykaa/Amazon N=50 Audit · [4] Mintel Digital Beauty India 2023</a:t>
            </a:r>
          </a:p>
        </p:txBody>
      </p:sp>
      <p:sp>
        <p:nvSpPr>
          <p:cNvPr id="57" name="TextBox 56"/>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2 of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Situation Analysis: Consumer &amp; Dermatologist Pain Points</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3 · SITUATION</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5486400" cy="4937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1554480"/>
            <a:ext cx="4937760" cy="320040"/>
          </a:xfrm>
          <a:prstGeom prst="rect">
            <a:avLst/>
          </a:prstGeom>
          <a:noFill/>
        </p:spPr>
        <p:txBody>
          <a:bodyPr wrap="square" lIns="36576" rIns="36576" tIns="18288" bIns="18288">
            <a:spAutoFit/>
          </a:bodyPr>
          <a:lstStyle/>
          <a:p>
            <a:pPr algn="l"/>
            <a:r>
              <a:rPr sz="1200" b="1" i="0">
                <a:solidFill>
                  <a:srgbClr val="0284C7"/>
                </a:solidFill>
                <a:latin typeface="Outfit"/>
              </a:rPr>
              <a:t>USER / CONSUMER PAIN POINTS</a:t>
            </a:r>
          </a:p>
        </p:txBody>
      </p:sp>
      <p:sp>
        <p:nvSpPr>
          <p:cNvPr id="23" name="Rounded Rectangle 22"/>
          <p:cNvSpPr/>
          <p:nvPr/>
        </p:nvSpPr>
        <p:spPr>
          <a:xfrm>
            <a:off x="731520" y="2011680"/>
            <a:ext cx="4937760" cy="1280160"/>
          </a:xfrm>
          <a:prstGeom prst="roundRect">
            <a:avLst/>
          </a:prstGeom>
          <a:solidFill>
            <a:srgbClr val="FFFF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148840"/>
            <a:ext cx="4663440" cy="777240"/>
          </a:xfrm>
          <a:prstGeom prst="rect">
            <a:avLst/>
          </a:prstGeom>
          <a:noFill/>
        </p:spPr>
        <p:txBody>
          <a:bodyPr wrap="square" lIns="36576" rIns="36576" tIns="18288" bIns="18288">
            <a:spAutoFit/>
          </a:bodyPr>
          <a:lstStyle/>
          <a:p>
            <a:pPr algn="l"/>
            <a:r>
              <a:rPr sz="919" b="0" i="1">
                <a:solidFill>
                  <a:srgbClr val="0F172A"/>
                </a:solidFill>
                <a:latin typeface="Inter"/>
              </a:rPr>
              <a:t>"I love Cetaphil Sun but at ₹1,080 for 50ml, it's just too expensive to apply every single day. I'm forced to switch to brands like Minimalist or Re'equil which cost half as much but still feel dermatologist-backed."</a:t>
            </a:r>
          </a:p>
        </p:txBody>
      </p:sp>
      <p:sp>
        <p:nvSpPr>
          <p:cNvPr id="25" name="TextBox 24"/>
          <p:cNvSpPr txBox="1"/>
          <p:nvPr/>
        </p:nvSpPr>
        <p:spPr>
          <a:xfrm>
            <a:off x="868680" y="2962656"/>
            <a:ext cx="4663440" cy="274320"/>
          </a:xfrm>
          <a:prstGeom prst="rect">
            <a:avLst/>
          </a:prstGeom>
          <a:noFill/>
        </p:spPr>
        <p:txBody>
          <a:bodyPr wrap="square" lIns="36576" rIns="36576" tIns="18288" bIns="18288">
            <a:spAutoFit/>
          </a:bodyPr>
          <a:lstStyle/>
          <a:p>
            <a:pPr algn="l"/>
            <a:r>
              <a:rPr sz="850" b="1" i="0">
                <a:solidFill>
                  <a:srgbClr val="BAE6FD"/>
                </a:solidFill>
                <a:latin typeface="Outfit"/>
              </a:rPr>
              <a:t>Rhea Sharma, 28 (Daily Skincare Consumer)</a:t>
            </a:r>
          </a:p>
        </p:txBody>
      </p:sp>
      <p:sp>
        <p:nvSpPr>
          <p:cNvPr id="26" name="Rounded Rectangle 25"/>
          <p:cNvSpPr/>
          <p:nvPr/>
        </p:nvSpPr>
        <p:spPr>
          <a:xfrm>
            <a:off x="731520" y="3474720"/>
            <a:ext cx="4937760" cy="1280160"/>
          </a:xfrm>
          <a:prstGeom prst="roundRect">
            <a:avLst/>
          </a:prstGeom>
          <a:solidFill>
            <a:srgbClr val="FFFF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611880"/>
            <a:ext cx="4663440" cy="777240"/>
          </a:xfrm>
          <a:prstGeom prst="rect">
            <a:avLst/>
          </a:prstGeom>
          <a:noFill/>
        </p:spPr>
        <p:txBody>
          <a:bodyPr wrap="square" lIns="36576" rIns="36576" tIns="18288" bIns="18288">
            <a:spAutoFit/>
          </a:bodyPr>
          <a:lstStyle/>
          <a:p>
            <a:pPr algn="l"/>
            <a:r>
              <a:rPr sz="919" b="0" i="1">
                <a:solidFill>
                  <a:srgbClr val="0F172A"/>
                </a:solidFill>
                <a:latin typeface="Inter"/>
              </a:rPr>
              <a:t>"The Gel format is okay, but it leaves my oily skin shiny under makeup. There is no tint to cover my pigmentation, and I cannot reapply a thick gel when I'm outdoors over my makeup. We need sprays or serums."</a:t>
            </a:r>
          </a:p>
        </p:txBody>
      </p:sp>
      <p:sp>
        <p:nvSpPr>
          <p:cNvPr id="28" name="TextBox 27"/>
          <p:cNvSpPr txBox="1"/>
          <p:nvPr/>
        </p:nvSpPr>
        <p:spPr>
          <a:xfrm>
            <a:off x="868680" y="4425696"/>
            <a:ext cx="4663440" cy="274320"/>
          </a:xfrm>
          <a:prstGeom prst="rect">
            <a:avLst/>
          </a:prstGeom>
          <a:noFill/>
        </p:spPr>
        <p:txBody>
          <a:bodyPr wrap="square" lIns="36576" rIns="36576" tIns="18288" bIns="18288">
            <a:spAutoFit/>
          </a:bodyPr>
          <a:lstStyle/>
          <a:p>
            <a:pPr algn="l"/>
            <a:r>
              <a:rPr sz="850" b="1" i="0">
                <a:solidFill>
                  <a:srgbClr val="BAE6FD"/>
                </a:solidFill>
                <a:latin typeface="Outfit"/>
              </a:rPr>
              <a:t>Ananya Iyer, 31 (Active Professional)</a:t>
            </a:r>
          </a:p>
        </p:txBody>
      </p:sp>
      <p:sp>
        <p:nvSpPr>
          <p:cNvPr id="29" name="Rounded Rectangle 28"/>
          <p:cNvSpPr/>
          <p:nvPr/>
        </p:nvSpPr>
        <p:spPr>
          <a:xfrm>
            <a:off x="731520" y="4937760"/>
            <a:ext cx="4937760" cy="1097280"/>
          </a:xfrm>
          <a:prstGeom prst="roundRect">
            <a:avLst/>
          </a:prstGeom>
          <a:solidFill>
            <a:srgbClr val="FFFF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074920"/>
            <a:ext cx="4663440" cy="594360"/>
          </a:xfrm>
          <a:prstGeom prst="rect">
            <a:avLst/>
          </a:prstGeom>
          <a:noFill/>
        </p:spPr>
        <p:txBody>
          <a:bodyPr wrap="square" lIns="36576" rIns="36576" tIns="18288" bIns="18288">
            <a:spAutoFit/>
          </a:bodyPr>
          <a:lstStyle/>
          <a:p>
            <a:pPr algn="l"/>
            <a:r>
              <a:rPr sz="919" b="0" i="1">
                <a:solidFill>
                  <a:srgbClr val="0F172A"/>
                </a:solidFill>
                <a:latin typeface="Inter"/>
              </a:rPr>
              <a:t>"I want to buy dermatologist-prescribed sunscreens but I find it hard to trust D2C Instagram claims. If Galderma has an entry range under ₹500, I would buy it immediately."</a:t>
            </a:r>
          </a:p>
        </p:txBody>
      </p:sp>
      <p:sp>
        <p:nvSpPr>
          <p:cNvPr id="31" name="TextBox 30"/>
          <p:cNvSpPr txBox="1"/>
          <p:nvPr/>
        </p:nvSpPr>
        <p:spPr>
          <a:xfrm>
            <a:off x="868680" y="5705856"/>
            <a:ext cx="4663440" cy="274320"/>
          </a:xfrm>
          <a:prstGeom prst="rect">
            <a:avLst/>
          </a:prstGeom>
          <a:noFill/>
        </p:spPr>
        <p:txBody>
          <a:bodyPr wrap="square" lIns="36576" rIns="36576" tIns="18288" bIns="18288">
            <a:spAutoFit/>
          </a:bodyPr>
          <a:lstStyle/>
          <a:p>
            <a:pPr algn="l"/>
            <a:r>
              <a:rPr sz="850" b="1" i="0">
                <a:solidFill>
                  <a:srgbClr val="BAE6FD"/>
                </a:solidFill>
                <a:latin typeface="Outfit"/>
              </a:rPr>
              <a:t>Vikram Malhotra, 25 (First-Time SPF Buyer)</a:t>
            </a:r>
          </a:p>
        </p:txBody>
      </p:sp>
      <p:sp>
        <p:nvSpPr>
          <p:cNvPr id="32" name="Rounded Rectangle 31"/>
          <p:cNvSpPr/>
          <p:nvPr/>
        </p:nvSpPr>
        <p:spPr>
          <a:xfrm>
            <a:off x="6217920" y="1371600"/>
            <a:ext cx="5486400" cy="4937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1554480"/>
            <a:ext cx="4937760" cy="320040"/>
          </a:xfrm>
          <a:prstGeom prst="rect">
            <a:avLst/>
          </a:prstGeom>
          <a:noFill/>
        </p:spPr>
        <p:txBody>
          <a:bodyPr wrap="square" lIns="36576" rIns="36576" tIns="18288" bIns="18288">
            <a:spAutoFit/>
          </a:bodyPr>
          <a:lstStyle/>
          <a:p>
            <a:pPr algn="l"/>
            <a:r>
              <a:rPr sz="1200" b="1" i="0">
                <a:solidFill>
                  <a:srgbClr val="EA580C"/>
                </a:solidFill>
                <a:latin typeface="Outfit"/>
              </a:rPr>
              <a:t>DERMATOLOGIST &amp; CLINICAL PERSPECTIVE</a:t>
            </a:r>
          </a:p>
        </p:txBody>
      </p:sp>
      <p:sp>
        <p:nvSpPr>
          <p:cNvPr id="34" name="Rounded Rectangle 33"/>
          <p:cNvSpPr/>
          <p:nvPr/>
        </p:nvSpPr>
        <p:spPr>
          <a:xfrm>
            <a:off x="6492240" y="2011680"/>
            <a:ext cx="4937760" cy="1280160"/>
          </a:xfrm>
          <a:prstGeom prst="roundRect">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2148840"/>
            <a:ext cx="4663440" cy="777240"/>
          </a:xfrm>
          <a:prstGeom prst="rect">
            <a:avLst/>
          </a:prstGeom>
          <a:noFill/>
        </p:spPr>
        <p:txBody>
          <a:bodyPr wrap="square" lIns="36576" rIns="36576" tIns="18288" bIns="18288">
            <a:spAutoFit/>
          </a:bodyPr>
          <a:lstStyle/>
          <a:p>
            <a:pPr algn="l"/>
            <a:r>
              <a:rPr sz="919" b="0" i="1">
                <a:solidFill>
                  <a:srgbClr val="0F172A"/>
                </a:solidFill>
                <a:latin typeface="Inter"/>
              </a:rPr>
              <a:t>"Dermatologists prescribe Cetaphil Sun because of safety and brand trust. However, patient compliance is very low because they complain about the price. If they buy a cheap D2C cosmetic SPF instead, their skin health suffers."</a:t>
            </a:r>
          </a:p>
        </p:txBody>
      </p:sp>
      <p:sp>
        <p:nvSpPr>
          <p:cNvPr id="36" name="TextBox 35"/>
          <p:cNvSpPr txBox="1"/>
          <p:nvPr/>
        </p:nvSpPr>
        <p:spPr>
          <a:xfrm>
            <a:off x="6629400" y="2962656"/>
            <a:ext cx="4663440" cy="274320"/>
          </a:xfrm>
          <a:prstGeom prst="rect">
            <a:avLst/>
          </a:prstGeom>
          <a:noFill/>
        </p:spPr>
        <p:txBody>
          <a:bodyPr wrap="square" lIns="36576" rIns="36576" tIns="18288" bIns="18288">
            <a:spAutoFit/>
          </a:bodyPr>
          <a:lstStyle/>
          <a:p>
            <a:pPr algn="l"/>
            <a:r>
              <a:rPr sz="850" b="1" i="0">
                <a:solidFill>
                  <a:srgbClr val="FED7AA"/>
                </a:solidFill>
                <a:latin typeface="Outfit"/>
              </a:rPr>
              <a:t>Dr. Anil K. Mehta (Aesthetic Dermatologist, Mumbai)</a:t>
            </a:r>
          </a:p>
        </p:txBody>
      </p:sp>
      <p:sp>
        <p:nvSpPr>
          <p:cNvPr id="37" name="Rounded Rectangle 36"/>
          <p:cNvSpPr/>
          <p:nvPr/>
        </p:nvSpPr>
        <p:spPr>
          <a:xfrm>
            <a:off x="6492240" y="3474720"/>
            <a:ext cx="4937760" cy="1280160"/>
          </a:xfrm>
          <a:prstGeom prst="roundRect">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9400" y="3611880"/>
            <a:ext cx="4663440" cy="777240"/>
          </a:xfrm>
          <a:prstGeom prst="rect">
            <a:avLst/>
          </a:prstGeom>
          <a:noFill/>
        </p:spPr>
        <p:txBody>
          <a:bodyPr wrap="square" lIns="36576" rIns="36576" tIns="18288" bIns="18288">
            <a:spAutoFit/>
          </a:bodyPr>
          <a:lstStyle/>
          <a:p>
            <a:pPr algn="l"/>
            <a:r>
              <a:rPr sz="919" b="0" i="1">
                <a:solidFill>
                  <a:srgbClr val="0F172A"/>
                </a:solidFill>
                <a:latin typeface="Inter"/>
              </a:rPr>
              <a:t>"We are seeing patients demanding cosmetic elegance (no white cast, light serum feel, tints). If the medical brands don't provide these modern formats, consumers will switch to cosmetic brands that don't offer true medical protection."</a:t>
            </a:r>
          </a:p>
        </p:txBody>
      </p:sp>
      <p:sp>
        <p:nvSpPr>
          <p:cNvPr id="39" name="TextBox 38"/>
          <p:cNvSpPr txBox="1"/>
          <p:nvPr/>
        </p:nvSpPr>
        <p:spPr>
          <a:xfrm>
            <a:off x="6629400" y="4425696"/>
            <a:ext cx="4663440" cy="274320"/>
          </a:xfrm>
          <a:prstGeom prst="rect">
            <a:avLst/>
          </a:prstGeom>
          <a:noFill/>
        </p:spPr>
        <p:txBody>
          <a:bodyPr wrap="square" lIns="36576" rIns="36576" tIns="18288" bIns="18288">
            <a:spAutoFit/>
          </a:bodyPr>
          <a:lstStyle/>
          <a:p>
            <a:pPr algn="l"/>
            <a:r>
              <a:rPr sz="850" b="1" i="0">
                <a:solidFill>
                  <a:srgbClr val="FED7AA"/>
                </a:solidFill>
                <a:latin typeface="Outfit"/>
              </a:rPr>
              <a:t>Dr. Shreya Shah (Clinical Dermatologist, Delhi NCR)</a:t>
            </a:r>
          </a:p>
        </p:txBody>
      </p:sp>
      <p:sp>
        <p:nvSpPr>
          <p:cNvPr id="40" name="Rounded Rectangle 39"/>
          <p:cNvSpPr/>
          <p:nvPr/>
        </p:nvSpPr>
        <p:spPr>
          <a:xfrm>
            <a:off x="6492240" y="4937760"/>
            <a:ext cx="4937760" cy="1097280"/>
          </a:xfrm>
          <a:prstGeom prst="roundRect">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5074920"/>
            <a:ext cx="4663440" cy="594360"/>
          </a:xfrm>
          <a:prstGeom prst="rect">
            <a:avLst/>
          </a:prstGeom>
          <a:noFill/>
        </p:spPr>
        <p:txBody>
          <a:bodyPr wrap="square" lIns="36576" rIns="36576" tIns="18288" bIns="18288">
            <a:spAutoFit/>
          </a:bodyPr>
          <a:lstStyle/>
          <a:p>
            <a:pPr algn="l"/>
            <a:r>
              <a:rPr sz="919" b="0" i="1">
                <a:solidFill>
                  <a:srgbClr val="0F172A"/>
                </a:solidFill>
                <a:latin typeface="Inter"/>
              </a:rPr>
              <a:t>"Seeding programs by new age D2C brands are highly active. Galderma must reactivate its physician sampling engine. Sunscreen is a recurring requirement, so trade compliance is key."</a:t>
            </a:r>
          </a:p>
        </p:txBody>
      </p:sp>
      <p:sp>
        <p:nvSpPr>
          <p:cNvPr id="42" name="TextBox 41"/>
          <p:cNvSpPr txBox="1"/>
          <p:nvPr/>
        </p:nvSpPr>
        <p:spPr>
          <a:xfrm>
            <a:off x="6629400" y="5705856"/>
            <a:ext cx="4663440" cy="274320"/>
          </a:xfrm>
          <a:prstGeom prst="rect">
            <a:avLst/>
          </a:prstGeom>
          <a:noFill/>
        </p:spPr>
        <p:txBody>
          <a:bodyPr wrap="square" lIns="36576" rIns="36576" tIns="18288" bIns="18288">
            <a:spAutoFit/>
          </a:bodyPr>
          <a:lstStyle/>
          <a:p>
            <a:pPr algn="l"/>
            <a:r>
              <a:rPr sz="850" b="1" i="0">
                <a:solidFill>
                  <a:srgbClr val="FED7AA"/>
                </a:solidFill>
                <a:latin typeface="Outfit"/>
              </a:rPr>
              <a:t>Dr. Rohit Das (Consulting Derm, Bangalore)</a:t>
            </a:r>
          </a:p>
        </p:txBody>
      </p:sp>
      <p:sp>
        <p:nvSpPr>
          <p:cNvPr id="43" name="Rectangle 42"/>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 Primary Survey N=500 and HCP In-Depth Interviews (N=30 Aesthetic Dermatologists)</a:t>
            </a:r>
          </a:p>
        </p:txBody>
      </p:sp>
      <p:sp>
        <p:nvSpPr>
          <p:cNvPr id="45" name="TextBox 44"/>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3 of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Situation Analysis: Problem Deep Dive &amp; Root Cause</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4 · SITUATION</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297680" y="1481328"/>
            <a:ext cx="3566160" cy="713232"/>
          </a:xfrm>
          <a:prstGeom prst="roundRect">
            <a:avLst/>
          </a:prstGeom>
          <a:solidFill>
            <a:srgbClr val="FEF2F2"/>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554480"/>
            <a:ext cx="3566160" cy="566928"/>
          </a:xfrm>
          <a:prstGeom prst="rect">
            <a:avLst/>
          </a:prstGeom>
          <a:noFill/>
        </p:spPr>
        <p:txBody>
          <a:bodyPr wrap="square" lIns="36576" rIns="36576" tIns="18288" bIns="18288">
            <a:spAutoFit/>
          </a:bodyPr>
          <a:lstStyle/>
          <a:p>
            <a:pPr algn="ctr"/>
            <a:r>
              <a:rPr sz="1050" b="1" i="0">
                <a:solidFill>
                  <a:srgbClr val="DC2626"/>
                </a:solidFill>
                <a:latin typeface="Outfit"/>
              </a:rPr>
              <a:t>PORTFOLIO GAP
1 SKU · Wrong Price Band · Wrong Format</a:t>
            </a:r>
          </a:p>
        </p:txBody>
      </p:sp>
      <p:sp>
        <p:nvSpPr>
          <p:cNvPr id="23" name="Rounded Rectangle 22"/>
          <p:cNvSpPr/>
          <p:nvPr/>
        </p:nvSpPr>
        <p:spPr>
          <a:xfrm>
            <a:off x="457200" y="237744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377440"/>
            <a:ext cx="3657600" cy="731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542032"/>
            <a:ext cx="3328416" cy="320040"/>
          </a:xfrm>
          <a:prstGeom prst="rect">
            <a:avLst/>
          </a:prstGeom>
          <a:noFill/>
        </p:spPr>
        <p:txBody>
          <a:bodyPr wrap="square" lIns="36576" rIns="36576" tIns="18288" bIns="18288">
            <a:spAutoFit/>
          </a:bodyPr>
          <a:lstStyle/>
          <a:p>
            <a:pPr algn="l"/>
            <a:r>
              <a:rPr sz="1100" b="1" i="0">
                <a:solidFill>
                  <a:srgbClr val="EA580C"/>
                </a:solidFill>
                <a:latin typeface="Outfit"/>
              </a:rPr>
              <a:t>PRICE POSITIONING</a:t>
            </a:r>
          </a:p>
        </p:txBody>
      </p:sp>
      <p:sp>
        <p:nvSpPr>
          <p:cNvPr id="26" name="TextBox 25"/>
          <p:cNvSpPr txBox="1"/>
          <p:nvPr/>
        </p:nvSpPr>
        <p:spPr>
          <a:xfrm>
            <a:off x="621792" y="292608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Only 1 SKU at MRP ₹1,080</a:t>
            </a:r>
            <a:br/>
            <a:r>
              <a:t>  — 35% above ₹800 threshold</a:t>
            </a:r>
          </a:p>
          <a:p>
            <a:pPr>
              <a:spcAft>
                <a:spcPts val="400"/>
              </a:spcAft>
              <a:defRPr sz="950">
                <a:solidFill>
                  <a:srgbClr val="0F172A"/>
                </a:solidFill>
                <a:latin typeface="Inter"/>
              </a:defRPr>
            </a:pPr>
            <a:r>
              <a:t>• Competes in Derma Premium</a:t>
            </a:r>
            <a:br/>
            <a:r>
              <a:t>  vs. D2C at ₹399–695</a:t>
            </a:r>
          </a:p>
          <a:p>
            <a:pPr>
              <a:spcAft>
                <a:spcPts val="400"/>
              </a:spcAft>
              <a:defRPr sz="950">
                <a:solidFill>
                  <a:srgbClr val="0F172A"/>
                </a:solidFill>
                <a:latin typeface="Inter"/>
              </a:defRPr>
            </a:pPr>
            <a:r>
              <a:t>• ₹400–800 band = 48% of</a:t>
            </a:r>
            <a:br/>
            <a:r>
              <a:t>  Nykaa/Amazon top listings</a:t>
            </a:r>
          </a:p>
          <a:p>
            <a:pPr>
              <a:spcAft>
                <a:spcPts val="400"/>
              </a:spcAft>
              <a:defRPr sz="950">
                <a:solidFill>
                  <a:srgbClr val="0F172A"/>
                </a:solidFill>
                <a:latin typeface="Inter"/>
              </a:defRPr>
            </a:pPr>
            <a:r>
              <a:t>• Bioderma at ₹1,575 = only</a:t>
            </a:r>
            <a:br/>
            <a:r>
              <a:t>  comparable (different need)</a:t>
            </a:r>
          </a:p>
        </p:txBody>
      </p:sp>
      <p:sp>
        <p:nvSpPr>
          <p:cNvPr id="27" name="Rounded Rectangle 26"/>
          <p:cNvSpPr/>
          <p:nvPr/>
        </p:nvSpPr>
        <p:spPr>
          <a:xfrm>
            <a:off x="4370832" y="237744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70832" y="2377440"/>
            <a:ext cx="365760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35424" y="2542032"/>
            <a:ext cx="3328416" cy="320040"/>
          </a:xfrm>
          <a:prstGeom prst="rect">
            <a:avLst/>
          </a:prstGeom>
          <a:noFill/>
        </p:spPr>
        <p:txBody>
          <a:bodyPr wrap="square" lIns="36576" rIns="36576" tIns="18288" bIns="18288">
            <a:spAutoFit/>
          </a:bodyPr>
          <a:lstStyle/>
          <a:p>
            <a:pPr algn="l"/>
            <a:r>
              <a:rPr sz="1100" b="1" i="0">
                <a:solidFill>
                  <a:srgbClr val="0284C7"/>
                </a:solidFill>
                <a:latin typeface="Outfit"/>
              </a:rPr>
              <a:t>CONSUMER FORMAT MISMATCH</a:t>
            </a:r>
          </a:p>
        </p:txBody>
      </p:sp>
      <p:sp>
        <p:nvSpPr>
          <p:cNvPr id="30" name="TextBox 29"/>
          <p:cNvSpPr txBox="1"/>
          <p:nvPr/>
        </p:nvSpPr>
        <p:spPr>
          <a:xfrm>
            <a:off x="4535424" y="292608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Single format: Light Gel</a:t>
            </a:r>
            <a:br/>
            <a:r>
              <a:t>  (no serum, mist, or tint)</a:t>
            </a:r>
          </a:p>
          <a:p>
            <a:pPr>
              <a:spcAft>
                <a:spcPts val="400"/>
              </a:spcAft>
              <a:defRPr sz="950">
                <a:solidFill>
                  <a:srgbClr val="0F172A"/>
                </a:solidFill>
                <a:latin typeface="Inter"/>
              </a:defRPr>
            </a:pPr>
            <a:r>
              <a:t>• 72% reject thick creams;</a:t>
            </a:r>
            <a:br/>
            <a:r>
              <a:t>  demand gel/serum formats</a:t>
            </a:r>
          </a:p>
          <a:p>
            <a:pPr>
              <a:spcAft>
                <a:spcPts val="400"/>
              </a:spcAft>
              <a:defRPr sz="950">
                <a:solidFill>
                  <a:srgbClr val="0F172A"/>
                </a:solidFill>
                <a:latin typeface="Inter"/>
              </a:defRPr>
            </a:pPr>
            <a:r>
              <a:t>• No reapplication solution</a:t>
            </a:r>
            <a:br/>
            <a:r>
              <a:t>  over makeup (mist gap)</a:t>
            </a:r>
          </a:p>
          <a:p>
            <a:pPr>
              <a:spcAft>
                <a:spcPts val="400"/>
              </a:spcAft>
              <a:defRPr sz="950">
                <a:solidFill>
                  <a:srgbClr val="0F172A"/>
                </a:solidFill>
                <a:latin typeface="Inter"/>
              </a:defRPr>
            </a:pPr>
            <a:r>
              <a:t>• No shade variants for Indian</a:t>
            </a:r>
            <a:br/>
            <a:r>
              <a:t>  skin tones (tint gap)</a:t>
            </a:r>
          </a:p>
        </p:txBody>
      </p:sp>
      <p:sp>
        <p:nvSpPr>
          <p:cNvPr id="31" name="Rounded Rectangle 30"/>
          <p:cNvSpPr/>
          <p:nvPr/>
        </p:nvSpPr>
        <p:spPr>
          <a:xfrm>
            <a:off x="8284464" y="237744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84464" y="2377440"/>
            <a:ext cx="3657600"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49056" y="2542032"/>
            <a:ext cx="3328416" cy="320040"/>
          </a:xfrm>
          <a:prstGeom prst="rect">
            <a:avLst/>
          </a:prstGeom>
          <a:noFill/>
        </p:spPr>
        <p:txBody>
          <a:bodyPr wrap="square" lIns="36576" rIns="36576" tIns="18288" bIns="18288">
            <a:spAutoFit/>
          </a:bodyPr>
          <a:lstStyle/>
          <a:p>
            <a:pPr algn="l"/>
            <a:r>
              <a:rPr sz="1100" b="1" i="0">
                <a:solidFill>
                  <a:srgbClr val="059669"/>
                </a:solidFill>
                <a:latin typeface="Outfit"/>
              </a:rPr>
              <a:t>CHANNEL &amp; HCP GAPS</a:t>
            </a:r>
          </a:p>
        </p:txBody>
      </p:sp>
      <p:sp>
        <p:nvSpPr>
          <p:cNvPr id="34" name="TextBox 33"/>
          <p:cNvSpPr txBox="1"/>
          <p:nvPr/>
        </p:nvSpPr>
        <p:spPr>
          <a:xfrm>
            <a:off x="8449056" y="292608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Low dermatologist sampling</a:t>
            </a:r>
            <a:br/>
            <a:r>
              <a:t>  vs. Re'equil &amp; IPCA models</a:t>
            </a:r>
          </a:p>
          <a:p>
            <a:pPr>
              <a:spcAft>
                <a:spcPts val="400"/>
              </a:spcAft>
              <a:defRPr sz="950">
                <a:solidFill>
                  <a:srgbClr val="0F172A"/>
                </a:solidFill>
                <a:latin typeface="Inter"/>
              </a:defRPr>
            </a:pPr>
            <a:r>
              <a:t>• Limited Q-Commerce</a:t>
            </a:r>
            <a:br/>
            <a:r>
              <a:t>  (Blinkit/Zepto) presence</a:t>
            </a:r>
          </a:p>
          <a:p>
            <a:pPr>
              <a:spcAft>
                <a:spcPts val="400"/>
              </a:spcAft>
              <a:defRPr sz="950">
                <a:solidFill>
                  <a:srgbClr val="0F172A"/>
                </a:solidFill>
                <a:latin typeface="Inter"/>
              </a:defRPr>
            </a:pPr>
            <a:r>
              <a:t>• Nykaa premium shelf space</a:t>
            </a:r>
            <a:br/>
            <a:r>
              <a:t>  under-utilized vs. Bioderma</a:t>
            </a:r>
          </a:p>
          <a:p>
            <a:pPr>
              <a:spcAft>
                <a:spcPts val="400"/>
              </a:spcAft>
              <a:defRPr sz="950">
                <a:solidFill>
                  <a:srgbClr val="0F172A"/>
                </a:solidFill>
                <a:latin typeface="Inter"/>
              </a:defRPr>
            </a:pPr>
            <a:r>
              <a:t>• No D2C subscription or</a:t>
            </a:r>
            <a:br/>
            <a:r>
              <a:t>  digital skin-quiz funnel</a:t>
            </a:r>
          </a:p>
        </p:txBody>
      </p:sp>
      <p:sp>
        <p:nvSpPr>
          <p:cNvPr id="35" name="Rounded Rectangle 34"/>
          <p:cNvSpPr/>
          <p:nvPr/>
        </p:nvSpPr>
        <p:spPr>
          <a:xfrm>
            <a:off x="457200" y="5166360"/>
            <a:ext cx="11274552" cy="1188720"/>
          </a:xfrm>
          <a:prstGeom prst="roundRect">
            <a:avLst/>
          </a:prstGeom>
          <a:solidFill>
            <a:srgbClr val="FEF2F2"/>
          </a:solidFill>
          <a:ln w="9525">
            <a:solidFill>
              <a:srgbClr val="FCC5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257800"/>
            <a:ext cx="10817352" cy="1005840"/>
          </a:xfrm>
          <a:prstGeom prst="rect">
            <a:avLst/>
          </a:prstGeom>
          <a:noFill/>
        </p:spPr>
        <p:txBody>
          <a:bodyPr wrap="square" lIns="36576" rIns="36576" tIns="18288" bIns="18288">
            <a:spAutoFit/>
          </a:bodyPr>
          <a:lstStyle/>
          <a:p>
            <a:pPr algn="l"/>
            <a:r>
              <a:rPr sz="950" b="0" i="0">
                <a:solidFill>
                  <a:srgbClr val="0F172A"/>
                </a:solidFill>
                <a:latin typeface="Inter"/>
              </a:rPr>
              <a:t>Portfolio Reality: Galderma's high-MRP single SKU policy leaves the entire high-volume, mid-price dermatologist-prescribed market open to competitors like Re'equil and La Shield. To win, Galderma must provide derms with a portfolio of formats (serum, mist, tint) at multiple price points.</a:t>
            </a:r>
          </a:p>
        </p:txBody>
      </p:sp>
      <p:sp>
        <p:nvSpPr>
          <p:cNvPr id="37" name="Rectangle 36"/>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Sources: [2] Primary Survey N=500 · [3] Nykaa/Amazon Audit · [5] Nielsen India Skin Care Report 2023 · Competitor MRP from brand websites</a:t>
            </a:r>
          </a:p>
        </p:txBody>
      </p:sp>
      <p:sp>
        <p:nvSpPr>
          <p:cNvPr id="39" name="TextBox 38"/>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4 of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Competitive Landscape: Pricing vs. Derm Equity Positioning</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5 · SITUATION</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graphicFrame>
        <p:nvGraphicFramePr>
          <p:cNvPr id="21" name="Chart 20"/>
          <p:cNvGraphicFramePr>
            <a:graphicFrameLocks noGrp="1"/>
          </p:cNvGraphicFramePr>
          <p:nvPr/>
        </p:nvGraphicFramePr>
        <p:xfrm>
          <a:off x="457200" y="1325880"/>
          <a:ext cx="5486400" cy="3657600"/>
        </p:xfrm>
        <a:graphic>
          <a:graphicData uri="http://schemas.openxmlformats.org/drawingml/2006/chart">
            <c:chart xmlns:c="http://schemas.openxmlformats.org/drawingml/2006/chart" r:id="rId2"/>
          </a:graphicData>
        </a:graphic>
      </p:graphicFrame>
      <p:sp>
        <p:nvSpPr>
          <p:cNvPr id="22" name="Rounded Rectangle 21"/>
          <p:cNvSpPr/>
          <p:nvPr/>
        </p:nvSpPr>
        <p:spPr>
          <a:xfrm>
            <a:off x="6217920" y="1325880"/>
            <a:ext cx="5486400" cy="36576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371600"/>
            <a:ext cx="5120640" cy="237744"/>
          </a:xfrm>
          <a:prstGeom prst="rect">
            <a:avLst/>
          </a:prstGeom>
          <a:noFill/>
        </p:spPr>
        <p:txBody>
          <a:bodyPr wrap="square" lIns="36576" rIns="36576" tIns="18288" bIns="18288">
            <a:spAutoFit/>
          </a:bodyPr>
          <a:lstStyle/>
          <a:p>
            <a:pPr algn="l"/>
            <a:r>
              <a:rPr sz="950" b="1" i="0">
                <a:solidFill>
                  <a:srgbClr val="0284C7"/>
                </a:solidFill>
                <a:latin typeface="Outfit"/>
              </a:rPr>
              <a:t>COMPETITIVE BENCHMARKING</a:t>
            </a:r>
          </a:p>
        </p:txBody>
      </p:sp>
      <p:sp>
        <p:nvSpPr>
          <p:cNvPr id="24" name="Rectangle 23"/>
          <p:cNvSpPr/>
          <p:nvPr/>
        </p:nvSpPr>
        <p:spPr>
          <a:xfrm>
            <a:off x="6309360" y="1645920"/>
            <a:ext cx="1554480" cy="30175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645920"/>
            <a:ext cx="1554480" cy="30175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1682496"/>
            <a:ext cx="1481328" cy="228600"/>
          </a:xfrm>
          <a:prstGeom prst="rect">
            <a:avLst/>
          </a:prstGeom>
          <a:noFill/>
        </p:spPr>
        <p:txBody>
          <a:bodyPr wrap="square" lIns="36576" rIns="36576" tIns="18288" bIns="18288">
            <a:spAutoFit/>
          </a:bodyPr>
          <a:lstStyle/>
          <a:p>
            <a:pPr algn="l"/>
            <a:r>
              <a:rPr sz="800" b="1" i="0">
                <a:solidFill>
                  <a:srgbClr val="FFFFFF"/>
                </a:solidFill>
                <a:latin typeface="Outfit"/>
              </a:rPr>
              <a:t>Brand</a:t>
            </a:r>
          </a:p>
        </p:txBody>
      </p:sp>
      <p:sp>
        <p:nvSpPr>
          <p:cNvPr id="27" name="Rectangle 26"/>
          <p:cNvSpPr/>
          <p:nvPr/>
        </p:nvSpPr>
        <p:spPr>
          <a:xfrm>
            <a:off x="7891272" y="1645920"/>
            <a:ext cx="640080" cy="30175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91272" y="1645920"/>
            <a:ext cx="640080" cy="30175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36992" y="1682496"/>
            <a:ext cx="566928" cy="228600"/>
          </a:xfrm>
          <a:prstGeom prst="rect">
            <a:avLst/>
          </a:prstGeom>
          <a:noFill/>
        </p:spPr>
        <p:txBody>
          <a:bodyPr wrap="square" lIns="36576" rIns="36576" tIns="18288" bIns="18288">
            <a:spAutoFit/>
          </a:bodyPr>
          <a:lstStyle/>
          <a:p>
            <a:pPr algn="l"/>
            <a:r>
              <a:rPr sz="800" b="1" i="0">
                <a:solidFill>
                  <a:srgbClr val="FFFFFF"/>
                </a:solidFill>
                <a:latin typeface="Outfit"/>
              </a:rPr>
              <a:t>MRP</a:t>
            </a:r>
          </a:p>
        </p:txBody>
      </p:sp>
      <p:sp>
        <p:nvSpPr>
          <p:cNvPr id="30" name="Rectangle 29"/>
          <p:cNvSpPr/>
          <p:nvPr/>
        </p:nvSpPr>
        <p:spPr>
          <a:xfrm>
            <a:off x="8558784" y="1645920"/>
            <a:ext cx="822960" cy="30175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58784" y="1645920"/>
            <a:ext cx="822960" cy="30175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04504" y="1682496"/>
            <a:ext cx="749808" cy="228600"/>
          </a:xfrm>
          <a:prstGeom prst="rect">
            <a:avLst/>
          </a:prstGeom>
          <a:noFill/>
        </p:spPr>
        <p:txBody>
          <a:bodyPr wrap="square" lIns="36576" rIns="36576" tIns="18288" bIns="18288">
            <a:spAutoFit/>
          </a:bodyPr>
          <a:lstStyle/>
          <a:p>
            <a:pPr algn="l"/>
            <a:r>
              <a:rPr sz="800" b="1" i="0">
                <a:solidFill>
                  <a:srgbClr val="FFFFFF"/>
                </a:solidFill>
                <a:latin typeface="Outfit"/>
              </a:rPr>
              <a:t>Format</a:t>
            </a:r>
          </a:p>
        </p:txBody>
      </p:sp>
      <p:sp>
        <p:nvSpPr>
          <p:cNvPr id="33" name="Rectangle 32"/>
          <p:cNvSpPr/>
          <p:nvPr/>
        </p:nvSpPr>
        <p:spPr>
          <a:xfrm>
            <a:off x="9409176" y="1645920"/>
            <a:ext cx="548640" cy="30175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409176" y="1645920"/>
            <a:ext cx="548640" cy="30175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4896" y="1682496"/>
            <a:ext cx="475488" cy="228600"/>
          </a:xfrm>
          <a:prstGeom prst="rect">
            <a:avLst/>
          </a:prstGeom>
          <a:noFill/>
        </p:spPr>
        <p:txBody>
          <a:bodyPr wrap="square" lIns="36576" rIns="36576" tIns="18288" bIns="18288">
            <a:spAutoFit/>
          </a:bodyPr>
          <a:lstStyle/>
          <a:p>
            <a:pPr algn="l"/>
            <a:r>
              <a:rPr sz="800" b="1" i="0">
                <a:solidFill>
                  <a:srgbClr val="FFFFFF"/>
                </a:solidFill>
                <a:latin typeface="Outfit"/>
              </a:rPr>
              <a:t>Derm?</a:t>
            </a:r>
          </a:p>
        </p:txBody>
      </p:sp>
      <p:sp>
        <p:nvSpPr>
          <p:cNvPr id="36" name="Rectangle 35"/>
          <p:cNvSpPr/>
          <p:nvPr/>
        </p:nvSpPr>
        <p:spPr>
          <a:xfrm>
            <a:off x="9985248" y="1645920"/>
            <a:ext cx="1554480" cy="30175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985248" y="1645920"/>
            <a:ext cx="1554480" cy="30175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0968" y="1682496"/>
            <a:ext cx="1481328" cy="228600"/>
          </a:xfrm>
          <a:prstGeom prst="rect">
            <a:avLst/>
          </a:prstGeom>
          <a:noFill/>
        </p:spPr>
        <p:txBody>
          <a:bodyPr wrap="square" lIns="36576" rIns="36576" tIns="18288" bIns="18288">
            <a:spAutoFit/>
          </a:bodyPr>
          <a:lstStyle/>
          <a:p>
            <a:pPr algn="l"/>
            <a:r>
              <a:rPr sz="800" b="1" i="0">
                <a:solidFill>
                  <a:srgbClr val="FFFFFF"/>
                </a:solidFill>
                <a:latin typeface="Outfit"/>
              </a:rPr>
              <a:t>Gap</a:t>
            </a:r>
          </a:p>
        </p:txBody>
      </p:sp>
      <p:sp>
        <p:nvSpPr>
          <p:cNvPr id="39" name="Rectangle 38"/>
          <p:cNvSpPr/>
          <p:nvPr/>
        </p:nvSpPr>
        <p:spPr>
          <a:xfrm>
            <a:off x="6309360" y="1947672"/>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1984248"/>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Lakme Sun Expert</a:t>
            </a:r>
          </a:p>
        </p:txBody>
      </p:sp>
      <p:sp>
        <p:nvSpPr>
          <p:cNvPr id="41" name="Rectangle 40"/>
          <p:cNvSpPr/>
          <p:nvPr/>
        </p:nvSpPr>
        <p:spPr>
          <a:xfrm>
            <a:off x="7891272" y="1947672"/>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36992" y="1984248"/>
            <a:ext cx="566928" cy="228600"/>
          </a:xfrm>
          <a:prstGeom prst="rect">
            <a:avLst/>
          </a:prstGeom>
          <a:noFill/>
        </p:spPr>
        <p:txBody>
          <a:bodyPr wrap="square" lIns="36576" rIns="36576" tIns="18288" bIns="18288">
            <a:spAutoFit/>
          </a:bodyPr>
          <a:lstStyle/>
          <a:p>
            <a:pPr algn="l"/>
            <a:r>
              <a:rPr sz="780" b="0" i="0">
                <a:solidFill>
                  <a:srgbClr val="0F172A"/>
                </a:solidFill>
                <a:latin typeface="Inter"/>
              </a:rPr>
              <a:t>₹349</a:t>
            </a:r>
          </a:p>
        </p:txBody>
      </p:sp>
      <p:sp>
        <p:nvSpPr>
          <p:cNvPr id="43" name="Rectangle 42"/>
          <p:cNvSpPr/>
          <p:nvPr/>
        </p:nvSpPr>
        <p:spPr>
          <a:xfrm>
            <a:off x="8558784" y="1947672"/>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04504" y="1984248"/>
            <a:ext cx="749808" cy="228600"/>
          </a:xfrm>
          <a:prstGeom prst="rect">
            <a:avLst/>
          </a:prstGeom>
          <a:noFill/>
        </p:spPr>
        <p:txBody>
          <a:bodyPr wrap="square" lIns="36576" rIns="36576" tIns="18288" bIns="18288">
            <a:spAutoFit/>
          </a:bodyPr>
          <a:lstStyle/>
          <a:p>
            <a:pPr algn="l"/>
            <a:r>
              <a:rPr sz="780" b="0" i="0">
                <a:solidFill>
                  <a:srgbClr val="0F172A"/>
                </a:solidFill>
                <a:latin typeface="Inter"/>
              </a:rPr>
              <a:t>Cream</a:t>
            </a:r>
          </a:p>
        </p:txBody>
      </p:sp>
      <p:sp>
        <p:nvSpPr>
          <p:cNvPr id="45" name="Rectangle 44"/>
          <p:cNvSpPr/>
          <p:nvPr/>
        </p:nvSpPr>
        <p:spPr>
          <a:xfrm>
            <a:off x="9409176" y="1947672"/>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54896" y="1984248"/>
            <a:ext cx="475488" cy="228600"/>
          </a:xfrm>
          <a:prstGeom prst="rect">
            <a:avLst/>
          </a:prstGeom>
          <a:noFill/>
        </p:spPr>
        <p:txBody>
          <a:bodyPr wrap="square" lIns="36576" rIns="36576" tIns="18288" bIns="18288">
            <a:spAutoFit/>
          </a:bodyPr>
          <a:lstStyle/>
          <a:p>
            <a:pPr algn="l"/>
            <a:r>
              <a:rPr sz="780" b="0" i="0">
                <a:solidFill>
                  <a:srgbClr val="0F172A"/>
                </a:solidFill>
                <a:latin typeface="Inter"/>
              </a:rPr>
              <a:t>No</a:t>
            </a:r>
          </a:p>
        </p:txBody>
      </p:sp>
      <p:sp>
        <p:nvSpPr>
          <p:cNvPr id="47" name="Rectangle 46"/>
          <p:cNvSpPr/>
          <p:nvPr/>
        </p:nvSpPr>
        <p:spPr>
          <a:xfrm>
            <a:off x="9985248" y="1947672"/>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968" y="1984248"/>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Mass</a:t>
            </a:r>
          </a:p>
        </p:txBody>
      </p:sp>
      <p:sp>
        <p:nvSpPr>
          <p:cNvPr id="49" name="Rectangle 48"/>
          <p:cNvSpPr/>
          <p:nvPr/>
        </p:nvSpPr>
        <p:spPr>
          <a:xfrm>
            <a:off x="6309360" y="2249424"/>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2286000"/>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Minimalist SPF50</a:t>
            </a:r>
          </a:p>
        </p:txBody>
      </p:sp>
      <p:sp>
        <p:nvSpPr>
          <p:cNvPr id="51" name="Rectangle 50"/>
          <p:cNvSpPr/>
          <p:nvPr/>
        </p:nvSpPr>
        <p:spPr>
          <a:xfrm>
            <a:off x="7891272" y="2249424"/>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36992" y="2286000"/>
            <a:ext cx="566928" cy="228600"/>
          </a:xfrm>
          <a:prstGeom prst="rect">
            <a:avLst/>
          </a:prstGeom>
          <a:noFill/>
        </p:spPr>
        <p:txBody>
          <a:bodyPr wrap="square" lIns="36576" rIns="36576" tIns="18288" bIns="18288">
            <a:spAutoFit/>
          </a:bodyPr>
          <a:lstStyle/>
          <a:p>
            <a:pPr algn="l"/>
            <a:r>
              <a:rPr sz="780" b="0" i="0">
                <a:solidFill>
                  <a:srgbClr val="0F172A"/>
                </a:solidFill>
                <a:latin typeface="Inter"/>
              </a:rPr>
              <a:t>₹399</a:t>
            </a:r>
          </a:p>
        </p:txBody>
      </p:sp>
      <p:sp>
        <p:nvSpPr>
          <p:cNvPr id="53" name="Rectangle 52"/>
          <p:cNvSpPr/>
          <p:nvPr/>
        </p:nvSpPr>
        <p:spPr>
          <a:xfrm>
            <a:off x="8558784" y="2249424"/>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04504" y="2286000"/>
            <a:ext cx="749808" cy="228600"/>
          </a:xfrm>
          <a:prstGeom prst="rect">
            <a:avLst/>
          </a:prstGeom>
          <a:noFill/>
        </p:spPr>
        <p:txBody>
          <a:bodyPr wrap="square" lIns="36576" rIns="36576" tIns="18288" bIns="18288">
            <a:spAutoFit/>
          </a:bodyPr>
          <a:lstStyle/>
          <a:p>
            <a:pPr algn="l"/>
            <a:r>
              <a:rPr sz="780" b="0" i="0">
                <a:solidFill>
                  <a:srgbClr val="0F172A"/>
                </a:solidFill>
                <a:latin typeface="Inter"/>
              </a:rPr>
              <a:t>Gel</a:t>
            </a:r>
          </a:p>
        </p:txBody>
      </p:sp>
      <p:sp>
        <p:nvSpPr>
          <p:cNvPr id="55" name="Rectangle 54"/>
          <p:cNvSpPr/>
          <p:nvPr/>
        </p:nvSpPr>
        <p:spPr>
          <a:xfrm>
            <a:off x="9409176" y="2249424"/>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54896" y="2286000"/>
            <a:ext cx="475488" cy="228600"/>
          </a:xfrm>
          <a:prstGeom prst="rect">
            <a:avLst/>
          </a:prstGeom>
          <a:noFill/>
        </p:spPr>
        <p:txBody>
          <a:bodyPr wrap="square" lIns="36576" rIns="36576" tIns="18288" bIns="18288">
            <a:spAutoFit/>
          </a:bodyPr>
          <a:lstStyle/>
          <a:p>
            <a:pPr algn="l"/>
            <a:r>
              <a:rPr sz="780" b="0" i="0">
                <a:solidFill>
                  <a:srgbClr val="0F172A"/>
                </a:solidFill>
                <a:latin typeface="Inter"/>
              </a:rPr>
              <a:t>No</a:t>
            </a:r>
          </a:p>
        </p:txBody>
      </p:sp>
      <p:sp>
        <p:nvSpPr>
          <p:cNvPr id="57" name="Rectangle 56"/>
          <p:cNvSpPr/>
          <p:nvPr/>
        </p:nvSpPr>
        <p:spPr>
          <a:xfrm>
            <a:off x="9985248" y="2249424"/>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030968" y="2286000"/>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D2C</a:t>
            </a:r>
          </a:p>
        </p:txBody>
      </p:sp>
      <p:sp>
        <p:nvSpPr>
          <p:cNvPr id="59" name="Rectangle 58"/>
          <p:cNvSpPr/>
          <p:nvPr/>
        </p:nvSpPr>
        <p:spPr>
          <a:xfrm>
            <a:off x="6309360" y="2551176"/>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5080" y="2587752"/>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Derma Co SPF50</a:t>
            </a:r>
          </a:p>
        </p:txBody>
      </p:sp>
      <p:sp>
        <p:nvSpPr>
          <p:cNvPr id="61" name="Rectangle 60"/>
          <p:cNvSpPr/>
          <p:nvPr/>
        </p:nvSpPr>
        <p:spPr>
          <a:xfrm>
            <a:off x="7891272" y="2551176"/>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936992" y="2587752"/>
            <a:ext cx="566928" cy="228600"/>
          </a:xfrm>
          <a:prstGeom prst="rect">
            <a:avLst/>
          </a:prstGeom>
          <a:noFill/>
        </p:spPr>
        <p:txBody>
          <a:bodyPr wrap="square" lIns="36576" rIns="36576" tIns="18288" bIns="18288">
            <a:spAutoFit/>
          </a:bodyPr>
          <a:lstStyle/>
          <a:p>
            <a:pPr algn="l"/>
            <a:r>
              <a:rPr sz="780" b="0" i="0">
                <a:solidFill>
                  <a:srgbClr val="0F172A"/>
                </a:solidFill>
                <a:latin typeface="Inter"/>
              </a:rPr>
              <a:t>₹475</a:t>
            </a:r>
          </a:p>
        </p:txBody>
      </p:sp>
      <p:sp>
        <p:nvSpPr>
          <p:cNvPr id="63" name="Rectangle 62"/>
          <p:cNvSpPr/>
          <p:nvPr/>
        </p:nvSpPr>
        <p:spPr>
          <a:xfrm>
            <a:off x="8558784" y="2551176"/>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04504" y="2587752"/>
            <a:ext cx="749808" cy="228600"/>
          </a:xfrm>
          <a:prstGeom prst="rect">
            <a:avLst/>
          </a:prstGeom>
          <a:noFill/>
        </p:spPr>
        <p:txBody>
          <a:bodyPr wrap="square" lIns="36576" rIns="36576" tIns="18288" bIns="18288">
            <a:spAutoFit/>
          </a:bodyPr>
          <a:lstStyle/>
          <a:p>
            <a:pPr algn="l"/>
            <a:r>
              <a:rPr sz="780" b="0" i="0">
                <a:solidFill>
                  <a:srgbClr val="0F172A"/>
                </a:solidFill>
                <a:latin typeface="Inter"/>
              </a:rPr>
              <a:t>Fluid</a:t>
            </a:r>
          </a:p>
        </p:txBody>
      </p:sp>
      <p:sp>
        <p:nvSpPr>
          <p:cNvPr id="65" name="Rectangle 64"/>
          <p:cNvSpPr/>
          <p:nvPr/>
        </p:nvSpPr>
        <p:spPr>
          <a:xfrm>
            <a:off x="9409176" y="2551176"/>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54896" y="2587752"/>
            <a:ext cx="475488" cy="228600"/>
          </a:xfrm>
          <a:prstGeom prst="rect">
            <a:avLst/>
          </a:prstGeom>
          <a:noFill/>
        </p:spPr>
        <p:txBody>
          <a:bodyPr wrap="square" lIns="36576" rIns="36576" tIns="18288" bIns="18288">
            <a:spAutoFit/>
          </a:bodyPr>
          <a:lstStyle/>
          <a:p>
            <a:pPr algn="l"/>
            <a:r>
              <a:rPr sz="780" b="0" i="0">
                <a:solidFill>
                  <a:srgbClr val="0F172A"/>
                </a:solidFill>
                <a:latin typeface="Inter"/>
              </a:rPr>
              <a:t>Partial</a:t>
            </a:r>
          </a:p>
        </p:txBody>
      </p:sp>
      <p:sp>
        <p:nvSpPr>
          <p:cNvPr id="67" name="Rectangle 66"/>
          <p:cNvSpPr/>
          <p:nvPr/>
        </p:nvSpPr>
        <p:spPr>
          <a:xfrm>
            <a:off x="9985248" y="2551176"/>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30968" y="2587752"/>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D2C</a:t>
            </a:r>
          </a:p>
        </p:txBody>
      </p:sp>
      <p:sp>
        <p:nvSpPr>
          <p:cNvPr id="69" name="Rectangle 68"/>
          <p:cNvSpPr/>
          <p:nvPr/>
        </p:nvSpPr>
        <p:spPr>
          <a:xfrm>
            <a:off x="6309360" y="2852928"/>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5080" y="2889504"/>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Re'equil SPF60</a:t>
            </a:r>
          </a:p>
        </p:txBody>
      </p:sp>
      <p:sp>
        <p:nvSpPr>
          <p:cNvPr id="71" name="Rectangle 70"/>
          <p:cNvSpPr/>
          <p:nvPr/>
        </p:nvSpPr>
        <p:spPr>
          <a:xfrm>
            <a:off x="7891272" y="2852928"/>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36992" y="2889504"/>
            <a:ext cx="566928" cy="228600"/>
          </a:xfrm>
          <a:prstGeom prst="rect">
            <a:avLst/>
          </a:prstGeom>
          <a:noFill/>
        </p:spPr>
        <p:txBody>
          <a:bodyPr wrap="square" lIns="36576" rIns="36576" tIns="18288" bIns="18288">
            <a:spAutoFit/>
          </a:bodyPr>
          <a:lstStyle/>
          <a:p>
            <a:pPr algn="l"/>
            <a:r>
              <a:rPr sz="780" b="0" i="0">
                <a:solidFill>
                  <a:srgbClr val="0F172A"/>
                </a:solidFill>
                <a:latin typeface="Inter"/>
              </a:rPr>
              <a:t>₹695</a:t>
            </a:r>
          </a:p>
        </p:txBody>
      </p:sp>
      <p:sp>
        <p:nvSpPr>
          <p:cNvPr id="73" name="Rectangle 72"/>
          <p:cNvSpPr/>
          <p:nvPr/>
        </p:nvSpPr>
        <p:spPr>
          <a:xfrm>
            <a:off x="8558784" y="2852928"/>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04504" y="2889504"/>
            <a:ext cx="749808" cy="228600"/>
          </a:xfrm>
          <a:prstGeom prst="rect">
            <a:avLst/>
          </a:prstGeom>
          <a:noFill/>
        </p:spPr>
        <p:txBody>
          <a:bodyPr wrap="square" lIns="36576" rIns="36576" tIns="18288" bIns="18288">
            <a:spAutoFit/>
          </a:bodyPr>
          <a:lstStyle/>
          <a:p>
            <a:pPr algn="l"/>
            <a:r>
              <a:rPr sz="780" b="0" i="0">
                <a:solidFill>
                  <a:srgbClr val="0F172A"/>
                </a:solidFill>
                <a:latin typeface="Inter"/>
              </a:rPr>
              <a:t>Gel</a:t>
            </a:r>
          </a:p>
        </p:txBody>
      </p:sp>
      <p:sp>
        <p:nvSpPr>
          <p:cNvPr id="75" name="Rectangle 74"/>
          <p:cNvSpPr/>
          <p:nvPr/>
        </p:nvSpPr>
        <p:spPr>
          <a:xfrm>
            <a:off x="9409176" y="2852928"/>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54896" y="2889504"/>
            <a:ext cx="47548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77" name="Rectangle 76"/>
          <p:cNvSpPr/>
          <p:nvPr/>
        </p:nvSpPr>
        <p:spPr>
          <a:xfrm>
            <a:off x="9985248" y="2852928"/>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30968" y="2889504"/>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Derma</a:t>
            </a:r>
          </a:p>
        </p:txBody>
      </p:sp>
      <p:sp>
        <p:nvSpPr>
          <p:cNvPr id="79" name="Rectangle 78"/>
          <p:cNvSpPr/>
          <p:nvPr/>
        </p:nvSpPr>
        <p:spPr>
          <a:xfrm>
            <a:off x="6309360" y="3154680"/>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355080" y="3191256"/>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La Shield SPF40</a:t>
            </a:r>
          </a:p>
        </p:txBody>
      </p:sp>
      <p:sp>
        <p:nvSpPr>
          <p:cNvPr id="81" name="Rectangle 80"/>
          <p:cNvSpPr/>
          <p:nvPr/>
        </p:nvSpPr>
        <p:spPr>
          <a:xfrm>
            <a:off x="7891272" y="3154680"/>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936992" y="3191256"/>
            <a:ext cx="566928" cy="228600"/>
          </a:xfrm>
          <a:prstGeom prst="rect">
            <a:avLst/>
          </a:prstGeom>
          <a:noFill/>
        </p:spPr>
        <p:txBody>
          <a:bodyPr wrap="square" lIns="36576" rIns="36576" tIns="18288" bIns="18288">
            <a:spAutoFit/>
          </a:bodyPr>
          <a:lstStyle/>
          <a:p>
            <a:pPr algn="l"/>
            <a:r>
              <a:rPr sz="780" b="0" i="0">
                <a:solidFill>
                  <a:srgbClr val="0F172A"/>
                </a:solidFill>
                <a:latin typeface="Inter"/>
              </a:rPr>
              <a:t>₹780</a:t>
            </a:r>
          </a:p>
        </p:txBody>
      </p:sp>
      <p:sp>
        <p:nvSpPr>
          <p:cNvPr id="83" name="Rectangle 82"/>
          <p:cNvSpPr/>
          <p:nvPr/>
        </p:nvSpPr>
        <p:spPr>
          <a:xfrm>
            <a:off x="8558784" y="3154680"/>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604504" y="3191256"/>
            <a:ext cx="749808" cy="228600"/>
          </a:xfrm>
          <a:prstGeom prst="rect">
            <a:avLst/>
          </a:prstGeom>
          <a:noFill/>
        </p:spPr>
        <p:txBody>
          <a:bodyPr wrap="square" lIns="36576" rIns="36576" tIns="18288" bIns="18288">
            <a:spAutoFit/>
          </a:bodyPr>
          <a:lstStyle/>
          <a:p>
            <a:pPr algn="l"/>
            <a:r>
              <a:rPr sz="780" b="0" i="0">
                <a:solidFill>
                  <a:srgbClr val="0F172A"/>
                </a:solidFill>
                <a:latin typeface="Inter"/>
              </a:rPr>
              <a:t>Cream</a:t>
            </a:r>
          </a:p>
        </p:txBody>
      </p:sp>
      <p:sp>
        <p:nvSpPr>
          <p:cNvPr id="85" name="Rectangle 84"/>
          <p:cNvSpPr/>
          <p:nvPr/>
        </p:nvSpPr>
        <p:spPr>
          <a:xfrm>
            <a:off x="9409176" y="3154680"/>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454896" y="3191256"/>
            <a:ext cx="47548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87" name="Rectangle 86"/>
          <p:cNvSpPr/>
          <p:nvPr/>
        </p:nvSpPr>
        <p:spPr>
          <a:xfrm>
            <a:off x="9985248" y="3154680"/>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030968" y="3191256"/>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Derma</a:t>
            </a:r>
          </a:p>
        </p:txBody>
      </p:sp>
      <p:sp>
        <p:nvSpPr>
          <p:cNvPr id="89" name="Rectangle 88"/>
          <p:cNvSpPr/>
          <p:nvPr/>
        </p:nvSpPr>
        <p:spPr>
          <a:xfrm>
            <a:off x="6309360" y="3456432"/>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355080" y="3493008"/>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IPCA Acne-UV</a:t>
            </a:r>
          </a:p>
        </p:txBody>
      </p:sp>
      <p:sp>
        <p:nvSpPr>
          <p:cNvPr id="91" name="Rectangle 90"/>
          <p:cNvSpPr/>
          <p:nvPr/>
        </p:nvSpPr>
        <p:spPr>
          <a:xfrm>
            <a:off x="7891272" y="3456432"/>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936992" y="3493008"/>
            <a:ext cx="566928" cy="228600"/>
          </a:xfrm>
          <a:prstGeom prst="rect">
            <a:avLst/>
          </a:prstGeom>
          <a:noFill/>
        </p:spPr>
        <p:txBody>
          <a:bodyPr wrap="square" lIns="36576" rIns="36576" tIns="18288" bIns="18288">
            <a:spAutoFit/>
          </a:bodyPr>
          <a:lstStyle/>
          <a:p>
            <a:pPr algn="l"/>
            <a:r>
              <a:rPr sz="780" b="0" i="0">
                <a:solidFill>
                  <a:srgbClr val="0F172A"/>
                </a:solidFill>
                <a:latin typeface="Inter"/>
              </a:rPr>
              <a:t>₹580</a:t>
            </a:r>
          </a:p>
        </p:txBody>
      </p:sp>
      <p:sp>
        <p:nvSpPr>
          <p:cNvPr id="93" name="Rectangle 92"/>
          <p:cNvSpPr/>
          <p:nvPr/>
        </p:nvSpPr>
        <p:spPr>
          <a:xfrm>
            <a:off x="8558784" y="3456432"/>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604504" y="3493008"/>
            <a:ext cx="749808" cy="228600"/>
          </a:xfrm>
          <a:prstGeom prst="rect">
            <a:avLst/>
          </a:prstGeom>
          <a:noFill/>
        </p:spPr>
        <p:txBody>
          <a:bodyPr wrap="square" lIns="36576" rIns="36576" tIns="18288" bIns="18288">
            <a:spAutoFit/>
          </a:bodyPr>
          <a:lstStyle/>
          <a:p>
            <a:pPr algn="l"/>
            <a:r>
              <a:rPr sz="780" b="0" i="0">
                <a:solidFill>
                  <a:srgbClr val="0F172A"/>
                </a:solidFill>
                <a:latin typeface="Inter"/>
              </a:rPr>
              <a:t>Gel</a:t>
            </a:r>
          </a:p>
        </p:txBody>
      </p:sp>
      <p:sp>
        <p:nvSpPr>
          <p:cNvPr id="95" name="Rectangle 94"/>
          <p:cNvSpPr/>
          <p:nvPr/>
        </p:nvSpPr>
        <p:spPr>
          <a:xfrm>
            <a:off x="9409176" y="3456432"/>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454896" y="3493008"/>
            <a:ext cx="475488" cy="228600"/>
          </a:xfrm>
          <a:prstGeom prst="rect">
            <a:avLst/>
          </a:prstGeom>
          <a:noFill/>
        </p:spPr>
        <p:txBody>
          <a:bodyPr wrap="square" lIns="36576" rIns="36576" tIns="18288" bIns="18288">
            <a:spAutoFit/>
          </a:bodyPr>
          <a:lstStyle/>
          <a:p>
            <a:pPr algn="l"/>
            <a:r>
              <a:rPr sz="780" b="0" i="0">
                <a:solidFill>
                  <a:srgbClr val="0F172A"/>
                </a:solidFill>
                <a:latin typeface="Inter"/>
              </a:rPr>
              <a:t>Rx</a:t>
            </a:r>
          </a:p>
        </p:txBody>
      </p:sp>
      <p:sp>
        <p:nvSpPr>
          <p:cNvPr id="97" name="Rectangle 96"/>
          <p:cNvSpPr/>
          <p:nvPr/>
        </p:nvSpPr>
        <p:spPr>
          <a:xfrm>
            <a:off x="9985248" y="3456432"/>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030968" y="3493008"/>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Rx</a:t>
            </a:r>
          </a:p>
        </p:txBody>
      </p:sp>
      <p:sp>
        <p:nvSpPr>
          <p:cNvPr id="99" name="Rectangle 98"/>
          <p:cNvSpPr/>
          <p:nvPr/>
        </p:nvSpPr>
        <p:spPr>
          <a:xfrm>
            <a:off x="6309360" y="3758184"/>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355080" y="3794760"/>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Bioderma Max</a:t>
            </a:r>
          </a:p>
        </p:txBody>
      </p:sp>
      <p:sp>
        <p:nvSpPr>
          <p:cNvPr id="101" name="Rectangle 100"/>
          <p:cNvSpPr/>
          <p:nvPr/>
        </p:nvSpPr>
        <p:spPr>
          <a:xfrm>
            <a:off x="7891272" y="3758184"/>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936992" y="3794760"/>
            <a:ext cx="566928" cy="228600"/>
          </a:xfrm>
          <a:prstGeom prst="rect">
            <a:avLst/>
          </a:prstGeom>
          <a:noFill/>
        </p:spPr>
        <p:txBody>
          <a:bodyPr wrap="square" lIns="36576" rIns="36576" tIns="18288" bIns="18288">
            <a:spAutoFit/>
          </a:bodyPr>
          <a:lstStyle/>
          <a:p>
            <a:pPr algn="l"/>
            <a:r>
              <a:rPr sz="780" b="0" i="0">
                <a:solidFill>
                  <a:srgbClr val="0F172A"/>
                </a:solidFill>
                <a:latin typeface="Inter"/>
              </a:rPr>
              <a:t>₹1,575</a:t>
            </a:r>
          </a:p>
        </p:txBody>
      </p:sp>
      <p:sp>
        <p:nvSpPr>
          <p:cNvPr id="103" name="Rectangle 102"/>
          <p:cNvSpPr/>
          <p:nvPr/>
        </p:nvSpPr>
        <p:spPr>
          <a:xfrm>
            <a:off x="8558784" y="3758184"/>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604504" y="3794760"/>
            <a:ext cx="749808" cy="228600"/>
          </a:xfrm>
          <a:prstGeom prst="rect">
            <a:avLst/>
          </a:prstGeom>
          <a:noFill/>
        </p:spPr>
        <p:txBody>
          <a:bodyPr wrap="square" lIns="36576" rIns="36576" tIns="18288" bIns="18288">
            <a:spAutoFit/>
          </a:bodyPr>
          <a:lstStyle/>
          <a:p>
            <a:pPr algn="l"/>
            <a:r>
              <a:rPr sz="780" b="0" i="0">
                <a:solidFill>
                  <a:srgbClr val="0F172A"/>
                </a:solidFill>
                <a:latin typeface="Inter"/>
              </a:rPr>
              <a:t>Fluid</a:t>
            </a:r>
          </a:p>
        </p:txBody>
      </p:sp>
      <p:sp>
        <p:nvSpPr>
          <p:cNvPr id="105" name="Rectangle 104"/>
          <p:cNvSpPr/>
          <p:nvPr/>
        </p:nvSpPr>
        <p:spPr>
          <a:xfrm>
            <a:off x="9409176" y="3758184"/>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454896" y="3794760"/>
            <a:ext cx="47548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107" name="Rectangle 106"/>
          <p:cNvSpPr/>
          <p:nvPr/>
        </p:nvSpPr>
        <p:spPr>
          <a:xfrm>
            <a:off x="9985248" y="3758184"/>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030968" y="3794760"/>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Ultra-P</a:t>
            </a:r>
          </a:p>
        </p:txBody>
      </p:sp>
      <p:sp>
        <p:nvSpPr>
          <p:cNvPr id="109" name="Rectangle 108"/>
          <p:cNvSpPr/>
          <p:nvPr/>
        </p:nvSpPr>
        <p:spPr>
          <a:xfrm>
            <a:off x="6309360" y="4059936"/>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355080" y="4096512"/>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Cetaphil Sun</a:t>
            </a:r>
          </a:p>
        </p:txBody>
      </p:sp>
      <p:sp>
        <p:nvSpPr>
          <p:cNvPr id="111" name="Rectangle 110"/>
          <p:cNvSpPr/>
          <p:nvPr/>
        </p:nvSpPr>
        <p:spPr>
          <a:xfrm>
            <a:off x="7891272" y="4059936"/>
            <a:ext cx="6400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936992" y="4096512"/>
            <a:ext cx="566928" cy="228600"/>
          </a:xfrm>
          <a:prstGeom prst="rect">
            <a:avLst/>
          </a:prstGeom>
          <a:noFill/>
        </p:spPr>
        <p:txBody>
          <a:bodyPr wrap="square" lIns="36576" rIns="36576" tIns="18288" bIns="18288">
            <a:spAutoFit/>
          </a:bodyPr>
          <a:lstStyle/>
          <a:p>
            <a:pPr algn="l"/>
            <a:r>
              <a:rPr sz="780" b="0" i="0">
                <a:solidFill>
                  <a:srgbClr val="0F172A"/>
                </a:solidFill>
                <a:latin typeface="Inter"/>
              </a:rPr>
              <a:t>₹1,080</a:t>
            </a:r>
          </a:p>
        </p:txBody>
      </p:sp>
      <p:sp>
        <p:nvSpPr>
          <p:cNvPr id="113" name="Rectangle 112"/>
          <p:cNvSpPr/>
          <p:nvPr/>
        </p:nvSpPr>
        <p:spPr>
          <a:xfrm>
            <a:off x="8558784" y="4059936"/>
            <a:ext cx="82296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604504" y="4096512"/>
            <a:ext cx="749808" cy="228600"/>
          </a:xfrm>
          <a:prstGeom prst="rect">
            <a:avLst/>
          </a:prstGeom>
          <a:noFill/>
        </p:spPr>
        <p:txBody>
          <a:bodyPr wrap="square" lIns="36576" rIns="36576" tIns="18288" bIns="18288">
            <a:spAutoFit/>
          </a:bodyPr>
          <a:lstStyle/>
          <a:p>
            <a:pPr algn="l"/>
            <a:r>
              <a:rPr sz="780" b="0" i="0">
                <a:solidFill>
                  <a:srgbClr val="0F172A"/>
                </a:solidFill>
                <a:latin typeface="Inter"/>
              </a:rPr>
              <a:t>Light Gel</a:t>
            </a:r>
          </a:p>
        </p:txBody>
      </p:sp>
      <p:sp>
        <p:nvSpPr>
          <p:cNvPr id="115" name="Rectangle 114"/>
          <p:cNvSpPr/>
          <p:nvPr/>
        </p:nvSpPr>
        <p:spPr>
          <a:xfrm>
            <a:off x="9409176" y="4059936"/>
            <a:ext cx="54864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454896" y="4096512"/>
            <a:ext cx="47548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117" name="Rectangle 116"/>
          <p:cNvSpPr/>
          <p:nvPr/>
        </p:nvSpPr>
        <p:spPr>
          <a:xfrm>
            <a:off x="9985248" y="4059936"/>
            <a:ext cx="1554480" cy="30175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0030968" y="4096512"/>
            <a:ext cx="1481328" cy="228600"/>
          </a:xfrm>
          <a:prstGeom prst="rect">
            <a:avLst/>
          </a:prstGeom>
          <a:noFill/>
        </p:spPr>
        <p:txBody>
          <a:bodyPr wrap="square" lIns="36576" rIns="36576" tIns="18288" bIns="18288">
            <a:spAutoFit/>
          </a:bodyPr>
          <a:lstStyle/>
          <a:p>
            <a:pPr algn="l"/>
            <a:r>
              <a:rPr sz="780" b="0" i="0">
                <a:solidFill>
                  <a:srgbClr val="0F172A"/>
                </a:solidFill>
                <a:latin typeface="Inter"/>
              </a:rPr>
              <a:t>● Only SKU</a:t>
            </a:r>
          </a:p>
        </p:txBody>
      </p:sp>
      <p:sp>
        <p:nvSpPr>
          <p:cNvPr id="119" name="Rectangle 118"/>
          <p:cNvSpPr/>
          <p:nvPr/>
        </p:nvSpPr>
        <p:spPr>
          <a:xfrm>
            <a:off x="6309360" y="4361688"/>
            <a:ext cx="1554480" cy="30175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355080" y="4398264"/>
            <a:ext cx="1481328" cy="228600"/>
          </a:xfrm>
          <a:prstGeom prst="rect">
            <a:avLst/>
          </a:prstGeom>
          <a:noFill/>
        </p:spPr>
        <p:txBody>
          <a:bodyPr wrap="square" lIns="36576" rIns="36576" tIns="18288" bIns="18288">
            <a:spAutoFit/>
          </a:bodyPr>
          <a:lstStyle/>
          <a:p>
            <a:pPr algn="l"/>
            <a:r>
              <a:rPr sz="780" b="1" i="0">
                <a:solidFill>
                  <a:srgbClr val="0F172A"/>
                </a:solidFill>
                <a:latin typeface="Inter"/>
              </a:rPr>
              <a:t>★ Proposed ₹449</a:t>
            </a:r>
          </a:p>
        </p:txBody>
      </p:sp>
      <p:sp>
        <p:nvSpPr>
          <p:cNvPr id="121" name="Rectangle 120"/>
          <p:cNvSpPr/>
          <p:nvPr/>
        </p:nvSpPr>
        <p:spPr>
          <a:xfrm>
            <a:off x="7891272" y="4361688"/>
            <a:ext cx="640080" cy="30175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936992" y="4398264"/>
            <a:ext cx="566928" cy="228600"/>
          </a:xfrm>
          <a:prstGeom prst="rect">
            <a:avLst/>
          </a:prstGeom>
          <a:noFill/>
        </p:spPr>
        <p:txBody>
          <a:bodyPr wrap="square" lIns="36576" rIns="36576" tIns="18288" bIns="18288">
            <a:spAutoFit/>
          </a:bodyPr>
          <a:lstStyle/>
          <a:p>
            <a:pPr algn="l"/>
            <a:r>
              <a:rPr sz="780" b="1" i="0">
                <a:solidFill>
                  <a:srgbClr val="EA580C"/>
                </a:solidFill>
                <a:latin typeface="Inter"/>
              </a:rPr>
              <a:t>₹449</a:t>
            </a:r>
          </a:p>
        </p:txBody>
      </p:sp>
      <p:sp>
        <p:nvSpPr>
          <p:cNvPr id="123" name="Rectangle 122"/>
          <p:cNvSpPr/>
          <p:nvPr/>
        </p:nvSpPr>
        <p:spPr>
          <a:xfrm>
            <a:off x="8558784" y="4361688"/>
            <a:ext cx="822960" cy="30175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604504" y="4398264"/>
            <a:ext cx="749808" cy="228600"/>
          </a:xfrm>
          <a:prstGeom prst="rect">
            <a:avLst/>
          </a:prstGeom>
          <a:noFill/>
        </p:spPr>
        <p:txBody>
          <a:bodyPr wrap="square" lIns="36576" rIns="36576" tIns="18288" bIns="18288">
            <a:spAutoFit/>
          </a:bodyPr>
          <a:lstStyle/>
          <a:p>
            <a:pPr algn="l"/>
            <a:r>
              <a:rPr sz="780" b="1" i="0">
                <a:solidFill>
                  <a:srgbClr val="EA580C"/>
                </a:solidFill>
                <a:latin typeface="Inter"/>
              </a:rPr>
              <a:t>Gel</a:t>
            </a:r>
          </a:p>
        </p:txBody>
      </p:sp>
      <p:sp>
        <p:nvSpPr>
          <p:cNvPr id="125" name="Rectangle 124"/>
          <p:cNvSpPr/>
          <p:nvPr/>
        </p:nvSpPr>
        <p:spPr>
          <a:xfrm>
            <a:off x="9409176" y="4361688"/>
            <a:ext cx="548640" cy="30175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454896" y="4398264"/>
            <a:ext cx="475488" cy="228600"/>
          </a:xfrm>
          <a:prstGeom prst="rect">
            <a:avLst/>
          </a:prstGeom>
          <a:noFill/>
        </p:spPr>
        <p:txBody>
          <a:bodyPr wrap="square" lIns="36576" rIns="36576" tIns="18288" bIns="18288">
            <a:spAutoFit/>
          </a:bodyPr>
          <a:lstStyle/>
          <a:p>
            <a:pPr algn="l"/>
            <a:r>
              <a:rPr sz="780" b="1" i="0">
                <a:solidFill>
                  <a:srgbClr val="EA580C"/>
                </a:solidFill>
                <a:latin typeface="Inter"/>
              </a:rPr>
              <a:t>Yes</a:t>
            </a:r>
          </a:p>
        </p:txBody>
      </p:sp>
      <p:sp>
        <p:nvSpPr>
          <p:cNvPr id="127" name="Rectangle 126"/>
          <p:cNvSpPr/>
          <p:nvPr/>
        </p:nvSpPr>
        <p:spPr>
          <a:xfrm>
            <a:off x="9985248" y="4361688"/>
            <a:ext cx="1554480" cy="30175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30968" y="4398264"/>
            <a:ext cx="1481328" cy="228600"/>
          </a:xfrm>
          <a:prstGeom prst="rect">
            <a:avLst/>
          </a:prstGeom>
          <a:noFill/>
        </p:spPr>
        <p:txBody>
          <a:bodyPr wrap="square" lIns="36576" rIns="36576" tIns="18288" bIns="18288">
            <a:spAutoFit/>
          </a:bodyPr>
          <a:lstStyle/>
          <a:p>
            <a:pPr algn="l"/>
            <a:r>
              <a:rPr sz="780" b="1" i="0">
                <a:solidFill>
                  <a:srgbClr val="EA580C"/>
                </a:solidFill>
                <a:latin typeface="Inter"/>
              </a:rPr>
              <a:t>GAP FILL</a:t>
            </a:r>
          </a:p>
        </p:txBody>
      </p:sp>
      <p:sp>
        <p:nvSpPr>
          <p:cNvPr id="129" name="Rounded Rectangle 128"/>
          <p:cNvSpPr/>
          <p:nvPr/>
        </p:nvSpPr>
        <p:spPr>
          <a:xfrm>
            <a:off x="457200" y="5166360"/>
            <a:ext cx="11274552" cy="1188720"/>
          </a:xfrm>
          <a:prstGeom prst="roundRect">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85800" y="5257800"/>
            <a:ext cx="10817352" cy="1005840"/>
          </a:xfrm>
          <a:prstGeom prst="rect">
            <a:avLst/>
          </a:prstGeom>
          <a:noFill/>
        </p:spPr>
        <p:txBody>
          <a:bodyPr wrap="square" lIns="36576" rIns="36576" tIns="18288" bIns="18288">
            <a:spAutoFit/>
          </a:bodyPr>
          <a:lstStyle/>
          <a:p>
            <a:pPr algn="l"/>
            <a:r>
              <a:rPr sz="950" b="0" i="0">
                <a:solidFill>
                  <a:srgbClr val="0F172A"/>
                </a:solidFill>
                <a:latin typeface="Inter"/>
              </a:rPr>
              <a:t>Moat Analysis: While D2C brands compete aggressively on pricing (₹399–499), they lack the medical credibility and clinical backing of Galderma. Introducing a dermatologist-recommended Cetaphil Sun SKU at ₹449 disrupts the market by matching D2C pricing while offering premium medical-grade trust.</a:t>
            </a:r>
          </a:p>
        </p:txBody>
      </p:sp>
      <p:sp>
        <p:nvSpPr>
          <p:cNvPr id="131" name="Rectangle 130"/>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 Brand websites, Nykaa/Amazon listings audit N=50 [3], Nielsen India Skin Care [5] | ★ = Proposed Cetaphil Sun Entry Gel</a:t>
            </a:r>
          </a:p>
        </p:txBody>
      </p:sp>
      <p:sp>
        <p:nvSpPr>
          <p:cNvPr id="133" name="TextBox 132"/>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5 of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Solution: Value Proposition Canvas &amp; Kano Model</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6 · VALUE PROP</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548640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1554480"/>
            <a:ext cx="4937760" cy="274320"/>
          </a:xfrm>
          <a:prstGeom prst="rect">
            <a:avLst/>
          </a:prstGeom>
          <a:noFill/>
        </p:spPr>
        <p:txBody>
          <a:bodyPr wrap="square" lIns="36576" rIns="36576" tIns="18288" bIns="18288">
            <a:spAutoFit/>
          </a:bodyPr>
          <a:lstStyle/>
          <a:p>
            <a:pPr algn="l"/>
            <a:r>
              <a:rPr sz="1100" b="1" i="0">
                <a:solidFill>
                  <a:srgbClr val="0284C7"/>
                </a:solidFill>
                <a:latin typeface="Outfit"/>
              </a:rPr>
              <a:t>VALUE PROPOSITION CANVAS</a:t>
            </a:r>
          </a:p>
        </p:txBody>
      </p:sp>
      <p:sp>
        <p:nvSpPr>
          <p:cNvPr id="23" name="Rounded Rectangle 22"/>
          <p:cNvSpPr/>
          <p:nvPr/>
        </p:nvSpPr>
        <p:spPr>
          <a:xfrm>
            <a:off x="731520" y="1920240"/>
            <a:ext cx="2377440" cy="2834640"/>
          </a:xfrm>
          <a:prstGeom prst="roundRect">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011680"/>
            <a:ext cx="2194560" cy="182880"/>
          </a:xfrm>
          <a:prstGeom prst="rect">
            <a:avLst/>
          </a:prstGeom>
          <a:noFill/>
        </p:spPr>
        <p:txBody>
          <a:bodyPr wrap="square" lIns="36576" rIns="36576" tIns="18288" bIns="18288">
            <a:spAutoFit/>
          </a:bodyPr>
          <a:lstStyle/>
          <a:p>
            <a:pPr algn="l"/>
            <a:r>
              <a:rPr sz="850" b="1" i="0">
                <a:solidFill>
                  <a:srgbClr val="0284C7"/>
                </a:solidFill>
                <a:latin typeface="Outfit"/>
              </a:rPr>
              <a:t>THE VALUE MAP (PRODUCT)</a:t>
            </a:r>
          </a:p>
        </p:txBody>
      </p:sp>
      <p:sp>
        <p:nvSpPr>
          <p:cNvPr id="25" name="TextBox 24"/>
          <p:cNvSpPr txBox="1"/>
          <p:nvPr/>
        </p:nvSpPr>
        <p:spPr>
          <a:xfrm>
            <a:off x="822960" y="2240280"/>
            <a:ext cx="2194560" cy="2377440"/>
          </a:xfrm>
          <a:prstGeom prst="rect">
            <a:avLst/>
          </a:prstGeom>
          <a:noFill/>
        </p:spPr>
        <p:txBody>
          <a:bodyPr wrap="square" lIns="36576" rIns="36576" tIns="18288" bIns="18288">
            <a:spAutoFit/>
          </a:bodyPr>
          <a:lstStyle/>
          <a:p>
            <a:pPr algn="l"/>
            <a:r>
              <a:rPr sz="819" b="0" i="0">
                <a:solidFill>
                  <a:srgbClr val="0F172A"/>
                </a:solidFill>
                <a:latin typeface="Inter"/>
              </a:rPr>
              <a:t>✔ Products &amp; Services:
5-SKU price ladder under Cetaphil &amp; Biluma (MRP ₹449-999).
✔ Pain Relievers:
Lightweight gel, serum &amp; mist textures; non-comedogenic (no acne breakout), clear formula (no white cast).
✔ Gain Creators:
Clinically tested active ingredients (Niacinamide, Peptides); dermatological recommendation.</a:t>
            </a:r>
          </a:p>
        </p:txBody>
      </p:sp>
      <p:sp>
        <p:nvSpPr>
          <p:cNvPr id="26" name="Rounded Rectangle 25"/>
          <p:cNvSpPr/>
          <p:nvPr/>
        </p:nvSpPr>
        <p:spPr>
          <a:xfrm>
            <a:off x="3291840" y="1920240"/>
            <a:ext cx="2377440" cy="2834640"/>
          </a:xfrm>
          <a:prstGeom prst="roundRect">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2011680"/>
            <a:ext cx="2194560" cy="182880"/>
          </a:xfrm>
          <a:prstGeom prst="rect">
            <a:avLst/>
          </a:prstGeom>
          <a:noFill/>
        </p:spPr>
        <p:txBody>
          <a:bodyPr wrap="square" lIns="36576" rIns="36576" tIns="18288" bIns="18288">
            <a:spAutoFit/>
          </a:bodyPr>
          <a:lstStyle/>
          <a:p>
            <a:pPr algn="l"/>
            <a:r>
              <a:rPr sz="850" b="1" i="0">
                <a:solidFill>
                  <a:srgbClr val="EA580C"/>
                </a:solidFill>
                <a:latin typeface="Outfit"/>
              </a:rPr>
              <a:t>THE CUSTOMER PROFILE</a:t>
            </a:r>
          </a:p>
        </p:txBody>
      </p:sp>
      <p:sp>
        <p:nvSpPr>
          <p:cNvPr id="28" name="TextBox 27"/>
          <p:cNvSpPr txBox="1"/>
          <p:nvPr/>
        </p:nvSpPr>
        <p:spPr>
          <a:xfrm>
            <a:off x="3383280" y="2240280"/>
            <a:ext cx="2194560" cy="2377440"/>
          </a:xfrm>
          <a:prstGeom prst="rect">
            <a:avLst/>
          </a:prstGeom>
          <a:noFill/>
        </p:spPr>
        <p:txBody>
          <a:bodyPr wrap="square" lIns="36576" rIns="36576" tIns="18288" bIns="18288">
            <a:spAutoFit/>
          </a:bodyPr>
          <a:lstStyle/>
          <a:p>
            <a:pPr algn="l"/>
            <a:r>
              <a:rPr sz="819" b="0" i="0">
                <a:solidFill>
                  <a:srgbClr val="0F172A"/>
                </a:solidFill>
                <a:latin typeface="Inter"/>
              </a:rPr>
              <a:t>✔ Customer Jobs:
Protect skin from daily UV rays; apply sunscreen cleanly under makeup; reapply on-the-go.
✔ Customer Pains:
Heavy, greasy, sticky feel; white chalky residues; high recurring expense (₹1080/month).
✔ Customer Gains:
Skin safety; anti-aging &amp; pigmentation correction; cosmetics-grade elegance; dermatologist trust.</a:t>
            </a:r>
          </a:p>
        </p:txBody>
      </p:sp>
      <p:sp>
        <p:nvSpPr>
          <p:cNvPr id="29" name="Rounded Rectangle 28"/>
          <p:cNvSpPr/>
          <p:nvPr/>
        </p:nvSpPr>
        <p:spPr>
          <a:xfrm>
            <a:off x="6217920" y="1371600"/>
            <a:ext cx="548640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1554480"/>
            <a:ext cx="4937760" cy="274320"/>
          </a:xfrm>
          <a:prstGeom prst="rect">
            <a:avLst/>
          </a:prstGeom>
          <a:noFill/>
        </p:spPr>
        <p:txBody>
          <a:bodyPr wrap="square" lIns="36576" rIns="36576" tIns="18288" bIns="18288">
            <a:spAutoFit/>
          </a:bodyPr>
          <a:lstStyle/>
          <a:p>
            <a:pPr algn="l"/>
            <a:r>
              <a:rPr sz="1100" b="1" i="0">
                <a:solidFill>
                  <a:srgbClr val="EA580C"/>
                </a:solidFill>
                <a:latin typeface="Outfit"/>
              </a:rPr>
              <a:t>KANO MODEL OF CUSTOMER SATISFACTION</a:t>
            </a:r>
          </a:p>
        </p:txBody>
      </p:sp>
      <p:sp>
        <p:nvSpPr>
          <p:cNvPr id="31" name="Rounded Rectangle 30"/>
          <p:cNvSpPr/>
          <p:nvPr/>
        </p:nvSpPr>
        <p:spPr>
          <a:xfrm>
            <a:off x="6492240" y="1920240"/>
            <a:ext cx="4937760" cy="868680"/>
          </a:xfrm>
          <a:prstGeom prst="roundRect">
            <a:avLst/>
          </a:prstGeom>
          <a:solidFill>
            <a:srgbClr val="FEF2F2"/>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92240" y="1920240"/>
            <a:ext cx="4937760" cy="3657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1993392"/>
            <a:ext cx="4754880" cy="182880"/>
          </a:xfrm>
          <a:prstGeom prst="rect">
            <a:avLst/>
          </a:prstGeom>
          <a:noFill/>
        </p:spPr>
        <p:txBody>
          <a:bodyPr wrap="square" lIns="36576" rIns="36576" tIns="18288" bIns="18288">
            <a:spAutoFit/>
          </a:bodyPr>
          <a:lstStyle/>
          <a:p>
            <a:pPr algn="l"/>
            <a:r>
              <a:rPr sz="800" b="1" i="0">
                <a:solidFill>
                  <a:srgbClr val="DC2626"/>
                </a:solidFill>
                <a:latin typeface="Outfit"/>
              </a:rPr>
              <a:t>BASIC EXPECTATIONS (Must-Haves)</a:t>
            </a:r>
          </a:p>
        </p:txBody>
      </p:sp>
      <p:sp>
        <p:nvSpPr>
          <p:cNvPr id="34" name="TextBox 33"/>
          <p:cNvSpPr txBox="1"/>
          <p:nvPr/>
        </p:nvSpPr>
        <p:spPr>
          <a:xfrm>
            <a:off x="6583680" y="2176272"/>
            <a:ext cx="4754880" cy="548640"/>
          </a:xfrm>
          <a:prstGeom prst="rect">
            <a:avLst/>
          </a:prstGeom>
          <a:noFill/>
        </p:spPr>
        <p:txBody>
          <a:bodyPr wrap="square" lIns="36576" rIns="36576" tIns="18288" bIns="18288">
            <a:spAutoFit/>
          </a:bodyPr>
          <a:lstStyle/>
          <a:p>
            <a:pPr algn="l"/>
            <a:r>
              <a:rPr sz="780" b="0" i="0">
                <a:solidFill>
                  <a:srgbClr val="0F172A"/>
                </a:solidFill>
                <a:latin typeface="Inter"/>
              </a:rPr>
              <a:t>• True SPF 50+ &amp; PA++++ protection
• Dermatological safety testing &amp; no-allergy certification
• Clear ingredients labeling &amp; non-comedogenic base</a:t>
            </a:r>
          </a:p>
        </p:txBody>
      </p:sp>
      <p:sp>
        <p:nvSpPr>
          <p:cNvPr id="35" name="Rounded Rectangle 34"/>
          <p:cNvSpPr/>
          <p:nvPr/>
        </p:nvSpPr>
        <p:spPr>
          <a:xfrm>
            <a:off x="6492240" y="2880360"/>
            <a:ext cx="4937760" cy="868680"/>
          </a:xfrm>
          <a:prstGeom prst="roundRect">
            <a:avLst/>
          </a:prstGeom>
          <a:solidFill>
            <a:srgbClr val="F0F9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92240" y="2880360"/>
            <a:ext cx="4937760"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2953512"/>
            <a:ext cx="4754880" cy="182880"/>
          </a:xfrm>
          <a:prstGeom prst="rect">
            <a:avLst/>
          </a:prstGeom>
          <a:noFill/>
        </p:spPr>
        <p:txBody>
          <a:bodyPr wrap="square" lIns="36576" rIns="36576" tIns="18288" bIns="18288">
            <a:spAutoFit/>
          </a:bodyPr>
          <a:lstStyle/>
          <a:p>
            <a:pPr algn="l"/>
            <a:r>
              <a:rPr sz="800" b="1" i="0">
                <a:solidFill>
                  <a:srgbClr val="0284C7"/>
                </a:solidFill>
                <a:latin typeface="Outfit"/>
              </a:rPr>
              <a:t>PERFORMANCE ATTRIBUTES (Linear)</a:t>
            </a:r>
          </a:p>
        </p:txBody>
      </p:sp>
      <p:sp>
        <p:nvSpPr>
          <p:cNvPr id="38" name="TextBox 37"/>
          <p:cNvSpPr txBox="1"/>
          <p:nvPr/>
        </p:nvSpPr>
        <p:spPr>
          <a:xfrm>
            <a:off x="6583680" y="3136392"/>
            <a:ext cx="4754880" cy="548640"/>
          </a:xfrm>
          <a:prstGeom prst="rect">
            <a:avLst/>
          </a:prstGeom>
          <a:noFill/>
        </p:spPr>
        <p:txBody>
          <a:bodyPr wrap="square" lIns="36576" rIns="36576" tIns="18288" bIns="18288">
            <a:spAutoFit/>
          </a:bodyPr>
          <a:lstStyle/>
          <a:p>
            <a:pPr algn="l"/>
            <a:r>
              <a:rPr sz="780" b="0" i="0">
                <a:solidFill>
                  <a:srgbClr val="0F172A"/>
                </a:solidFill>
                <a:latin typeface="Inter"/>
              </a:rPr>
              <a:t>• Pricing in the sweet spot (MRP ₹449–599)
• Tube size / volume economy (50ml &amp; 100ml choices)
• Ease of skin spread &amp; quick absorption rate</a:t>
            </a:r>
          </a:p>
        </p:txBody>
      </p:sp>
      <p:sp>
        <p:nvSpPr>
          <p:cNvPr id="39" name="Rounded Rectangle 38"/>
          <p:cNvSpPr/>
          <p:nvPr/>
        </p:nvSpPr>
        <p:spPr>
          <a:xfrm>
            <a:off x="6492240" y="3840480"/>
            <a:ext cx="4937760" cy="868680"/>
          </a:xfrm>
          <a:prstGeom prst="roundRect">
            <a:avLst/>
          </a:prstGeom>
          <a:solidFill>
            <a:srgbClr val="ECFD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92240" y="3840480"/>
            <a:ext cx="4937760" cy="36576"/>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913632"/>
            <a:ext cx="4754880" cy="182880"/>
          </a:xfrm>
          <a:prstGeom prst="rect">
            <a:avLst/>
          </a:prstGeom>
          <a:noFill/>
        </p:spPr>
        <p:txBody>
          <a:bodyPr wrap="square" lIns="36576" rIns="36576" tIns="18288" bIns="18288">
            <a:spAutoFit/>
          </a:bodyPr>
          <a:lstStyle/>
          <a:p>
            <a:pPr algn="l"/>
            <a:r>
              <a:rPr sz="800" b="1" i="0">
                <a:solidFill>
                  <a:srgbClr val="059669"/>
                </a:solidFill>
                <a:latin typeface="Outfit"/>
              </a:rPr>
              <a:t>EXCITERS &amp; DELIGHTERS (Innovations)</a:t>
            </a:r>
          </a:p>
        </p:txBody>
      </p:sp>
      <p:sp>
        <p:nvSpPr>
          <p:cNvPr id="42" name="TextBox 41"/>
          <p:cNvSpPr txBox="1"/>
          <p:nvPr/>
        </p:nvSpPr>
        <p:spPr>
          <a:xfrm>
            <a:off x="6583680" y="4096512"/>
            <a:ext cx="4754880" cy="548640"/>
          </a:xfrm>
          <a:prstGeom prst="rect">
            <a:avLst/>
          </a:prstGeom>
          <a:noFill/>
        </p:spPr>
        <p:txBody>
          <a:bodyPr wrap="square" lIns="36576" rIns="36576" tIns="18288" bIns="18288">
            <a:spAutoFit/>
          </a:bodyPr>
          <a:lstStyle/>
          <a:p>
            <a:pPr algn="l"/>
            <a:r>
              <a:rPr sz="780" b="0" i="0">
                <a:solidFill>
                  <a:srgbClr val="0F172A"/>
                </a:solidFill>
                <a:latin typeface="Inter"/>
              </a:rPr>
              <a:t>• Format variety (Serum, Touch-up Spray Mist, Tinted base)
• SunMatch AI quiz matching correct SPF to Indian skin tones
• Multi-benefit formulations (Hyaluronic acid &amp; Niacinamide)</a:t>
            </a:r>
          </a:p>
        </p:txBody>
      </p:sp>
      <p:sp>
        <p:nvSpPr>
          <p:cNvPr id="43" name="Rounded Rectangle 42"/>
          <p:cNvSpPr/>
          <p:nvPr/>
        </p:nvSpPr>
        <p:spPr>
          <a:xfrm>
            <a:off x="457200" y="5166360"/>
            <a:ext cx="11274552" cy="1188720"/>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257800"/>
            <a:ext cx="10817352" cy="1005840"/>
          </a:xfrm>
          <a:prstGeom prst="rect">
            <a:avLst/>
          </a:prstGeom>
          <a:noFill/>
        </p:spPr>
        <p:txBody>
          <a:bodyPr wrap="square" lIns="36576" rIns="36576" tIns="18288" bIns="18288">
            <a:spAutoFit/>
          </a:bodyPr>
          <a:lstStyle/>
          <a:p>
            <a:pPr algn="l"/>
            <a:r>
              <a:rPr sz="950" b="0" i="0">
                <a:solidFill>
                  <a:srgbClr val="0F172A"/>
                </a:solidFill>
                <a:latin typeface="Inter"/>
              </a:rPr>
              <a:t>Value proposition alignment: By mapping customer pain points (stickiness, white cast, price) directly to product attributes (light gel/serum, no white cast, ₹449 entry price), we ensure a strong market fit. Kano analysis guides our roadmap — starting with basic gels in Year 1, expanding to exciter mists &amp; tints in Year 2–3.</a:t>
            </a:r>
          </a:p>
        </p:txBody>
      </p:sp>
      <p:sp>
        <p:nvSpPr>
          <p:cNvPr id="45" name="Rectangle 44"/>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Framework: Value Proposition Canvas (Osterwalder) &amp; Kano Model Analysis</a:t>
            </a:r>
          </a:p>
        </p:txBody>
      </p:sp>
      <p:sp>
        <p:nvSpPr>
          <p:cNvPr id="47" name="TextBox 46"/>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6 of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Solution: Proposed Portfolio Architecture &amp; Price Ladder</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7 · PORTFOLIO</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2103120" cy="3566160"/>
          </a:xfrm>
          <a:prstGeom prst="roundRect">
            <a:avLst/>
          </a:prstGeom>
          <a:solidFill>
            <a:srgbClr val="F0F9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210312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1536192"/>
            <a:ext cx="1773936" cy="320040"/>
          </a:xfrm>
          <a:prstGeom prst="rect">
            <a:avLst/>
          </a:prstGeom>
          <a:noFill/>
        </p:spPr>
        <p:txBody>
          <a:bodyPr wrap="square" lIns="36576" rIns="36576" tIns="18288" bIns="18288">
            <a:spAutoFit/>
          </a:bodyPr>
          <a:lstStyle/>
          <a:p>
            <a:pPr algn="l"/>
            <a:r>
              <a:rPr sz="1100" b="1" i="0">
                <a:solidFill>
                  <a:srgbClr val="0284C7"/>
                </a:solidFill>
                <a:latin typeface="Outfit"/>
              </a:rPr>
              <a:t>ENTRY LEVEL</a:t>
            </a:r>
          </a:p>
        </p:txBody>
      </p:sp>
      <p:sp>
        <p:nvSpPr>
          <p:cNvPr id="24" name="TextBox 23"/>
          <p:cNvSpPr txBox="1"/>
          <p:nvPr/>
        </p:nvSpPr>
        <p:spPr>
          <a:xfrm>
            <a:off x="621792" y="1920240"/>
            <a:ext cx="1773936" cy="2834640"/>
          </a:xfrm>
          <a:prstGeom prst="rect">
            <a:avLst/>
          </a:prstGeom>
          <a:noFill/>
        </p:spPr>
        <p:txBody>
          <a:bodyPr wrap="square" lIns="0" rIns="0" tIns="0" bIns="0">
            <a:spAutoFit/>
          </a:bodyPr>
          <a:lstStyle/>
          <a:p>
            <a:pPr>
              <a:spcAft>
                <a:spcPts val="400"/>
              </a:spcAft>
              <a:defRPr sz="950">
                <a:solidFill>
                  <a:srgbClr val="0F172A"/>
                </a:solidFill>
                <a:latin typeface="Inter"/>
              </a:defRPr>
            </a:pPr>
            <a:r>
              <a:t>• Base volume generator</a:t>
            </a:r>
            <a:br/>
            <a:r>
              <a:t>• Light gel, dry-touch</a:t>
            </a:r>
            <a:br/>
            <a:r>
              <a:t>• 58% below flagship price</a:t>
            </a:r>
          </a:p>
        </p:txBody>
      </p:sp>
      <p:sp>
        <p:nvSpPr>
          <p:cNvPr id="25" name="Rounded Rectangle 24"/>
          <p:cNvSpPr/>
          <p:nvPr/>
        </p:nvSpPr>
        <p:spPr>
          <a:xfrm>
            <a:off x="621792" y="1920240"/>
            <a:ext cx="1773936" cy="658368"/>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1965960"/>
            <a:ext cx="1773936" cy="274320"/>
          </a:xfrm>
          <a:prstGeom prst="rect">
            <a:avLst/>
          </a:prstGeom>
          <a:noFill/>
        </p:spPr>
        <p:txBody>
          <a:bodyPr wrap="square" lIns="36576" rIns="36576" tIns="18288" bIns="18288">
            <a:spAutoFit/>
          </a:bodyPr>
          <a:lstStyle/>
          <a:p>
            <a:pPr algn="ctr"/>
            <a:r>
              <a:rPr sz="800" b="1" i="0">
                <a:solidFill>
                  <a:srgbClr val="FFFFFF"/>
                </a:solidFill>
                <a:latin typeface="Outfit"/>
              </a:rPr>
              <a:t>Cetaphil Sun
Daily Defense Gel</a:t>
            </a:r>
          </a:p>
        </p:txBody>
      </p:sp>
      <p:sp>
        <p:nvSpPr>
          <p:cNvPr id="27" name="TextBox 26"/>
          <p:cNvSpPr txBox="1"/>
          <p:nvPr/>
        </p:nvSpPr>
        <p:spPr>
          <a:xfrm>
            <a:off x="621792" y="2212848"/>
            <a:ext cx="1773936" cy="320040"/>
          </a:xfrm>
          <a:prstGeom prst="rect">
            <a:avLst/>
          </a:prstGeom>
          <a:noFill/>
        </p:spPr>
        <p:txBody>
          <a:bodyPr wrap="square" lIns="36576" rIns="36576" tIns="18288" bIns="18288">
            <a:spAutoFit/>
          </a:bodyPr>
          <a:lstStyle/>
          <a:p>
            <a:pPr algn="ctr"/>
            <a:r>
              <a:rPr sz="1100" b="1" i="0">
                <a:solidFill>
                  <a:srgbClr val="FFFFFF"/>
                </a:solidFill>
                <a:latin typeface="Outfit"/>
              </a:rPr>
              <a:t>₹449 (50ml)</a:t>
            </a:r>
          </a:p>
        </p:txBody>
      </p:sp>
      <p:sp>
        <p:nvSpPr>
          <p:cNvPr id="28" name="Rounded Rectangle 27"/>
          <p:cNvSpPr/>
          <p:nvPr/>
        </p:nvSpPr>
        <p:spPr>
          <a:xfrm>
            <a:off x="2724912" y="1371600"/>
            <a:ext cx="2103120" cy="3566160"/>
          </a:xfrm>
          <a:prstGeom prst="roundRect">
            <a:avLst/>
          </a:prstGeom>
          <a:solidFill>
            <a:srgbClr val="ECFD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24912" y="1371600"/>
            <a:ext cx="2103120"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9504" y="1536192"/>
            <a:ext cx="1773936" cy="320040"/>
          </a:xfrm>
          <a:prstGeom prst="rect">
            <a:avLst/>
          </a:prstGeom>
          <a:noFill/>
        </p:spPr>
        <p:txBody>
          <a:bodyPr wrap="square" lIns="36576" rIns="36576" tIns="18288" bIns="18288">
            <a:spAutoFit/>
          </a:bodyPr>
          <a:lstStyle/>
          <a:p>
            <a:pPr algn="l"/>
            <a:r>
              <a:rPr sz="1100" b="1" i="0">
                <a:solidFill>
                  <a:srgbClr val="059669"/>
                </a:solidFill>
                <a:latin typeface="Outfit"/>
              </a:rPr>
              <a:t>PIGMENT SHIELD</a:t>
            </a:r>
          </a:p>
        </p:txBody>
      </p:sp>
      <p:sp>
        <p:nvSpPr>
          <p:cNvPr id="31" name="TextBox 30"/>
          <p:cNvSpPr txBox="1"/>
          <p:nvPr/>
        </p:nvSpPr>
        <p:spPr>
          <a:xfrm>
            <a:off x="2889504" y="1920240"/>
            <a:ext cx="1773936" cy="2834640"/>
          </a:xfrm>
          <a:prstGeom prst="rect">
            <a:avLst/>
          </a:prstGeom>
          <a:noFill/>
        </p:spPr>
        <p:txBody>
          <a:bodyPr wrap="square" lIns="0" rIns="0" tIns="0" bIns="0">
            <a:spAutoFit/>
          </a:bodyPr>
          <a:lstStyle/>
          <a:p>
            <a:pPr>
              <a:spcAft>
                <a:spcPts val="400"/>
              </a:spcAft>
              <a:defRPr sz="950">
                <a:solidFill>
                  <a:srgbClr val="0F172A"/>
                </a:solidFill>
                <a:latin typeface="Inter"/>
              </a:defRPr>
            </a:pPr>
            <a:r>
              <a:t>• Hyperpigmentation care</a:t>
            </a:r>
            <a:br/>
            <a:r>
              <a:t>• Kojic acid + Niacinamide</a:t>
            </a:r>
            <a:br/>
            <a:r>
              <a:t>• Derm prescribed focus</a:t>
            </a:r>
          </a:p>
        </p:txBody>
      </p:sp>
      <p:sp>
        <p:nvSpPr>
          <p:cNvPr id="32" name="Rounded Rectangle 31"/>
          <p:cNvSpPr/>
          <p:nvPr/>
        </p:nvSpPr>
        <p:spPr>
          <a:xfrm>
            <a:off x="2889504" y="1920240"/>
            <a:ext cx="1773936" cy="65836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9504" y="1965960"/>
            <a:ext cx="1773936" cy="274320"/>
          </a:xfrm>
          <a:prstGeom prst="rect">
            <a:avLst/>
          </a:prstGeom>
          <a:noFill/>
        </p:spPr>
        <p:txBody>
          <a:bodyPr wrap="square" lIns="36576" rIns="36576" tIns="18288" bIns="18288">
            <a:spAutoFit/>
          </a:bodyPr>
          <a:lstStyle/>
          <a:p>
            <a:pPr algn="ctr"/>
            <a:r>
              <a:rPr sz="800" b="1" i="0">
                <a:solidFill>
                  <a:srgbClr val="FFFFFF"/>
                </a:solidFill>
                <a:latin typeface="Outfit"/>
              </a:rPr>
              <a:t>Biluma UV
Shield Cream</a:t>
            </a:r>
          </a:p>
        </p:txBody>
      </p:sp>
      <p:sp>
        <p:nvSpPr>
          <p:cNvPr id="34" name="TextBox 33"/>
          <p:cNvSpPr txBox="1"/>
          <p:nvPr/>
        </p:nvSpPr>
        <p:spPr>
          <a:xfrm>
            <a:off x="2889504" y="2212848"/>
            <a:ext cx="1773936" cy="320040"/>
          </a:xfrm>
          <a:prstGeom prst="rect">
            <a:avLst/>
          </a:prstGeom>
          <a:noFill/>
        </p:spPr>
        <p:txBody>
          <a:bodyPr wrap="square" lIns="36576" rIns="36576" tIns="18288" bIns="18288">
            <a:spAutoFit/>
          </a:bodyPr>
          <a:lstStyle/>
          <a:p>
            <a:pPr algn="ctr"/>
            <a:r>
              <a:rPr sz="1100" b="1" i="0">
                <a:solidFill>
                  <a:srgbClr val="FFFFFF"/>
                </a:solidFill>
                <a:latin typeface="Outfit"/>
              </a:rPr>
              <a:t>₹549 (50ml)</a:t>
            </a:r>
          </a:p>
        </p:txBody>
      </p:sp>
      <p:sp>
        <p:nvSpPr>
          <p:cNvPr id="35" name="Rounded Rectangle 34"/>
          <p:cNvSpPr/>
          <p:nvPr/>
        </p:nvSpPr>
        <p:spPr>
          <a:xfrm>
            <a:off x="4992624" y="1371600"/>
            <a:ext cx="2103120" cy="3566160"/>
          </a:xfrm>
          <a:prstGeom prst="roundRect">
            <a:avLst/>
          </a:prstGeom>
          <a:solidFill>
            <a:srgbClr val="F5F3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992624" y="1371600"/>
            <a:ext cx="210312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57216" y="1536192"/>
            <a:ext cx="1773936" cy="320040"/>
          </a:xfrm>
          <a:prstGeom prst="rect">
            <a:avLst/>
          </a:prstGeom>
          <a:noFill/>
        </p:spPr>
        <p:txBody>
          <a:bodyPr wrap="square" lIns="36576" rIns="36576" tIns="18288" bIns="18288">
            <a:spAutoFit/>
          </a:bodyPr>
          <a:lstStyle/>
          <a:p>
            <a:pPr algn="l"/>
            <a:r>
              <a:rPr sz="1100" b="1" i="0">
                <a:solidFill>
                  <a:srgbClr val="7C3AED"/>
                </a:solidFill>
                <a:latin typeface="Outfit"/>
              </a:rPr>
              <a:t>ON-THE-GO MIST</a:t>
            </a:r>
          </a:p>
        </p:txBody>
      </p:sp>
      <p:sp>
        <p:nvSpPr>
          <p:cNvPr id="38" name="TextBox 37"/>
          <p:cNvSpPr txBox="1"/>
          <p:nvPr/>
        </p:nvSpPr>
        <p:spPr>
          <a:xfrm>
            <a:off x="5157216" y="1920240"/>
            <a:ext cx="1773936" cy="2834640"/>
          </a:xfrm>
          <a:prstGeom prst="rect">
            <a:avLst/>
          </a:prstGeom>
          <a:noFill/>
        </p:spPr>
        <p:txBody>
          <a:bodyPr wrap="square" lIns="0" rIns="0" tIns="0" bIns="0">
            <a:spAutoFit/>
          </a:bodyPr>
          <a:lstStyle/>
          <a:p>
            <a:pPr>
              <a:spcAft>
                <a:spcPts val="400"/>
              </a:spcAft>
              <a:defRPr sz="950">
                <a:solidFill>
                  <a:srgbClr val="0F172A"/>
                </a:solidFill>
                <a:latin typeface="Inter"/>
              </a:defRPr>
            </a:pPr>
            <a:r>
              <a:t>• Spray over makeup</a:t>
            </a:r>
            <a:br/>
            <a:r>
              <a:t>• Fast absorbing</a:t>
            </a:r>
            <a:br/>
            <a:r>
              <a:t>• Reapplication focus</a:t>
            </a:r>
          </a:p>
        </p:txBody>
      </p:sp>
      <p:sp>
        <p:nvSpPr>
          <p:cNvPr id="39" name="Rounded Rectangle 38"/>
          <p:cNvSpPr/>
          <p:nvPr/>
        </p:nvSpPr>
        <p:spPr>
          <a:xfrm>
            <a:off x="5157216" y="1920240"/>
            <a:ext cx="1773936"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57216" y="1965960"/>
            <a:ext cx="1773936" cy="274320"/>
          </a:xfrm>
          <a:prstGeom prst="rect">
            <a:avLst/>
          </a:prstGeom>
          <a:noFill/>
        </p:spPr>
        <p:txBody>
          <a:bodyPr wrap="square" lIns="36576" rIns="36576" tIns="18288" bIns="18288">
            <a:spAutoFit/>
          </a:bodyPr>
          <a:lstStyle/>
          <a:p>
            <a:pPr algn="ctr"/>
            <a:r>
              <a:rPr sz="800" b="1" i="0">
                <a:solidFill>
                  <a:srgbClr val="FFFFFF"/>
                </a:solidFill>
                <a:latin typeface="Outfit"/>
              </a:rPr>
              <a:t>Cetaphil Sun
Touch-Up Mist</a:t>
            </a:r>
          </a:p>
        </p:txBody>
      </p:sp>
      <p:sp>
        <p:nvSpPr>
          <p:cNvPr id="41" name="TextBox 40"/>
          <p:cNvSpPr txBox="1"/>
          <p:nvPr/>
        </p:nvSpPr>
        <p:spPr>
          <a:xfrm>
            <a:off x="5157216" y="2212848"/>
            <a:ext cx="1773936" cy="320040"/>
          </a:xfrm>
          <a:prstGeom prst="rect">
            <a:avLst/>
          </a:prstGeom>
          <a:noFill/>
        </p:spPr>
        <p:txBody>
          <a:bodyPr wrap="square" lIns="36576" rIns="36576" tIns="18288" bIns="18288">
            <a:spAutoFit/>
          </a:bodyPr>
          <a:lstStyle/>
          <a:p>
            <a:pPr algn="ctr"/>
            <a:r>
              <a:rPr sz="1100" b="1" i="0">
                <a:solidFill>
                  <a:srgbClr val="FFFFFF"/>
                </a:solidFill>
                <a:latin typeface="Outfit"/>
              </a:rPr>
              <a:t>₹599 (75ml)</a:t>
            </a:r>
          </a:p>
        </p:txBody>
      </p:sp>
      <p:sp>
        <p:nvSpPr>
          <p:cNvPr id="42" name="Rounded Rectangle 41"/>
          <p:cNvSpPr/>
          <p:nvPr/>
        </p:nvSpPr>
        <p:spPr>
          <a:xfrm>
            <a:off x="7260336" y="1371600"/>
            <a:ext cx="2103120" cy="3566160"/>
          </a:xfrm>
          <a:prstGeom prst="roundRect">
            <a:avLst/>
          </a:prstGeom>
          <a:solidFill>
            <a:srgbClr val="FDF2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260336" y="1371600"/>
            <a:ext cx="2103120" cy="73152"/>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24928" y="1536192"/>
            <a:ext cx="1773936" cy="320040"/>
          </a:xfrm>
          <a:prstGeom prst="rect">
            <a:avLst/>
          </a:prstGeom>
          <a:noFill/>
        </p:spPr>
        <p:txBody>
          <a:bodyPr wrap="square" lIns="36576" rIns="36576" tIns="18288" bIns="18288">
            <a:spAutoFit/>
          </a:bodyPr>
          <a:lstStyle/>
          <a:p>
            <a:pPr algn="l"/>
            <a:r>
              <a:rPr sz="1100" b="1" i="0">
                <a:solidFill>
                  <a:srgbClr val="DB2777"/>
                </a:solidFill>
                <a:latin typeface="Outfit"/>
              </a:rPr>
              <a:t>TINTED GLOW</a:t>
            </a:r>
          </a:p>
        </p:txBody>
      </p:sp>
      <p:sp>
        <p:nvSpPr>
          <p:cNvPr id="45" name="TextBox 44"/>
          <p:cNvSpPr txBox="1"/>
          <p:nvPr/>
        </p:nvSpPr>
        <p:spPr>
          <a:xfrm>
            <a:off x="7424928" y="1920240"/>
            <a:ext cx="1773936" cy="2834640"/>
          </a:xfrm>
          <a:prstGeom prst="rect">
            <a:avLst/>
          </a:prstGeom>
          <a:noFill/>
        </p:spPr>
        <p:txBody>
          <a:bodyPr wrap="square" lIns="0" rIns="0" tIns="0" bIns="0">
            <a:spAutoFit/>
          </a:bodyPr>
          <a:lstStyle/>
          <a:p>
            <a:pPr>
              <a:spcAft>
                <a:spcPts val="400"/>
              </a:spcAft>
              <a:defRPr sz="950">
                <a:solidFill>
                  <a:srgbClr val="0F172A"/>
                </a:solidFill>
                <a:latin typeface="Inter"/>
              </a:defRPr>
            </a:pPr>
            <a:r>
              <a:t>• Make-up base alternate</a:t>
            </a:r>
            <a:br/>
            <a:r>
              <a:t>• 5 skin-tone shades</a:t>
            </a:r>
            <a:br/>
            <a:r>
              <a:t>• Physical zinc barrier</a:t>
            </a:r>
          </a:p>
        </p:txBody>
      </p:sp>
      <p:sp>
        <p:nvSpPr>
          <p:cNvPr id="46" name="Rounded Rectangle 45"/>
          <p:cNvSpPr/>
          <p:nvPr/>
        </p:nvSpPr>
        <p:spPr>
          <a:xfrm>
            <a:off x="7424928" y="1920240"/>
            <a:ext cx="1773936" cy="658368"/>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24928" y="1965960"/>
            <a:ext cx="1773936" cy="274320"/>
          </a:xfrm>
          <a:prstGeom prst="rect">
            <a:avLst/>
          </a:prstGeom>
          <a:noFill/>
        </p:spPr>
        <p:txBody>
          <a:bodyPr wrap="square" lIns="36576" rIns="36576" tIns="18288" bIns="18288">
            <a:spAutoFit/>
          </a:bodyPr>
          <a:lstStyle/>
          <a:p>
            <a:pPr algn="ctr"/>
            <a:r>
              <a:rPr sz="800" b="1" i="0">
                <a:solidFill>
                  <a:srgbClr val="FFFFFF"/>
                </a:solidFill>
                <a:latin typeface="Outfit"/>
              </a:rPr>
              <a:t>Cetaphil Sun
Tinted Fluid</a:t>
            </a:r>
          </a:p>
        </p:txBody>
      </p:sp>
      <p:sp>
        <p:nvSpPr>
          <p:cNvPr id="48" name="TextBox 47"/>
          <p:cNvSpPr txBox="1"/>
          <p:nvPr/>
        </p:nvSpPr>
        <p:spPr>
          <a:xfrm>
            <a:off x="7424928" y="2212848"/>
            <a:ext cx="1773936" cy="320040"/>
          </a:xfrm>
          <a:prstGeom prst="rect">
            <a:avLst/>
          </a:prstGeom>
          <a:noFill/>
        </p:spPr>
        <p:txBody>
          <a:bodyPr wrap="square" lIns="36576" rIns="36576" tIns="18288" bIns="18288">
            <a:spAutoFit/>
          </a:bodyPr>
          <a:lstStyle/>
          <a:p>
            <a:pPr algn="ctr"/>
            <a:r>
              <a:rPr sz="1100" b="1" i="0">
                <a:solidFill>
                  <a:srgbClr val="FFFFFF"/>
                </a:solidFill>
                <a:latin typeface="Outfit"/>
              </a:rPr>
              <a:t>₹849 (50ml)</a:t>
            </a:r>
          </a:p>
        </p:txBody>
      </p:sp>
      <p:sp>
        <p:nvSpPr>
          <p:cNvPr id="49" name="Rounded Rectangle 48"/>
          <p:cNvSpPr/>
          <p:nvPr/>
        </p:nvSpPr>
        <p:spPr>
          <a:xfrm>
            <a:off x="9528048" y="1371600"/>
            <a:ext cx="2103120" cy="3566160"/>
          </a:xfrm>
          <a:prstGeom prst="roundRect">
            <a:avLst/>
          </a:prstGeom>
          <a:solidFill>
            <a:srgbClr val="FFF9E6"/>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528048" y="1371600"/>
            <a:ext cx="21031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92640" y="1536192"/>
            <a:ext cx="1773936" cy="320040"/>
          </a:xfrm>
          <a:prstGeom prst="rect">
            <a:avLst/>
          </a:prstGeom>
          <a:noFill/>
        </p:spPr>
        <p:txBody>
          <a:bodyPr wrap="square" lIns="36576" rIns="36576" tIns="18288" bIns="18288">
            <a:spAutoFit/>
          </a:bodyPr>
          <a:lstStyle/>
          <a:p>
            <a:pPr algn="l"/>
            <a:r>
              <a:rPr sz="1100" b="1" i="0">
                <a:solidFill>
                  <a:srgbClr val="F59E0B"/>
                </a:solidFill>
                <a:latin typeface="Outfit"/>
              </a:rPr>
              <a:t>HALO ACTIVE</a:t>
            </a:r>
          </a:p>
        </p:txBody>
      </p:sp>
      <p:sp>
        <p:nvSpPr>
          <p:cNvPr id="52" name="TextBox 51"/>
          <p:cNvSpPr txBox="1"/>
          <p:nvPr/>
        </p:nvSpPr>
        <p:spPr>
          <a:xfrm>
            <a:off x="9692640" y="1920240"/>
            <a:ext cx="1773936" cy="2834640"/>
          </a:xfrm>
          <a:prstGeom prst="rect">
            <a:avLst/>
          </a:prstGeom>
          <a:noFill/>
        </p:spPr>
        <p:txBody>
          <a:bodyPr wrap="square" lIns="0" rIns="0" tIns="0" bIns="0">
            <a:spAutoFit/>
          </a:bodyPr>
          <a:lstStyle/>
          <a:p>
            <a:pPr>
              <a:spcAft>
                <a:spcPts val="400"/>
              </a:spcAft>
              <a:defRPr sz="950">
                <a:solidFill>
                  <a:srgbClr val="0F172A"/>
                </a:solidFill>
                <a:latin typeface="Inter"/>
              </a:defRPr>
            </a:pPr>
            <a:r>
              <a:t>• Anti-aging treatment</a:t>
            </a:r>
            <a:br/>
            <a:r>
              <a:t>• Peptides &amp; Hyaluronic acid</a:t>
            </a:r>
            <a:br/>
            <a:r>
              <a:t>• Premium digital-first</a:t>
            </a:r>
          </a:p>
        </p:txBody>
      </p:sp>
      <p:sp>
        <p:nvSpPr>
          <p:cNvPr id="53" name="Rounded Rectangle 52"/>
          <p:cNvSpPr/>
          <p:nvPr/>
        </p:nvSpPr>
        <p:spPr>
          <a:xfrm>
            <a:off x="9692640" y="1920240"/>
            <a:ext cx="1773936"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92640" y="1965960"/>
            <a:ext cx="1773936" cy="274320"/>
          </a:xfrm>
          <a:prstGeom prst="rect">
            <a:avLst/>
          </a:prstGeom>
          <a:noFill/>
        </p:spPr>
        <p:txBody>
          <a:bodyPr wrap="square" lIns="36576" rIns="36576" tIns="18288" bIns="18288">
            <a:spAutoFit/>
          </a:bodyPr>
          <a:lstStyle/>
          <a:p>
            <a:pPr algn="ctr"/>
            <a:r>
              <a:rPr sz="800" b="1" i="0">
                <a:solidFill>
                  <a:srgbClr val="FFFFFF"/>
                </a:solidFill>
                <a:latin typeface="Outfit"/>
              </a:rPr>
              <a:t>Cetaphil Sun
Age Defense Serum</a:t>
            </a:r>
          </a:p>
        </p:txBody>
      </p:sp>
      <p:sp>
        <p:nvSpPr>
          <p:cNvPr id="55" name="TextBox 54"/>
          <p:cNvSpPr txBox="1"/>
          <p:nvPr/>
        </p:nvSpPr>
        <p:spPr>
          <a:xfrm>
            <a:off x="9692640" y="2212848"/>
            <a:ext cx="1773936" cy="320040"/>
          </a:xfrm>
          <a:prstGeom prst="rect">
            <a:avLst/>
          </a:prstGeom>
          <a:noFill/>
        </p:spPr>
        <p:txBody>
          <a:bodyPr wrap="square" lIns="36576" rIns="36576" tIns="18288" bIns="18288">
            <a:spAutoFit/>
          </a:bodyPr>
          <a:lstStyle/>
          <a:p>
            <a:pPr algn="ctr"/>
            <a:r>
              <a:rPr sz="1100" b="1" i="0">
                <a:solidFill>
                  <a:srgbClr val="FFFFFF"/>
                </a:solidFill>
                <a:latin typeface="Outfit"/>
              </a:rPr>
              <a:t>₹999 (30ml)</a:t>
            </a:r>
          </a:p>
        </p:txBody>
      </p:sp>
      <p:sp>
        <p:nvSpPr>
          <p:cNvPr id="56" name="Rounded Rectangle 55"/>
          <p:cNvSpPr/>
          <p:nvPr/>
        </p:nvSpPr>
        <p:spPr>
          <a:xfrm>
            <a:off x="457200" y="5166360"/>
            <a:ext cx="11274552" cy="1188720"/>
          </a:xfrm>
          <a:prstGeom prst="round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 y="5212080"/>
            <a:ext cx="10817352" cy="182880"/>
          </a:xfrm>
          <a:prstGeom prst="rect">
            <a:avLst/>
          </a:prstGeom>
          <a:noFill/>
        </p:spPr>
        <p:txBody>
          <a:bodyPr wrap="square" lIns="36576" rIns="36576" tIns="18288" bIns="18288">
            <a:spAutoFit/>
          </a:bodyPr>
          <a:lstStyle/>
          <a:p>
            <a:pPr algn="l"/>
            <a:r>
              <a:rPr sz="850" b="1" i="0">
                <a:solidFill>
                  <a:srgbClr val="0F172A"/>
                </a:solidFill>
                <a:latin typeface="Outfit"/>
              </a:rPr>
              <a:t>FORMULATION &amp; CLINICAL RATIONALE</a:t>
            </a:r>
          </a:p>
        </p:txBody>
      </p:sp>
      <p:sp>
        <p:nvSpPr>
          <p:cNvPr id="58" name="TextBox 57"/>
          <p:cNvSpPr txBox="1"/>
          <p:nvPr/>
        </p:nvSpPr>
        <p:spPr>
          <a:xfrm>
            <a:off x="685800" y="5440680"/>
            <a:ext cx="2011680" cy="164592"/>
          </a:xfrm>
          <a:prstGeom prst="rect">
            <a:avLst/>
          </a:prstGeom>
          <a:noFill/>
        </p:spPr>
        <p:txBody>
          <a:bodyPr wrap="square" lIns="36576" rIns="36576" tIns="18288" bIns="18288">
            <a:spAutoFit/>
          </a:bodyPr>
          <a:lstStyle/>
          <a:p>
            <a:pPr algn="l"/>
            <a:r>
              <a:rPr sz="800" b="1" i="0">
                <a:solidFill>
                  <a:srgbClr val="0284C7"/>
                </a:solidFill>
                <a:latin typeface="Outfit"/>
              </a:rPr>
              <a:t>Entry Gel</a:t>
            </a:r>
          </a:p>
        </p:txBody>
      </p:sp>
      <p:sp>
        <p:nvSpPr>
          <p:cNvPr id="59" name="TextBox 58"/>
          <p:cNvSpPr txBox="1"/>
          <p:nvPr/>
        </p:nvSpPr>
        <p:spPr>
          <a:xfrm>
            <a:off x="685800" y="5623560"/>
            <a:ext cx="2011680" cy="640080"/>
          </a:xfrm>
          <a:prstGeom prst="rect">
            <a:avLst/>
          </a:prstGeom>
          <a:noFill/>
        </p:spPr>
        <p:txBody>
          <a:bodyPr wrap="square" lIns="36576" rIns="36576" tIns="18288" bIns="18288">
            <a:spAutoFit/>
          </a:bodyPr>
          <a:lstStyle/>
          <a:p>
            <a:pPr algn="l"/>
            <a:r>
              <a:rPr sz="720" b="0" i="0">
                <a:solidFill>
                  <a:srgbClr val="64748B"/>
                </a:solidFill>
                <a:latin typeface="Inter"/>
              </a:rPr>
              <a:t>Centella Asiatica + Hyaluronic Acid. Lightweight, non-comedogenic, dry-touch.</a:t>
            </a:r>
          </a:p>
        </p:txBody>
      </p:sp>
      <p:sp>
        <p:nvSpPr>
          <p:cNvPr id="60" name="TextBox 59"/>
          <p:cNvSpPr txBox="1"/>
          <p:nvPr/>
        </p:nvSpPr>
        <p:spPr>
          <a:xfrm>
            <a:off x="2880360" y="5440680"/>
            <a:ext cx="2011680" cy="164592"/>
          </a:xfrm>
          <a:prstGeom prst="rect">
            <a:avLst/>
          </a:prstGeom>
          <a:noFill/>
        </p:spPr>
        <p:txBody>
          <a:bodyPr wrap="square" lIns="36576" rIns="36576" tIns="18288" bIns="18288">
            <a:spAutoFit/>
          </a:bodyPr>
          <a:lstStyle/>
          <a:p>
            <a:pPr algn="l"/>
            <a:r>
              <a:rPr sz="800" b="1" i="0">
                <a:solidFill>
                  <a:srgbClr val="0284C7"/>
                </a:solidFill>
                <a:latin typeface="Outfit"/>
              </a:rPr>
              <a:t>UV Shield</a:t>
            </a:r>
          </a:p>
        </p:txBody>
      </p:sp>
      <p:sp>
        <p:nvSpPr>
          <p:cNvPr id="61" name="TextBox 60"/>
          <p:cNvSpPr txBox="1"/>
          <p:nvPr/>
        </p:nvSpPr>
        <p:spPr>
          <a:xfrm>
            <a:off x="2880360" y="5623560"/>
            <a:ext cx="2011680" cy="640080"/>
          </a:xfrm>
          <a:prstGeom prst="rect">
            <a:avLst/>
          </a:prstGeom>
          <a:noFill/>
        </p:spPr>
        <p:txBody>
          <a:bodyPr wrap="square" lIns="36576" rIns="36576" tIns="18288" bIns="18288">
            <a:spAutoFit/>
          </a:bodyPr>
          <a:lstStyle/>
          <a:p>
            <a:pPr algn="l"/>
            <a:r>
              <a:rPr sz="720" b="0" i="0">
                <a:solidFill>
                  <a:srgbClr val="64748B"/>
                </a:solidFill>
                <a:latin typeface="Inter"/>
              </a:rPr>
              <a:t>Kojic Acid + Niacinamide. Pigmentation treatment, skin brightening.</a:t>
            </a:r>
          </a:p>
        </p:txBody>
      </p:sp>
      <p:sp>
        <p:nvSpPr>
          <p:cNvPr id="62" name="TextBox 61"/>
          <p:cNvSpPr txBox="1"/>
          <p:nvPr/>
        </p:nvSpPr>
        <p:spPr>
          <a:xfrm>
            <a:off x="5074920" y="5440680"/>
            <a:ext cx="2011680" cy="164592"/>
          </a:xfrm>
          <a:prstGeom prst="rect">
            <a:avLst/>
          </a:prstGeom>
          <a:noFill/>
        </p:spPr>
        <p:txBody>
          <a:bodyPr wrap="square" lIns="36576" rIns="36576" tIns="18288" bIns="18288">
            <a:spAutoFit/>
          </a:bodyPr>
          <a:lstStyle/>
          <a:p>
            <a:pPr algn="l"/>
            <a:r>
              <a:rPr sz="800" b="1" i="0">
                <a:solidFill>
                  <a:srgbClr val="0284C7"/>
                </a:solidFill>
                <a:latin typeface="Outfit"/>
              </a:rPr>
              <a:t>Touch-Up Mist</a:t>
            </a:r>
          </a:p>
        </p:txBody>
      </p:sp>
      <p:sp>
        <p:nvSpPr>
          <p:cNvPr id="63" name="TextBox 62"/>
          <p:cNvSpPr txBox="1"/>
          <p:nvPr/>
        </p:nvSpPr>
        <p:spPr>
          <a:xfrm>
            <a:off x="5074920" y="5623560"/>
            <a:ext cx="2011680" cy="640080"/>
          </a:xfrm>
          <a:prstGeom prst="rect">
            <a:avLst/>
          </a:prstGeom>
          <a:noFill/>
        </p:spPr>
        <p:txBody>
          <a:bodyPr wrap="square" lIns="36576" rIns="36576" tIns="18288" bIns="18288">
            <a:spAutoFit/>
          </a:bodyPr>
          <a:lstStyle/>
          <a:p>
            <a:pPr algn="l"/>
            <a:r>
              <a:rPr sz="720" b="0" i="0">
                <a:solidFill>
                  <a:srgbClr val="64748B"/>
                </a:solidFill>
                <a:latin typeface="Inter"/>
              </a:rPr>
              <a:t>Vitamin C + Licorice extract. Over-makeup application, quick absorption.</a:t>
            </a:r>
          </a:p>
        </p:txBody>
      </p:sp>
      <p:sp>
        <p:nvSpPr>
          <p:cNvPr id="64" name="TextBox 63"/>
          <p:cNvSpPr txBox="1"/>
          <p:nvPr/>
        </p:nvSpPr>
        <p:spPr>
          <a:xfrm>
            <a:off x="7269480" y="5440680"/>
            <a:ext cx="2011680" cy="164592"/>
          </a:xfrm>
          <a:prstGeom prst="rect">
            <a:avLst/>
          </a:prstGeom>
          <a:noFill/>
        </p:spPr>
        <p:txBody>
          <a:bodyPr wrap="square" lIns="36576" rIns="36576" tIns="18288" bIns="18288">
            <a:spAutoFit/>
          </a:bodyPr>
          <a:lstStyle/>
          <a:p>
            <a:pPr algn="l"/>
            <a:r>
              <a:rPr sz="800" b="1" i="0">
                <a:solidFill>
                  <a:srgbClr val="0284C7"/>
                </a:solidFill>
                <a:latin typeface="Outfit"/>
              </a:rPr>
              <a:t>Tinted Glow</a:t>
            </a:r>
          </a:p>
        </p:txBody>
      </p:sp>
      <p:sp>
        <p:nvSpPr>
          <p:cNvPr id="65" name="TextBox 64"/>
          <p:cNvSpPr txBox="1"/>
          <p:nvPr/>
        </p:nvSpPr>
        <p:spPr>
          <a:xfrm>
            <a:off x="7269480" y="5623560"/>
            <a:ext cx="2011680" cy="640080"/>
          </a:xfrm>
          <a:prstGeom prst="rect">
            <a:avLst/>
          </a:prstGeom>
          <a:noFill/>
        </p:spPr>
        <p:txBody>
          <a:bodyPr wrap="square" lIns="36576" rIns="36576" tIns="18288" bIns="18288">
            <a:spAutoFit/>
          </a:bodyPr>
          <a:lstStyle/>
          <a:p>
            <a:pPr algn="l"/>
            <a:r>
              <a:rPr sz="720" b="0" i="0">
                <a:solidFill>
                  <a:srgbClr val="64748B"/>
                </a:solidFill>
                <a:latin typeface="Inter"/>
              </a:rPr>
              <a:t>Ceramide NP + Zinc Oxide. Physical SPF barrier, matches Indian skin tones.</a:t>
            </a:r>
          </a:p>
        </p:txBody>
      </p:sp>
      <p:sp>
        <p:nvSpPr>
          <p:cNvPr id="66" name="TextBox 65"/>
          <p:cNvSpPr txBox="1"/>
          <p:nvPr/>
        </p:nvSpPr>
        <p:spPr>
          <a:xfrm>
            <a:off x="9464040" y="5440680"/>
            <a:ext cx="2011680" cy="164592"/>
          </a:xfrm>
          <a:prstGeom prst="rect">
            <a:avLst/>
          </a:prstGeom>
          <a:noFill/>
        </p:spPr>
        <p:txBody>
          <a:bodyPr wrap="square" lIns="36576" rIns="36576" tIns="18288" bIns="18288">
            <a:spAutoFit/>
          </a:bodyPr>
          <a:lstStyle/>
          <a:p>
            <a:pPr algn="l"/>
            <a:r>
              <a:rPr sz="800" b="1" i="0">
                <a:solidFill>
                  <a:srgbClr val="0284C7"/>
                </a:solidFill>
                <a:latin typeface="Outfit"/>
              </a:rPr>
              <a:t>Age Defense</a:t>
            </a:r>
          </a:p>
        </p:txBody>
      </p:sp>
      <p:sp>
        <p:nvSpPr>
          <p:cNvPr id="67" name="TextBox 66"/>
          <p:cNvSpPr txBox="1"/>
          <p:nvPr/>
        </p:nvSpPr>
        <p:spPr>
          <a:xfrm>
            <a:off x="9464040" y="5623560"/>
            <a:ext cx="2011680" cy="640080"/>
          </a:xfrm>
          <a:prstGeom prst="rect">
            <a:avLst/>
          </a:prstGeom>
          <a:noFill/>
        </p:spPr>
        <p:txBody>
          <a:bodyPr wrap="square" lIns="36576" rIns="36576" tIns="18288" bIns="18288">
            <a:spAutoFit/>
          </a:bodyPr>
          <a:lstStyle/>
          <a:p>
            <a:pPr algn="l"/>
            <a:r>
              <a:rPr sz="720" b="0" i="0">
                <a:solidFill>
                  <a:srgbClr val="64748B"/>
                </a:solidFill>
                <a:latin typeface="Inter"/>
              </a:rPr>
              <a:t>Peptides + Adenosine. Anti-aging, wrinkle reduction, collagen support.</a:t>
            </a:r>
          </a:p>
        </p:txBody>
      </p:sp>
      <p:sp>
        <p:nvSpPr>
          <p:cNvPr id="68" name="Rectangle 67"/>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Formulations subject to R&amp;D stability, photostability &amp; clinical SPF testing per BIS/ISO 24444</a:t>
            </a:r>
          </a:p>
        </p:txBody>
      </p:sp>
      <p:sp>
        <p:nvSpPr>
          <p:cNvPr id="70" name="TextBox 69"/>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7 of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Solution: Galderma Sunscreen Business Model Canvas</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8 · BUSINESS MODEL</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210312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1463040"/>
            <a:ext cx="1828800" cy="320040"/>
          </a:xfrm>
          <a:prstGeom prst="rect">
            <a:avLst/>
          </a:prstGeom>
          <a:noFill/>
        </p:spPr>
        <p:txBody>
          <a:bodyPr wrap="square" lIns="36576" rIns="36576" tIns="18288" bIns="18288">
            <a:spAutoFit/>
          </a:bodyPr>
          <a:lstStyle/>
          <a:p>
            <a:pPr algn="l"/>
            <a:r>
              <a:rPr sz="950" b="1" i="0">
                <a:solidFill>
                  <a:srgbClr val="0284C7"/>
                </a:solidFill>
                <a:latin typeface="Outfit"/>
              </a:rPr>
              <a:t>Key Partners</a:t>
            </a:r>
          </a:p>
        </p:txBody>
      </p:sp>
      <p:sp>
        <p:nvSpPr>
          <p:cNvPr id="23" name="TextBox 22"/>
          <p:cNvSpPr txBox="1"/>
          <p:nvPr/>
        </p:nvSpPr>
        <p:spPr>
          <a:xfrm>
            <a:off x="594360" y="1874519"/>
            <a:ext cx="1828800" cy="2926080"/>
          </a:xfrm>
          <a:prstGeom prst="rect">
            <a:avLst/>
          </a:prstGeom>
          <a:noFill/>
        </p:spPr>
        <p:txBody>
          <a:bodyPr wrap="square" lIns="36576" rIns="36576" tIns="18288" bIns="18288">
            <a:spAutoFit/>
          </a:bodyPr>
          <a:lstStyle/>
          <a:p>
            <a:pPr algn="l"/>
            <a:r>
              <a:rPr sz="850" b="0" i="0">
                <a:solidFill>
                  <a:srgbClr val="0F172A"/>
                </a:solidFill>
                <a:latin typeface="Inter"/>
              </a:rPr>
              <a:t>• Dermatologists &amp; Aesthetic Clinics
• Nykaa, Amazon &amp; Q-Commerce platforms
• Formulation labs &amp; CRS testing institutes
• Distribution &amp; Modern Trade networks</a:t>
            </a:r>
          </a:p>
        </p:txBody>
      </p:sp>
      <p:sp>
        <p:nvSpPr>
          <p:cNvPr id="24" name="Rounded Rectangle 23"/>
          <p:cNvSpPr/>
          <p:nvPr/>
        </p:nvSpPr>
        <p:spPr>
          <a:xfrm>
            <a:off x="2697480" y="1371600"/>
            <a:ext cx="2103120" cy="17373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1463040"/>
            <a:ext cx="1828800" cy="274320"/>
          </a:xfrm>
          <a:prstGeom prst="rect">
            <a:avLst/>
          </a:prstGeom>
          <a:noFill/>
        </p:spPr>
        <p:txBody>
          <a:bodyPr wrap="square" lIns="36576" rIns="36576" tIns="18288" bIns="18288">
            <a:spAutoFit/>
          </a:bodyPr>
          <a:lstStyle/>
          <a:p>
            <a:pPr algn="l"/>
            <a:r>
              <a:rPr sz="950" b="1" i="0">
                <a:solidFill>
                  <a:srgbClr val="0284C7"/>
                </a:solidFill>
                <a:latin typeface="Outfit"/>
              </a:rPr>
              <a:t>Key Activities</a:t>
            </a:r>
          </a:p>
        </p:txBody>
      </p:sp>
      <p:sp>
        <p:nvSpPr>
          <p:cNvPr id="26" name="TextBox 25"/>
          <p:cNvSpPr txBox="1"/>
          <p:nvPr/>
        </p:nvSpPr>
        <p:spPr>
          <a:xfrm>
            <a:off x="2834640" y="1783080"/>
            <a:ext cx="1828800" cy="1188720"/>
          </a:xfrm>
          <a:prstGeom prst="rect">
            <a:avLst/>
          </a:prstGeom>
          <a:noFill/>
        </p:spPr>
        <p:txBody>
          <a:bodyPr wrap="square" lIns="36576" rIns="36576" tIns="18288" bIns="18288">
            <a:spAutoFit/>
          </a:bodyPr>
          <a:lstStyle/>
          <a:p>
            <a:pPr algn="l"/>
            <a:r>
              <a:rPr sz="819" b="0" i="0">
                <a:solidFill>
                  <a:srgbClr val="0F172A"/>
                </a:solidFill>
                <a:latin typeface="Inter"/>
              </a:rPr>
              <a:t>• ISO 24444 SPF testing
• Derm KOL sampling
• SunMatch AI quiz dev
• Pharmacy &amp; e-com GTM</a:t>
            </a:r>
          </a:p>
        </p:txBody>
      </p:sp>
      <p:sp>
        <p:nvSpPr>
          <p:cNvPr id="27" name="Rounded Rectangle 26"/>
          <p:cNvSpPr/>
          <p:nvPr/>
        </p:nvSpPr>
        <p:spPr>
          <a:xfrm>
            <a:off x="2697480" y="3200400"/>
            <a:ext cx="2103120" cy="17373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40" y="3291840"/>
            <a:ext cx="1828800" cy="274320"/>
          </a:xfrm>
          <a:prstGeom prst="rect">
            <a:avLst/>
          </a:prstGeom>
          <a:noFill/>
        </p:spPr>
        <p:txBody>
          <a:bodyPr wrap="square" lIns="36576" rIns="36576" tIns="18288" bIns="18288">
            <a:spAutoFit/>
          </a:bodyPr>
          <a:lstStyle/>
          <a:p>
            <a:pPr algn="l"/>
            <a:r>
              <a:rPr sz="950" b="1" i="0">
                <a:solidFill>
                  <a:srgbClr val="0284C7"/>
                </a:solidFill>
                <a:latin typeface="Outfit"/>
              </a:rPr>
              <a:t>Key Resources</a:t>
            </a:r>
          </a:p>
        </p:txBody>
      </p:sp>
      <p:sp>
        <p:nvSpPr>
          <p:cNvPr id="29" name="TextBox 28"/>
          <p:cNvSpPr txBox="1"/>
          <p:nvPr/>
        </p:nvSpPr>
        <p:spPr>
          <a:xfrm>
            <a:off x="2834640" y="3611880"/>
            <a:ext cx="1828800" cy="1188720"/>
          </a:xfrm>
          <a:prstGeom prst="rect">
            <a:avLst/>
          </a:prstGeom>
          <a:noFill/>
        </p:spPr>
        <p:txBody>
          <a:bodyPr wrap="square" lIns="36576" rIns="36576" tIns="18288" bIns="18288">
            <a:spAutoFit/>
          </a:bodyPr>
          <a:lstStyle/>
          <a:p>
            <a:pPr algn="l"/>
            <a:r>
              <a:rPr sz="819" b="0" i="0">
                <a:solidFill>
                  <a:srgbClr val="0F172A"/>
                </a:solidFill>
                <a:latin typeface="Inter"/>
              </a:rPr>
              <a:t>• 75-Yr Cetaphil skin equity
• 40-Yr Galderma derma heritage
• Medical rep force
• Clinical trial data</a:t>
            </a:r>
          </a:p>
        </p:txBody>
      </p:sp>
      <p:sp>
        <p:nvSpPr>
          <p:cNvPr id="30" name="Rounded Rectangle 29"/>
          <p:cNvSpPr/>
          <p:nvPr/>
        </p:nvSpPr>
        <p:spPr>
          <a:xfrm>
            <a:off x="4937760" y="1371600"/>
            <a:ext cx="2313432" cy="3566160"/>
          </a:xfrm>
          <a:prstGeom prst="roundRect">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1463040"/>
            <a:ext cx="2011680" cy="320040"/>
          </a:xfrm>
          <a:prstGeom prst="rect">
            <a:avLst/>
          </a:prstGeom>
          <a:noFill/>
        </p:spPr>
        <p:txBody>
          <a:bodyPr wrap="square" lIns="36576" rIns="36576" tIns="18288" bIns="18288">
            <a:spAutoFit/>
          </a:bodyPr>
          <a:lstStyle/>
          <a:p>
            <a:pPr algn="l"/>
            <a:r>
              <a:rPr sz="1000" b="1" i="0">
                <a:solidFill>
                  <a:srgbClr val="EA580C"/>
                </a:solidFill>
                <a:latin typeface="Outfit"/>
              </a:rPr>
              <a:t>Value Propositions</a:t>
            </a:r>
          </a:p>
        </p:txBody>
      </p:sp>
      <p:sp>
        <p:nvSpPr>
          <p:cNvPr id="32" name="TextBox 31"/>
          <p:cNvSpPr txBox="1"/>
          <p:nvPr/>
        </p:nvSpPr>
        <p:spPr>
          <a:xfrm>
            <a:off x="5074920" y="1874519"/>
            <a:ext cx="2011680" cy="2926080"/>
          </a:xfrm>
          <a:prstGeom prst="rect">
            <a:avLst/>
          </a:prstGeom>
          <a:noFill/>
        </p:spPr>
        <p:txBody>
          <a:bodyPr wrap="square" lIns="36576" rIns="36576" tIns="18288" bIns="18288">
            <a:spAutoFit/>
          </a:bodyPr>
          <a:lstStyle/>
          <a:p>
            <a:pPr algn="l"/>
            <a:r>
              <a:rPr sz="850" b="0" i="0">
                <a:solidFill>
                  <a:srgbClr val="0F172A"/>
                </a:solidFill>
                <a:latin typeface="Inter"/>
              </a:rPr>
              <a:t>• 5-SKU sunscreen price ladder (₹449–₹999) solving the pricing whitespace
• Diverse textures (gel, serum, mist, tint) fitting Indian climates
• Strict dermatological backing &amp; non-comedogenic safety
• SunMatch AI personalized skin-tone SPF match</a:t>
            </a:r>
          </a:p>
        </p:txBody>
      </p:sp>
      <p:sp>
        <p:nvSpPr>
          <p:cNvPr id="33" name="Rounded Rectangle 32"/>
          <p:cNvSpPr/>
          <p:nvPr/>
        </p:nvSpPr>
        <p:spPr>
          <a:xfrm>
            <a:off x="7388352" y="1371600"/>
            <a:ext cx="2103120" cy="17373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25512" y="1463040"/>
            <a:ext cx="1828800" cy="274320"/>
          </a:xfrm>
          <a:prstGeom prst="rect">
            <a:avLst/>
          </a:prstGeom>
          <a:noFill/>
        </p:spPr>
        <p:txBody>
          <a:bodyPr wrap="square" lIns="36576" rIns="36576" tIns="18288" bIns="18288">
            <a:spAutoFit/>
          </a:bodyPr>
          <a:lstStyle/>
          <a:p>
            <a:pPr algn="l"/>
            <a:r>
              <a:rPr sz="950" b="1" i="0">
                <a:solidFill>
                  <a:srgbClr val="0284C7"/>
                </a:solidFill>
                <a:latin typeface="Outfit"/>
              </a:rPr>
              <a:t>Cust. Relationships</a:t>
            </a:r>
          </a:p>
        </p:txBody>
      </p:sp>
      <p:sp>
        <p:nvSpPr>
          <p:cNvPr id="35" name="TextBox 34"/>
          <p:cNvSpPr txBox="1"/>
          <p:nvPr/>
        </p:nvSpPr>
        <p:spPr>
          <a:xfrm>
            <a:off x="7525512" y="1783080"/>
            <a:ext cx="1828800" cy="1188720"/>
          </a:xfrm>
          <a:prstGeom prst="rect">
            <a:avLst/>
          </a:prstGeom>
          <a:noFill/>
        </p:spPr>
        <p:txBody>
          <a:bodyPr wrap="square" lIns="36576" rIns="36576" tIns="18288" bIns="18288">
            <a:spAutoFit/>
          </a:bodyPr>
          <a:lstStyle/>
          <a:p>
            <a:pPr algn="l"/>
            <a:r>
              <a:rPr sz="819" b="0" i="0">
                <a:solidFill>
                  <a:srgbClr val="0F172A"/>
                </a:solidFill>
                <a:latin typeface="Inter"/>
              </a:rPr>
              <a:t>• Professional Derm Trust
• Skin education digital content
• SunMatch AI quiz personalisation</a:t>
            </a:r>
          </a:p>
        </p:txBody>
      </p:sp>
      <p:sp>
        <p:nvSpPr>
          <p:cNvPr id="36" name="Rounded Rectangle 35"/>
          <p:cNvSpPr/>
          <p:nvPr/>
        </p:nvSpPr>
        <p:spPr>
          <a:xfrm>
            <a:off x="7388352" y="3200400"/>
            <a:ext cx="2103120" cy="17373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25512" y="3291840"/>
            <a:ext cx="1828800" cy="274320"/>
          </a:xfrm>
          <a:prstGeom prst="rect">
            <a:avLst/>
          </a:prstGeom>
          <a:noFill/>
        </p:spPr>
        <p:txBody>
          <a:bodyPr wrap="square" lIns="36576" rIns="36576" tIns="18288" bIns="18288">
            <a:spAutoFit/>
          </a:bodyPr>
          <a:lstStyle/>
          <a:p>
            <a:pPr algn="l"/>
            <a:r>
              <a:rPr sz="950" b="1" i="0">
                <a:solidFill>
                  <a:srgbClr val="0284C7"/>
                </a:solidFill>
                <a:latin typeface="Outfit"/>
              </a:rPr>
              <a:t>Channels</a:t>
            </a:r>
          </a:p>
        </p:txBody>
      </p:sp>
      <p:sp>
        <p:nvSpPr>
          <p:cNvPr id="38" name="TextBox 37"/>
          <p:cNvSpPr txBox="1"/>
          <p:nvPr/>
        </p:nvSpPr>
        <p:spPr>
          <a:xfrm>
            <a:off x="7525512" y="3611880"/>
            <a:ext cx="1828800" cy="1188720"/>
          </a:xfrm>
          <a:prstGeom prst="rect">
            <a:avLst/>
          </a:prstGeom>
          <a:noFill/>
        </p:spPr>
        <p:txBody>
          <a:bodyPr wrap="square" lIns="36576" rIns="36576" tIns="18288" bIns="18288">
            <a:spAutoFit/>
          </a:bodyPr>
          <a:lstStyle/>
          <a:p>
            <a:pPr algn="l"/>
            <a:r>
              <a:rPr sz="819" b="0" i="0">
                <a:solidFill>
                  <a:srgbClr val="0F172A"/>
                </a:solidFill>
                <a:latin typeface="Inter"/>
              </a:rPr>
              <a:t>• Derm clinics &amp; pharmacies
• Nykaa / Amazon premium
• Blinkit / Zepto (Q-comm)
• Modern Trade stores</a:t>
            </a:r>
          </a:p>
        </p:txBody>
      </p:sp>
      <p:sp>
        <p:nvSpPr>
          <p:cNvPr id="39" name="Rounded Rectangle 38"/>
          <p:cNvSpPr/>
          <p:nvPr/>
        </p:nvSpPr>
        <p:spPr>
          <a:xfrm>
            <a:off x="9628632" y="1371600"/>
            <a:ext cx="210312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65792" y="1463040"/>
            <a:ext cx="1828800" cy="320040"/>
          </a:xfrm>
          <a:prstGeom prst="rect">
            <a:avLst/>
          </a:prstGeom>
          <a:noFill/>
        </p:spPr>
        <p:txBody>
          <a:bodyPr wrap="square" lIns="36576" rIns="36576" tIns="18288" bIns="18288">
            <a:spAutoFit/>
          </a:bodyPr>
          <a:lstStyle/>
          <a:p>
            <a:pPr algn="l"/>
            <a:r>
              <a:rPr sz="950" b="1" i="0">
                <a:solidFill>
                  <a:srgbClr val="0284C7"/>
                </a:solidFill>
                <a:latin typeface="Outfit"/>
              </a:rPr>
              <a:t>Customer Segments</a:t>
            </a:r>
          </a:p>
        </p:txBody>
      </p:sp>
      <p:sp>
        <p:nvSpPr>
          <p:cNvPr id="41" name="TextBox 40"/>
          <p:cNvSpPr txBox="1"/>
          <p:nvPr/>
        </p:nvSpPr>
        <p:spPr>
          <a:xfrm>
            <a:off x="9765792" y="1874519"/>
            <a:ext cx="1828800" cy="2926080"/>
          </a:xfrm>
          <a:prstGeom prst="rect">
            <a:avLst/>
          </a:prstGeom>
          <a:noFill/>
        </p:spPr>
        <p:txBody>
          <a:bodyPr wrap="square" lIns="36576" rIns="36576" tIns="18288" bIns="18288">
            <a:spAutoFit/>
          </a:bodyPr>
          <a:lstStyle/>
          <a:p>
            <a:pPr algn="l"/>
            <a:r>
              <a:rPr sz="850" b="0" i="0">
                <a:solidFill>
                  <a:srgbClr val="0F172A"/>
                </a:solidFill>
                <a:latin typeface="Inter"/>
              </a:rPr>
              <a:t>• Premium Skincare Consumers (25–35 yrs)
• Hyperpigmentation / Acne patients
• Daily outdoor commuters needing reapplication
• First-time SPF buyers seeking derm trust</a:t>
            </a:r>
          </a:p>
        </p:txBody>
      </p:sp>
      <p:sp>
        <p:nvSpPr>
          <p:cNvPr id="42" name="Rounded Rectangle 41"/>
          <p:cNvSpPr/>
          <p:nvPr/>
        </p:nvSpPr>
        <p:spPr>
          <a:xfrm>
            <a:off x="457200" y="5074920"/>
            <a:ext cx="5532120" cy="1280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5120640"/>
            <a:ext cx="5212080" cy="201168"/>
          </a:xfrm>
          <a:prstGeom prst="rect">
            <a:avLst/>
          </a:prstGeom>
          <a:noFill/>
        </p:spPr>
        <p:txBody>
          <a:bodyPr wrap="square" lIns="36576" rIns="36576" tIns="18288" bIns="18288">
            <a:spAutoFit/>
          </a:bodyPr>
          <a:lstStyle/>
          <a:p>
            <a:pPr algn="l"/>
            <a:r>
              <a:rPr sz="950" b="1" i="0">
                <a:solidFill>
                  <a:srgbClr val="0284C7"/>
                </a:solidFill>
                <a:latin typeface="Outfit"/>
              </a:rPr>
              <a:t>Cost Structure</a:t>
            </a:r>
          </a:p>
        </p:txBody>
      </p:sp>
      <p:sp>
        <p:nvSpPr>
          <p:cNvPr id="44" name="TextBox 43"/>
          <p:cNvSpPr txBox="1"/>
          <p:nvPr/>
        </p:nvSpPr>
        <p:spPr>
          <a:xfrm>
            <a:off x="594360" y="5349240"/>
            <a:ext cx="5212080" cy="914400"/>
          </a:xfrm>
          <a:prstGeom prst="rect">
            <a:avLst/>
          </a:prstGeom>
          <a:noFill/>
        </p:spPr>
        <p:txBody>
          <a:bodyPr wrap="square" lIns="36576" rIns="36576" tIns="18288" bIns="18288">
            <a:spAutoFit/>
          </a:bodyPr>
          <a:lstStyle/>
          <a:p>
            <a:pPr algn="l"/>
            <a:r>
              <a:rPr sz="819" b="0" i="0">
                <a:solidFill>
                  <a:srgbClr val="0F172A"/>
                </a:solidFill>
                <a:latin typeface="Inter"/>
              </a:rPr>
              <a:t>• COGS (22% of MRP) &amp; raw materials filter sourcing
• Marketing &amp; Seeding: 15% of revenue in Yr 1, scaling down to 10%
• Trade Margins: 25–30% (Nykaa 35%, pharmacies 20%, MT 25%)
• Clinical trials (ISO 24444) &amp; BIS CRS regulatory costs</a:t>
            </a:r>
          </a:p>
        </p:txBody>
      </p:sp>
      <p:sp>
        <p:nvSpPr>
          <p:cNvPr id="45" name="Rounded Rectangle 44"/>
          <p:cNvSpPr/>
          <p:nvPr/>
        </p:nvSpPr>
        <p:spPr>
          <a:xfrm>
            <a:off x="6199632" y="5074920"/>
            <a:ext cx="5532120" cy="1280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36792" y="5120640"/>
            <a:ext cx="5212080" cy="201168"/>
          </a:xfrm>
          <a:prstGeom prst="rect">
            <a:avLst/>
          </a:prstGeom>
          <a:noFill/>
        </p:spPr>
        <p:txBody>
          <a:bodyPr wrap="square" lIns="36576" rIns="36576" tIns="18288" bIns="18288">
            <a:spAutoFit/>
          </a:bodyPr>
          <a:lstStyle/>
          <a:p>
            <a:pPr algn="l"/>
            <a:r>
              <a:rPr sz="950" b="1" i="0">
                <a:solidFill>
                  <a:srgbClr val="0284C7"/>
                </a:solidFill>
                <a:latin typeface="Outfit"/>
              </a:rPr>
              <a:t>Revenue Streams</a:t>
            </a:r>
          </a:p>
        </p:txBody>
      </p:sp>
      <p:sp>
        <p:nvSpPr>
          <p:cNvPr id="47" name="TextBox 46"/>
          <p:cNvSpPr txBox="1"/>
          <p:nvPr/>
        </p:nvSpPr>
        <p:spPr>
          <a:xfrm>
            <a:off x="6336792" y="5349240"/>
            <a:ext cx="5212080" cy="914400"/>
          </a:xfrm>
          <a:prstGeom prst="rect">
            <a:avLst/>
          </a:prstGeom>
          <a:noFill/>
        </p:spPr>
        <p:txBody>
          <a:bodyPr wrap="square" lIns="36576" rIns="36576" tIns="18288" bIns="18288">
            <a:spAutoFit/>
          </a:bodyPr>
          <a:lstStyle/>
          <a:p>
            <a:pPr algn="l"/>
            <a:r>
              <a:rPr sz="819" b="0" i="0">
                <a:solidFill>
                  <a:srgbClr val="0F172A"/>
                </a:solidFill>
                <a:latin typeface="Inter"/>
              </a:rPr>
              <a:t>• 5-SKU price ladder portfolio sales (MRP ₹449–₹999)
• Clinic direct sales volume &amp; dermatology clinics channel
• Online channels recurring purchases &amp; D2C auto-refill subscriptions
• Bulk packing sales (100ml pack size additions in Year 4)</a:t>
            </a:r>
          </a:p>
        </p:txBody>
      </p:sp>
      <p:sp>
        <p:nvSpPr>
          <p:cNvPr id="48" name="Rectangle 47"/>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Business Model Canvas framework adapted to the Galderma Sunscreen expansion project</a:t>
            </a:r>
          </a:p>
        </p:txBody>
      </p:sp>
      <p:sp>
        <p:nvSpPr>
          <p:cNvPr id="50" name="TextBox 49"/>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8 of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Solution: Go-To-Market &amp; HCP Dermatologist Engine</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9 · GTM &amp; HCP</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5486400" cy="658368"/>
          </a:xfrm>
          <a:prstGeom prst="roundRect">
            <a:avLst/>
          </a:prstGeom>
          <a:solidFill>
            <a:srgbClr val="FFF7ED"/>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73152" cy="65836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 y="1444752"/>
            <a:ext cx="822960"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1481328"/>
            <a:ext cx="822960" cy="457200"/>
          </a:xfrm>
          <a:prstGeom prst="rect">
            <a:avLst/>
          </a:prstGeom>
          <a:noFill/>
        </p:spPr>
        <p:txBody>
          <a:bodyPr wrap="square" lIns="36576" rIns="36576" tIns="18288" bIns="18288">
            <a:spAutoFit/>
          </a:bodyPr>
          <a:lstStyle/>
          <a:p>
            <a:pPr algn="ctr"/>
            <a:r>
              <a:rPr sz="700" b="1" i="0">
                <a:solidFill>
                  <a:srgbClr val="FFFFFF"/>
                </a:solidFill>
                <a:latin typeface="Outfit"/>
              </a:rPr>
              <a:t>PHASE 1
CLINICS</a:t>
            </a:r>
          </a:p>
        </p:txBody>
      </p:sp>
      <p:sp>
        <p:nvSpPr>
          <p:cNvPr id="25" name="TextBox 24"/>
          <p:cNvSpPr txBox="1"/>
          <p:nvPr/>
        </p:nvSpPr>
        <p:spPr>
          <a:xfrm>
            <a:off x="1600200" y="1444752"/>
            <a:ext cx="4114800" cy="182880"/>
          </a:xfrm>
          <a:prstGeom prst="rect">
            <a:avLst/>
          </a:prstGeom>
          <a:noFill/>
        </p:spPr>
        <p:txBody>
          <a:bodyPr wrap="square" lIns="36576" rIns="36576" tIns="18288" bIns="18288">
            <a:spAutoFit/>
          </a:bodyPr>
          <a:lstStyle/>
          <a:p>
            <a:pPr algn="l"/>
            <a:r>
              <a:rPr sz="950" b="1" i="0">
                <a:solidFill>
                  <a:srgbClr val="EA580C"/>
                </a:solidFill>
                <a:latin typeface="Outfit"/>
              </a:rPr>
              <a:t>Dermatology Clinics</a:t>
            </a:r>
          </a:p>
        </p:txBody>
      </p:sp>
      <p:sp>
        <p:nvSpPr>
          <p:cNvPr id="26" name="TextBox 25"/>
          <p:cNvSpPr txBox="1"/>
          <p:nvPr/>
        </p:nvSpPr>
        <p:spPr>
          <a:xfrm>
            <a:off x="1600200" y="1627632"/>
            <a:ext cx="4114800" cy="365760"/>
          </a:xfrm>
          <a:prstGeom prst="rect">
            <a:avLst/>
          </a:prstGeom>
          <a:noFill/>
        </p:spPr>
        <p:txBody>
          <a:bodyPr wrap="square" lIns="36576" rIns="36576" tIns="18288" bIns="18288">
            <a:spAutoFit/>
          </a:bodyPr>
          <a:lstStyle/>
          <a:p>
            <a:pPr algn="l"/>
            <a:r>
              <a:rPr sz="780" b="0" i="0">
                <a:solidFill>
                  <a:srgbClr val="0F172A"/>
                </a:solidFill>
                <a:latin typeface="Inter"/>
              </a:rPr>
              <a:t>5,000 dermatologists × 20 units = 1 Lakh units seeded. Target: 15% Rx recommendation rate. Top 20 cities.</a:t>
            </a:r>
          </a:p>
        </p:txBody>
      </p:sp>
      <p:sp>
        <p:nvSpPr>
          <p:cNvPr id="27" name="Rounded Rectangle 26"/>
          <p:cNvSpPr/>
          <p:nvPr/>
        </p:nvSpPr>
        <p:spPr>
          <a:xfrm>
            <a:off x="457200" y="2103120"/>
            <a:ext cx="5486400" cy="658368"/>
          </a:xfrm>
          <a:prstGeom prst="roundRect">
            <a:avLst/>
          </a:prstGeom>
          <a:solidFill>
            <a:srgbClr val="F0F9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103120"/>
            <a:ext cx="73152" cy="658368"/>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 y="2176272"/>
            <a:ext cx="822960" cy="512064"/>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212848"/>
            <a:ext cx="822960" cy="457200"/>
          </a:xfrm>
          <a:prstGeom prst="rect">
            <a:avLst/>
          </a:prstGeom>
          <a:noFill/>
        </p:spPr>
        <p:txBody>
          <a:bodyPr wrap="square" lIns="36576" rIns="36576" tIns="18288" bIns="18288">
            <a:spAutoFit/>
          </a:bodyPr>
          <a:lstStyle/>
          <a:p>
            <a:pPr algn="ctr"/>
            <a:r>
              <a:rPr sz="700" b="1" i="0">
                <a:solidFill>
                  <a:srgbClr val="FFFFFF"/>
                </a:solidFill>
                <a:latin typeface="Outfit"/>
              </a:rPr>
              <a:t>PHASE 1
ONLINE</a:t>
            </a:r>
          </a:p>
        </p:txBody>
      </p:sp>
      <p:sp>
        <p:nvSpPr>
          <p:cNvPr id="31" name="TextBox 30"/>
          <p:cNvSpPr txBox="1"/>
          <p:nvPr/>
        </p:nvSpPr>
        <p:spPr>
          <a:xfrm>
            <a:off x="1600200" y="2176272"/>
            <a:ext cx="4114800" cy="182880"/>
          </a:xfrm>
          <a:prstGeom prst="rect">
            <a:avLst/>
          </a:prstGeom>
          <a:noFill/>
        </p:spPr>
        <p:txBody>
          <a:bodyPr wrap="square" lIns="36576" rIns="36576" tIns="18288" bIns="18288">
            <a:spAutoFit/>
          </a:bodyPr>
          <a:lstStyle/>
          <a:p>
            <a:pPr algn="l"/>
            <a:r>
              <a:rPr sz="950" b="1" i="0">
                <a:solidFill>
                  <a:srgbClr val="0284C7"/>
                </a:solidFill>
                <a:latin typeface="Outfit"/>
              </a:rPr>
              <a:t>Nykaa / Amazon / TIRA</a:t>
            </a:r>
          </a:p>
        </p:txBody>
      </p:sp>
      <p:sp>
        <p:nvSpPr>
          <p:cNvPr id="32" name="TextBox 31"/>
          <p:cNvSpPr txBox="1"/>
          <p:nvPr/>
        </p:nvSpPr>
        <p:spPr>
          <a:xfrm>
            <a:off x="1600200" y="2359152"/>
            <a:ext cx="4114800" cy="365760"/>
          </a:xfrm>
          <a:prstGeom prst="rect">
            <a:avLst/>
          </a:prstGeom>
          <a:noFill/>
        </p:spPr>
        <p:txBody>
          <a:bodyPr wrap="square" lIns="36576" rIns="36576" tIns="18288" bIns="18288">
            <a:spAutoFit/>
          </a:bodyPr>
          <a:lstStyle/>
          <a:p>
            <a:pPr algn="l"/>
            <a:r>
              <a:rPr sz="780" b="0" i="0">
                <a:solidFill>
                  <a:srgbClr val="0F172A"/>
                </a:solidFill>
                <a:latin typeface="Inter"/>
              </a:rPr>
              <a:t>Nykaa Derm-Approved badge. A+ content with ingredient deep-dives. Star ratings target: 4.3+</a:t>
            </a:r>
          </a:p>
        </p:txBody>
      </p:sp>
      <p:sp>
        <p:nvSpPr>
          <p:cNvPr id="33" name="Rounded Rectangle 32"/>
          <p:cNvSpPr/>
          <p:nvPr/>
        </p:nvSpPr>
        <p:spPr>
          <a:xfrm>
            <a:off x="457200" y="2834640"/>
            <a:ext cx="5486400" cy="658368"/>
          </a:xfrm>
          <a:prstGeom prst="roundRect">
            <a:avLst/>
          </a:prstGeom>
          <a:solidFill>
            <a:srgbClr val="ECFD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834640"/>
            <a:ext cx="73152" cy="65836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080" y="2907792"/>
            <a:ext cx="822960" cy="51206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2944368"/>
            <a:ext cx="822960" cy="457200"/>
          </a:xfrm>
          <a:prstGeom prst="rect">
            <a:avLst/>
          </a:prstGeom>
          <a:noFill/>
        </p:spPr>
        <p:txBody>
          <a:bodyPr wrap="square" lIns="36576" rIns="36576" tIns="18288" bIns="18288">
            <a:spAutoFit/>
          </a:bodyPr>
          <a:lstStyle/>
          <a:p>
            <a:pPr algn="ctr"/>
            <a:r>
              <a:rPr sz="700" b="1" i="0">
                <a:solidFill>
                  <a:srgbClr val="FFFFFF"/>
                </a:solidFill>
                <a:latin typeface="Outfit"/>
              </a:rPr>
              <a:t>PHASE 2
MT</a:t>
            </a:r>
          </a:p>
        </p:txBody>
      </p:sp>
      <p:sp>
        <p:nvSpPr>
          <p:cNvPr id="37" name="TextBox 36"/>
          <p:cNvSpPr txBox="1"/>
          <p:nvPr/>
        </p:nvSpPr>
        <p:spPr>
          <a:xfrm>
            <a:off x="1600200" y="2907792"/>
            <a:ext cx="4114800" cy="182880"/>
          </a:xfrm>
          <a:prstGeom prst="rect">
            <a:avLst/>
          </a:prstGeom>
          <a:noFill/>
        </p:spPr>
        <p:txBody>
          <a:bodyPr wrap="square" lIns="36576" rIns="36576" tIns="18288" bIns="18288">
            <a:spAutoFit/>
          </a:bodyPr>
          <a:lstStyle/>
          <a:p>
            <a:pPr algn="l"/>
            <a:r>
              <a:rPr sz="950" b="1" i="0">
                <a:solidFill>
                  <a:srgbClr val="059669"/>
                </a:solidFill>
                <a:latin typeface="Outfit"/>
              </a:rPr>
              <a:t>Modern Trade (MT)</a:t>
            </a:r>
          </a:p>
        </p:txBody>
      </p:sp>
      <p:sp>
        <p:nvSpPr>
          <p:cNvPr id="38" name="TextBox 37"/>
          <p:cNvSpPr txBox="1"/>
          <p:nvPr/>
        </p:nvSpPr>
        <p:spPr>
          <a:xfrm>
            <a:off x="1600200" y="3090672"/>
            <a:ext cx="4114800" cy="365760"/>
          </a:xfrm>
          <a:prstGeom prst="rect">
            <a:avLst/>
          </a:prstGeom>
          <a:noFill/>
        </p:spPr>
        <p:txBody>
          <a:bodyPr wrap="square" lIns="36576" rIns="36576" tIns="18288" bIns="18288">
            <a:spAutoFit/>
          </a:bodyPr>
          <a:lstStyle/>
          <a:p>
            <a:pPr algn="l"/>
            <a:r>
              <a:rPr sz="780" b="0" i="0">
                <a:solidFill>
                  <a:srgbClr val="0F172A"/>
                </a:solidFill>
                <a:latin typeface="Inter"/>
              </a:rPr>
              <a:t>Reliance Trends, Shoppers Stop. Beauty advisor training. In-store SPF consultation zones.</a:t>
            </a:r>
          </a:p>
        </p:txBody>
      </p:sp>
      <p:sp>
        <p:nvSpPr>
          <p:cNvPr id="39" name="Rounded Rectangle 38"/>
          <p:cNvSpPr/>
          <p:nvPr/>
        </p:nvSpPr>
        <p:spPr>
          <a:xfrm>
            <a:off x="457200" y="3566160"/>
            <a:ext cx="5486400" cy="658368"/>
          </a:xfrm>
          <a:prstGeom prst="roundRect">
            <a:avLst/>
          </a:prstGeom>
          <a:solidFill>
            <a:srgbClr val="F5F3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566160"/>
            <a:ext cx="73152"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40080" y="3639312"/>
            <a:ext cx="822960"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675888"/>
            <a:ext cx="822960" cy="457200"/>
          </a:xfrm>
          <a:prstGeom prst="rect">
            <a:avLst/>
          </a:prstGeom>
          <a:noFill/>
        </p:spPr>
        <p:txBody>
          <a:bodyPr wrap="square" lIns="36576" rIns="36576" tIns="18288" bIns="18288">
            <a:spAutoFit/>
          </a:bodyPr>
          <a:lstStyle/>
          <a:p>
            <a:pPr algn="ctr"/>
            <a:r>
              <a:rPr sz="700" b="1" i="0">
                <a:solidFill>
                  <a:srgbClr val="FFFFFF"/>
                </a:solidFill>
                <a:latin typeface="Outfit"/>
              </a:rPr>
              <a:t>PHASE 2
QCOMM</a:t>
            </a:r>
          </a:p>
        </p:txBody>
      </p:sp>
      <p:sp>
        <p:nvSpPr>
          <p:cNvPr id="43" name="TextBox 42"/>
          <p:cNvSpPr txBox="1"/>
          <p:nvPr/>
        </p:nvSpPr>
        <p:spPr>
          <a:xfrm>
            <a:off x="1600200" y="3639312"/>
            <a:ext cx="4114800" cy="182880"/>
          </a:xfrm>
          <a:prstGeom prst="rect">
            <a:avLst/>
          </a:prstGeom>
          <a:noFill/>
        </p:spPr>
        <p:txBody>
          <a:bodyPr wrap="square" lIns="36576" rIns="36576" tIns="18288" bIns="18288">
            <a:spAutoFit/>
          </a:bodyPr>
          <a:lstStyle/>
          <a:p>
            <a:pPr algn="l"/>
            <a:r>
              <a:rPr sz="950" b="1" i="0">
                <a:solidFill>
                  <a:srgbClr val="7C3AED"/>
                </a:solidFill>
                <a:latin typeface="Outfit"/>
              </a:rPr>
              <a:t>Quick Commerce</a:t>
            </a:r>
          </a:p>
        </p:txBody>
      </p:sp>
      <p:sp>
        <p:nvSpPr>
          <p:cNvPr id="44" name="TextBox 43"/>
          <p:cNvSpPr txBox="1"/>
          <p:nvPr/>
        </p:nvSpPr>
        <p:spPr>
          <a:xfrm>
            <a:off x="1600200" y="3822192"/>
            <a:ext cx="4114800" cy="365760"/>
          </a:xfrm>
          <a:prstGeom prst="rect">
            <a:avLst/>
          </a:prstGeom>
          <a:noFill/>
        </p:spPr>
        <p:txBody>
          <a:bodyPr wrap="square" lIns="36576" rIns="36576" tIns="18288" bIns="18288">
            <a:spAutoFit/>
          </a:bodyPr>
          <a:lstStyle/>
          <a:p>
            <a:pPr algn="l"/>
            <a:r>
              <a:rPr sz="780" b="0" i="0">
                <a:solidFill>
                  <a:srgbClr val="0F172A"/>
                </a:solidFill>
                <a:latin typeface="Inter"/>
              </a:rPr>
              <a:t>Blinkit, Swiggy Instamart, Zepto. 30-min delivery = impulse repurchase for daily SPF users.</a:t>
            </a:r>
          </a:p>
        </p:txBody>
      </p:sp>
      <p:sp>
        <p:nvSpPr>
          <p:cNvPr id="45" name="Rounded Rectangle 44"/>
          <p:cNvSpPr/>
          <p:nvPr/>
        </p:nvSpPr>
        <p:spPr>
          <a:xfrm>
            <a:off x="457200" y="4297680"/>
            <a:ext cx="5486400" cy="658368"/>
          </a:xfrm>
          <a:prstGeom prst="roundRect">
            <a:avLst/>
          </a:prstGeom>
          <a:solidFill>
            <a:srgbClr val="FDF2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297680"/>
            <a:ext cx="73152" cy="658368"/>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40080" y="4370832"/>
            <a:ext cx="822960" cy="512064"/>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407408"/>
            <a:ext cx="822960" cy="457200"/>
          </a:xfrm>
          <a:prstGeom prst="rect">
            <a:avLst/>
          </a:prstGeom>
          <a:noFill/>
        </p:spPr>
        <p:txBody>
          <a:bodyPr wrap="square" lIns="36576" rIns="36576" tIns="18288" bIns="18288">
            <a:spAutoFit/>
          </a:bodyPr>
          <a:lstStyle/>
          <a:p>
            <a:pPr algn="ctr"/>
            <a:r>
              <a:rPr sz="700" b="1" i="0">
                <a:solidFill>
                  <a:srgbClr val="FFFFFF"/>
                </a:solidFill>
                <a:latin typeface="Outfit"/>
              </a:rPr>
              <a:t>PHASE 3
TRAVEL</a:t>
            </a:r>
          </a:p>
        </p:txBody>
      </p:sp>
      <p:sp>
        <p:nvSpPr>
          <p:cNvPr id="49" name="TextBox 48"/>
          <p:cNvSpPr txBox="1"/>
          <p:nvPr/>
        </p:nvSpPr>
        <p:spPr>
          <a:xfrm>
            <a:off x="1600200" y="4370832"/>
            <a:ext cx="4114800" cy="182880"/>
          </a:xfrm>
          <a:prstGeom prst="rect">
            <a:avLst/>
          </a:prstGeom>
          <a:noFill/>
        </p:spPr>
        <p:txBody>
          <a:bodyPr wrap="square" lIns="36576" rIns="36576" tIns="18288" bIns="18288">
            <a:spAutoFit/>
          </a:bodyPr>
          <a:lstStyle/>
          <a:p>
            <a:pPr algn="l"/>
            <a:r>
              <a:rPr sz="950" b="1" i="0">
                <a:solidFill>
                  <a:srgbClr val="DB2777"/>
                </a:solidFill>
                <a:latin typeface="Outfit"/>
              </a:rPr>
              <a:t>Travel Retail &amp; Pharmacy</a:t>
            </a:r>
          </a:p>
        </p:txBody>
      </p:sp>
      <p:sp>
        <p:nvSpPr>
          <p:cNvPr id="50" name="TextBox 49"/>
          <p:cNvSpPr txBox="1"/>
          <p:nvPr/>
        </p:nvSpPr>
        <p:spPr>
          <a:xfrm>
            <a:off x="1600200" y="4553712"/>
            <a:ext cx="4114800" cy="365760"/>
          </a:xfrm>
          <a:prstGeom prst="rect">
            <a:avLst/>
          </a:prstGeom>
          <a:noFill/>
        </p:spPr>
        <p:txBody>
          <a:bodyPr wrap="square" lIns="36576" rIns="36576" tIns="18288" bIns="18288">
            <a:spAutoFit/>
          </a:bodyPr>
          <a:lstStyle/>
          <a:p>
            <a:pPr algn="l"/>
            <a:r>
              <a:rPr sz="780" b="0" i="0">
                <a:solidFill>
                  <a:srgbClr val="0F172A"/>
                </a:solidFill>
                <a:latin typeface="Inter"/>
              </a:rPr>
              <a:t>Airport duty-free, Apollo, MedPlus. Premium on-the-go positioning. International tourist upsell.</a:t>
            </a:r>
          </a:p>
        </p:txBody>
      </p:sp>
      <p:sp>
        <p:nvSpPr>
          <p:cNvPr id="51" name="Rounded Rectangle 50"/>
          <p:cNvSpPr/>
          <p:nvPr/>
        </p:nvSpPr>
        <p:spPr>
          <a:xfrm>
            <a:off x="6217920" y="1371600"/>
            <a:ext cx="5486400" cy="1828800"/>
          </a:xfrm>
          <a:prstGeom prst="roundRect">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0" y="1463040"/>
            <a:ext cx="5120640" cy="228600"/>
          </a:xfrm>
          <a:prstGeom prst="rect">
            <a:avLst/>
          </a:prstGeom>
          <a:noFill/>
        </p:spPr>
        <p:txBody>
          <a:bodyPr wrap="square" lIns="36576" rIns="36576" tIns="18288" bIns="18288">
            <a:spAutoFit/>
          </a:bodyPr>
          <a:lstStyle/>
          <a:p>
            <a:pPr algn="l"/>
            <a:r>
              <a:rPr sz="950" b="1" i="0">
                <a:solidFill>
                  <a:srgbClr val="EA580C"/>
                </a:solidFill>
                <a:latin typeface="Outfit"/>
              </a:rPr>
              <a:t>HCP DERMATOLOGIST PROGRAM</a:t>
            </a:r>
          </a:p>
        </p:txBody>
      </p:sp>
      <p:sp>
        <p:nvSpPr>
          <p:cNvPr id="53" name="Rounded Rectangle 52"/>
          <p:cNvSpPr/>
          <p:nvPr/>
        </p:nvSpPr>
        <p:spPr>
          <a:xfrm>
            <a:off x="6400800" y="1737360"/>
            <a:ext cx="2377440" cy="4572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92240" y="1783080"/>
            <a:ext cx="731520" cy="365760"/>
          </a:xfrm>
          <a:prstGeom prst="rect">
            <a:avLst/>
          </a:prstGeom>
          <a:noFill/>
        </p:spPr>
        <p:txBody>
          <a:bodyPr wrap="square" lIns="36576" rIns="36576" tIns="18288" bIns="18288">
            <a:spAutoFit/>
          </a:bodyPr>
          <a:lstStyle/>
          <a:p>
            <a:pPr algn="l"/>
            <a:r>
              <a:rPr sz="1200" b="1" i="0">
                <a:solidFill>
                  <a:srgbClr val="EA580C"/>
                </a:solidFill>
                <a:latin typeface="Outfit"/>
              </a:rPr>
              <a:t>5,000</a:t>
            </a:r>
          </a:p>
        </p:txBody>
      </p:sp>
      <p:sp>
        <p:nvSpPr>
          <p:cNvPr id="55" name="TextBox 54"/>
          <p:cNvSpPr txBox="1"/>
          <p:nvPr/>
        </p:nvSpPr>
        <p:spPr>
          <a:xfrm>
            <a:off x="7269480" y="1810512"/>
            <a:ext cx="1371600" cy="320040"/>
          </a:xfrm>
          <a:prstGeom prst="rect">
            <a:avLst/>
          </a:prstGeom>
          <a:noFill/>
        </p:spPr>
        <p:txBody>
          <a:bodyPr wrap="square" lIns="36576" rIns="36576" tIns="18288" bIns="18288">
            <a:spAutoFit/>
          </a:bodyPr>
          <a:lstStyle/>
          <a:p>
            <a:pPr algn="l"/>
            <a:r>
              <a:rPr sz="750" b="0" i="0">
                <a:solidFill>
                  <a:srgbClr val="64748B"/>
                </a:solidFill>
                <a:latin typeface="Inter"/>
              </a:rPr>
              <a:t>Derms Sampled</a:t>
            </a:r>
          </a:p>
        </p:txBody>
      </p:sp>
      <p:sp>
        <p:nvSpPr>
          <p:cNvPr id="56" name="Rounded Rectangle 55"/>
          <p:cNvSpPr/>
          <p:nvPr/>
        </p:nvSpPr>
        <p:spPr>
          <a:xfrm>
            <a:off x="8961120" y="1737360"/>
            <a:ext cx="2377440" cy="4572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52560" y="1783080"/>
            <a:ext cx="731520" cy="365760"/>
          </a:xfrm>
          <a:prstGeom prst="rect">
            <a:avLst/>
          </a:prstGeom>
          <a:noFill/>
        </p:spPr>
        <p:txBody>
          <a:bodyPr wrap="square" lIns="36576" rIns="36576" tIns="18288" bIns="18288">
            <a:spAutoFit/>
          </a:bodyPr>
          <a:lstStyle/>
          <a:p>
            <a:pPr algn="l"/>
            <a:r>
              <a:rPr sz="1200" b="1" i="0">
                <a:solidFill>
                  <a:srgbClr val="EA580C"/>
                </a:solidFill>
                <a:latin typeface="Outfit"/>
              </a:rPr>
              <a:t>1 Lakh</a:t>
            </a:r>
          </a:p>
        </p:txBody>
      </p:sp>
      <p:sp>
        <p:nvSpPr>
          <p:cNvPr id="58" name="TextBox 57"/>
          <p:cNvSpPr txBox="1"/>
          <p:nvPr/>
        </p:nvSpPr>
        <p:spPr>
          <a:xfrm>
            <a:off x="9829800" y="1810512"/>
            <a:ext cx="1371600" cy="320040"/>
          </a:xfrm>
          <a:prstGeom prst="rect">
            <a:avLst/>
          </a:prstGeom>
          <a:noFill/>
        </p:spPr>
        <p:txBody>
          <a:bodyPr wrap="square" lIns="36576" rIns="36576" tIns="18288" bIns="18288">
            <a:spAutoFit/>
          </a:bodyPr>
          <a:lstStyle/>
          <a:p>
            <a:pPr algn="l"/>
            <a:r>
              <a:rPr sz="750" b="0" i="0">
                <a:solidFill>
                  <a:srgbClr val="64748B"/>
                </a:solidFill>
                <a:latin typeface="Inter"/>
              </a:rPr>
              <a:t>Sample Units</a:t>
            </a:r>
          </a:p>
        </p:txBody>
      </p:sp>
      <p:sp>
        <p:nvSpPr>
          <p:cNvPr id="59" name="Rounded Rectangle 58"/>
          <p:cNvSpPr/>
          <p:nvPr/>
        </p:nvSpPr>
        <p:spPr>
          <a:xfrm>
            <a:off x="6400800" y="2249424"/>
            <a:ext cx="2377440" cy="4572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2295144"/>
            <a:ext cx="731520" cy="365760"/>
          </a:xfrm>
          <a:prstGeom prst="rect">
            <a:avLst/>
          </a:prstGeom>
          <a:noFill/>
        </p:spPr>
        <p:txBody>
          <a:bodyPr wrap="square" lIns="36576" rIns="36576" tIns="18288" bIns="18288">
            <a:spAutoFit/>
          </a:bodyPr>
          <a:lstStyle/>
          <a:p>
            <a:pPr algn="l"/>
            <a:r>
              <a:rPr sz="1200" b="1" i="0">
                <a:solidFill>
                  <a:srgbClr val="EA580C"/>
                </a:solidFill>
                <a:latin typeface="Outfit"/>
              </a:rPr>
              <a:t>15%</a:t>
            </a:r>
          </a:p>
        </p:txBody>
      </p:sp>
      <p:sp>
        <p:nvSpPr>
          <p:cNvPr id="61" name="TextBox 60"/>
          <p:cNvSpPr txBox="1"/>
          <p:nvPr/>
        </p:nvSpPr>
        <p:spPr>
          <a:xfrm>
            <a:off x="7269480" y="2322576"/>
            <a:ext cx="1371600" cy="320040"/>
          </a:xfrm>
          <a:prstGeom prst="rect">
            <a:avLst/>
          </a:prstGeom>
          <a:noFill/>
        </p:spPr>
        <p:txBody>
          <a:bodyPr wrap="square" lIns="36576" rIns="36576" tIns="18288" bIns="18288">
            <a:spAutoFit/>
          </a:bodyPr>
          <a:lstStyle/>
          <a:p>
            <a:pPr algn="l"/>
            <a:r>
              <a:rPr sz="750" b="0" i="0">
                <a:solidFill>
                  <a:srgbClr val="64748B"/>
                </a:solidFill>
                <a:latin typeface="Inter"/>
              </a:rPr>
              <a:t>Rx Recommendation</a:t>
            </a:r>
          </a:p>
        </p:txBody>
      </p:sp>
      <p:sp>
        <p:nvSpPr>
          <p:cNvPr id="62" name="Rounded Rectangle 61"/>
          <p:cNvSpPr/>
          <p:nvPr/>
        </p:nvSpPr>
        <p:spPr>
          <a:xfrm>
            <a:off x="8961120" y="2249424"/>
            <a:ext cx="2377440" cy="4572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0" y="2295144"/>
            <a:ext cx="731520" cy="365760"/>
          </a:xfrm>
          <a:prstGeom prst="rect">
            <a:avLst/>
          </a:prstGeom>
          <a:noFill/>
        </p:spPr>
        <p:txBody>
          <a:bodyPr wrap="square" lIns="36576" rIns="36576" tIns="18288" bIns="18288">
            <a:spAutoFit/>
          </a:bodyPr>
          <a:lstStyle/>
          <a:p>
            <a:pPr algn="l"/>
            <a:r>
              <a:rPr sz="1200" b="1" i="0">
                <a:solidFill>
                  <a:srgbClr val="EA580C"/>
                </a:solidFill>
                <a:latin typeface="Outfit"/>
              </a:rPr>
              <a:t>2×</a:t>
            </a:r>
          </a:p>
        </p:txBody>
      </p:sp>
      <p:sp>
        <p:nvSpPr>
          <p:cNvPr id="64" name="TextBox 63"/>
          <p:cNvSpPr txBox="1"/>
          <p:nvPr/>
        </p:nvSpPr>
        <p:spPr>
          <a:xfrm>
            <a:off x="9829800" y="2322576"/>
            <a:ext cx="1371600" cy="320040"/>
          </a:xfrm>
          <a:prstGeom prst="rect">
            <a:avLst/>
          </a:prstGeom>
          <a:noFill/>
        </p:spPr>
        <p:txBody>
          <a:bodyPr wrap="square" lIns="36576" rIns="36576" tIns="18288" bIns="18288">
            <a:spAutoFit/>
          </a:bodyPr>
          <a:lstStyle/>
          <a:p>
            <a:pPr algn="l"/>
            <a:r>
              <a:rPr sz="750" b="0" i="0">
                <a:solidFill>
                  <a:srgbClr val="64748B"/>
                </a:solidFill>
                <a:latin typeface="Inter"/>
              </a:rPr>
              <a:t>Higher Conv. [6]</a:t>
            </a:r>
          </a:p>
        </p:txBody>
      </p:sp>
      <p:sp>
        <p:nvSpPr>
          <p:cNvPr id="65" name="Rounded Rectangle 64"/>
          <p:cNvSpPr/>
          <p:nvPr/>
        </p:nvSpPr>
        <p:spPr>
          <a:xfrm>
            <a:off x="6217920" y="3337560"/>
            <a:ext cx="5486400" cy="1600200"/>
          </a:xfrm>
          <a:prstGeom prst="roundRect">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00800" y="3429000"/>
            <a:ext cx="5120640" cy="201168"/>
          </a:xfrm>
          <a:prstGeom prst="rect">
            <a:avLst/>
          </a:prstGeom>
          <a:noFill/>
        </p:spPr>
        <p:txBody>
          <a:bodyPr wrap="square" lIns="36576" rIns="36576" tIns="18288" bIns="18288">
            <a:spAutoFit/>
          </a:bodyPr>
          <a:lstStyle/>
          <a:p>
            <a:pPr algn="l"/>
            <a:r>
              <a:rPr sz="950" b="1" i="0">
                <a:solidFill>
                  <a:srgbClr val="0284C7"/>
                </a:solidFill>
                <a:latin typeface="Outfit"/>
              </a:rPr>
              <a:t>BRAND COMMUNICATION: "Derm-Approved. India-Ready."</a:t>
            </a:r>
          </a:p>
        </p:txBody>
      </p:sp>
      <p:sp>
        <p:nvSpPr>
          <p:cNvPr id="67" name="TextBox 66"/>
          <p:cNvSpPr txBox="1"/>
          <p:nvPr/>
        </p:nvSpPr>
        <p:spPr>
          <a:xfrm>
            <a:off x="6400800" y="3657600"/>
            <a:ext cx="1371600" cy="182880"/>
          </a:xfrm>
          <a:prstGeom prst="rect">
            <a:avLst/>
          </a:prstGeom>
          <a:noFill/>
        </p:spPr>
        <p:txBody>
          <a:bodyPr wrap="square" lIns="36576" rIns="36576" tIns="18288" bIns="18288">
            <a:spAutoFit/>
          </a:bodyPr>
          <a:lstStyle/>
          <a:p>
            <a:pPr algn="l"/>
            <a:r>
              <a:rPr sz="819" b="1" i="0">
                <a:solidFill>
                  <a:srgbClr val="0284C7"/>
                </a:solidFill>
                <a:latin typeface="Outfit"/>
              </a:rPr>
              <a:t>D2C Digital:</a:t>
            </a:r>
          </a:p>
        </p:txBody>
      </p:sp>
      <p:sp>
        <p:nvSpPr>
          <p:cNvPr id="68" name="TextBox 67"/>
          <p:cNvSpPr txBox="1"/>
          <p:nvPr/>
        </p:nvSpPr>
        <p:spPr>
          <a:xfrm>
            <a:off x="7589520" y="3657600"/>
            <a:ext cx="3931920" cy="182880"/>
          </a:xfrm>
          <a:prstGeom prst="rect">
            <a:avLst/>
          </a:prstGeom>
          <a:noFill/>
        </p:spPr>
        <p:txBody>
          <a:bodyPr wrap="square" lIns="36576" rIns="36576" tIns="18288" bIns="18288">
            <a:spAutoFit/>
          </a:bodyPr>
          <a:lstStyle/>
          <a:p>
            <a:pPr algn="l"/>
            <a:r>
              <a:rPr sz="819" b="0" i="0">
                <a:solidFill>
                  <a:srgbClr val="0F172A"/>
                </a:solidFill>
                <a:latin typeface="Inter"/>
              </a:rPr>
              <a:t>SunMatch AI: skin-tone-to-product quiz funnel</a:t>
            </a:r>
          </a:p>
        </p:txBody>
      </p:sp>
      <p:sp>
        <p:nvSpPr>
          <p:cNvPr id="69" name="TextBox 68"/>
          <p:cNvSpPr txBox="1"/>
          <p:nvPr/>
        </p:nvSpPr>
        <p:spPr>
          <a:xfrm>
            <a:off x="6400800" y="4041648"/>
            <a:ext cx="1371600" cy="182880"/>
          </a:xfrm>
          <a:prstGeom prst="rect">
            <a:avLst/>
          </a:prstGeom>
          <a:noFill/>
        </p:spPr>
        <p:txBody>
          <a:bodyPr wrap="square" lIns="36576" rIns="36576" tIns="18288" bIns="18288">
            <a:spAutoFit/>
          </a:bodyPr>
          <a:lstStyle/>
          <a:p>
            <a:pPr algn="l"/>
            <a:r>
              <a:rPr sz="819" b="1" i="0">
                <a:solidFill>
                  <a:srgbClr val="0284C7"/>
                </a:solidFill>
                <a:latin typeface="Outfit"/>
              </a:rPr>
              <a:t>Influencer:</a:t>
            </a:r>
          </a:p>
        </p:txBody>
      </p:sp>
      <p:sp>
        <p:nvSpPr>
          <p:cNvPr id="70" name="TextBox 69"/>
          <p:cNvSpPr txBox="1"/>
          <p:nvPr/>
        </p:nvSpPr>
        <p:spPr>
          <a:xfrm>
            <a:off x="7589520" y="4041648"/>
            <a:ext cx="3931920" cy="182880"/>
          </a:xfrm>
          <a:prstGeom prst="rect">
            <a:avLst/>
          </a:prstGeom>
          <a:noFill/>
        </p:spPr>
        <p:txBody>
          <a:bodyPr wrap="square" lIns="36576" rIns="36576" tIns="18288" bIns="18288">
            <a:spAutoFit/>
          </a:bodyPr>
          <a:lstStyle/>
          <a:p>
            <a:pPr algn="l"/>
            <a:r>
              <a:rPr sz="819" b="0" i="0">
                <a:solidFill>
                  <a:srgbClr val="0F172A"/>
                </a:solidFill>
                <a:latin typeface="Inter"/>
              </a:rPr>
              <a:t>Dermatologist KOL micro-influencers (200K–2M reach tier)</a:t>
            </a:r>
          </a:p>
        </p:txBody>
      </p:sp>
      <p:sp>
        <p:nvSpPr>
          <p:cNvPr id="71" name="TextBox 70"/>
          <p:cNvSpPr txBox="1"/>
          <p:nvPr/>
        </p:nvSpPr>
        <p:spPr>
          <a:xfrm>
            <a:off x="6400800" y="4425696"/>
            <a:ext cx="1371600" cy="182880"/>
          </a:xfrm>
          <a:prstGeom prst="rect">
            <a:avLst/>
          </a:prstGeom>
          <a:noFill/>
        </p:spPr>
        <p:txBody>
          <a:bodyPr wrap="square" lIns="36576" rIns="36576" tIns="18288" bIns="18288">
            <a:spAutoFit/>
          </a:bodyPr>
          <a:lstStyle/>
          <a:p>
            <a:pPr algn="l"/>
            <a:r>
              <a:rPr sz="819" b="1" i="0">
                <a:solidFill>
                  <a:srgbClr val="0284C7"/>
                </a:solidFill>
                <a:latin typeface="Outfit"/>
              </a:rPr>
              <a:t>PR &amp; Media:</a:t>
            </a:r>
          </a:p>
        </p:txBody>
      </p:sp>
      <p:sp>
        <p:nvSpPr>
          <p:cNvPr id="72" name="TextBox 71"/>
          <p:cNvSpPr txBox="1"/>
          <p:nvPr/>
        </p:nvSpPr>
        <p:spPr>
          <a:xfrm>
            <a:off x="7589520" y="4425696"/>
            <a:ext cx="3931920" cy="182880"/>
          </a:xfrm>
          <a:prstGeom prst="rect">
            <a:avLst/>
          </a:prstGeom>
          <a:noFill/>
        </p:spPr>
        <p:txBody>
          <a:bodyPr wrap="square" lIns="36576" rIns="36576" tIns="18288" bIns="18288">
            <a:spAutoFit/>
          </a:bodyPr>
          <a:lstStyle/>
          <a:p>
            <a:pPr algn="l"/>
            <a:r>
              <a:rPr sz="819" b="0" i="0">
                <a:solidFill>
                  <a:srgbClr val="0F172A"/>
                </a:solidFill>
                <a:latin typeface="Inter"/>
              </a:rPr>
              <a:t>'India SPF Gap Study' whitepaper — media coverage driver</a:t>
            </a:r>
          </a:p>
        </p:txBody>
      </p:sp>
      <p:sp>
        <p:nvSpPr>
          <p:cNvPr id="73" name="Rounded Rectangle 72"/>
          <p:cNvSpPr/>
          <p:nvPr/>
        </p:nvSpPr>
        <p:spPr>
          <a:xfrm>
            <a:off x="731520" y="5166360"/>
            <a:ext cx="10725912" cy="1188720"/>
          </a:xfrm>
          <a:prstGeom prst="roundRect">
            <a:avLst/>
          </a:prstGeom>
          <a:solidFill>
            <a:srgbClr val="F5F3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14400" y="5257800"/>
            <a:ext cx="10360152" cy="1005840"/>
          </a:xfrm>
          <a:prstGeom prst="rect">
            <a:avLst/>
          </a:prstGeom>
          <a:noFill/>
        </p:spPr>
        <p:txBody>
          <a:bodyPr wrap="square" lIns="36576" rIns="36576" tIns="18288" bIns="18288">
            <a:spAutoFit/>
          </a:bodyPr>
          <a:lstStyle/>
          <a:p>
            <a:pPr algn="l"/>
            <a:r>
              <a:rPr sz="950" b="0" i="0">
                <a:solidFill>
                  <a:srgbClr val="0F172A"/>
                </a:solidFill>
                <a:latin typeface="Inter"/>
              </a:rPr>
              <a:t>Nykaa &amp; Q-Commerce Strategy: Phase 1 launches exclusive to Nykaa &amp; D2C skin-quiz tool to drive high-intent trial. Phase 2 leverages Blinkit/Zepto to capture immediate re-orders. Beauty advisor training programs will run at 200 high-footfall Modern Trade store counters in Metro cities.</a:t>
            </a:r>
          </a:p>
        </p:txBody>
      </p:sp>
      <p:sp>
        <p:nvSpPr>
          <p:cNvPr id="75" name="Rectangle 74"/>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Source: [6] Nielsen HCP Influence Study India 2023 — dermatologist-recommended brands show 2.1× higher purchase conversion</a:t>
            </a:r>
          </a:p>
        </p:txBody>
      </p:sp>
      <p:sp>
        <p:nvSpPr>
          <p:cNvPr id="77" name="TextBox 76"/>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9 of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Implementation: 5-Year Phased Execution Roadmap</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10 · IMPLEMENTATION</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3657600" cy="731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1536192"/>
            <a:ext cx="3328416" cy="320040"/>
          </a:xfrm>
          <a:prstGeom prst="rect">
            <a:avLst/>
          </a:prstGeom>
          <a:noFill/>
        </p:spPr>
        <p:txBody>
          <a:bodyPr wrap="square" lIns="36576" rIns="36576" tIns="18288" bIns="18288">
            <a:spAutoFit/>
          </a:bodyPr>
          <a:lstStyle/>
          <a:p>
            <a:pPr algn="l"/>
            <a:r>
              <a:rPr sz="1100" b="1" i="0">
                <a:solidFill>
                  <a:srgbClr val="EA580C"/>
                </a:solidFill>
                <a:latin typeface="Outfit"/>
              </a:rPr>
              <a:t>PHASE 1 · YEAR 1 (2025)</a:t>
            </a:r>
          </a:p>
        </p:txBody>
      </p:sp>
      <p:sp>
        <p:nvSpPr>
          <p:cNvPr id="24" name="TextBox 23"/>
          <p:cNvSpPr txBox="1"/>
          <p:nvPr/>
        </p:nvSpPr>
        <p:spPr>
          <a:xfrm>
            <a:off x="621792" y="192024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Launch Daily Defense Gel ₹449</a:t>
            </a:r>
          </a:p>
          <a:p>
            <a:pPr>
              <a:spcAft>
                <a:spcPts val="400"/>
              </a:spcAft>
              <a:defRPr sz="950">
                <a:solidFill>
                  <a:srgbClr val="0F172A"/>
                </a:solidFill>
                <a:latin typeface="Inter"/>
              </a:defRPr>
            </a:pPr>
            <a:r>
              <a:t>• Launch Biluma UV Shield ₹549</a:t>
            </a:r>
          </a:p>
          <a:p>
            <a:pPr>
              <a:spcAft>
                <a:spcPts val="400"/>
              </a:spcAft>
              <a:defRPr sz="950">
                <a:solidFill>
                  <a:srgbClr val="0F172A"/>
                </a:solidFill>
                <a:latin typeface="Inter"/>
              </a:defRPr>
            </a:pPr>
            <a:r>
              <a:t>• HCP seeding — 5,000 derms</a:t>
            </a:r>
          </a:p>
          <a:p>
            <a:pPr>
              <a:spcAft>
                <a:spcPts val="400"/>
              </a:spcAft>
              <a:defRPr sz="950">
                <a:solidFill>
                  <a:srgbClr val="0F172A"/>
                </a:solidFill>
                <a:latin typeface="Inter"/>
              </a:defRPr>
            </a:pPr>
            <a:r>
              <a:t>• Nykaa Derm-Approved badge live</a:t>
            </a:r>
          </a:p>
          <a:p>
            <a:pPr>
              <a:spcAft>
                <a:spcPts val="400"/>
              </a:spcAft>
              <a:defRPr sz="950">
                <a:solidFill>
                  <a:srgbClr val="0F172A"/>
                </a:solidFill>
                <a:latin typeface="Inter"/>
              </a:defRPr>
            </a:pPr>
            <a:r>
              <a:t>• Blinkit/Zepto Q-commerce pilot</a:t>
            </a:r>
          </a:p>
          <a:p>
            <a:pPr>
              <a:spcAft>
                <a:spcPts val="400"/>
              </a:spcAft>
              <a:defRPr sz="950">
                <a:solidFill>
                  <a:srgbClr val="0F172A"/>
                </a:solidFill>
                <a:latin typeface="Inter"/>
              </a:defRPr>
            </a:pPr>
            <a:r>
              <a:t>🎯 Target: ₹40 Cr | 500K units sold</a:t>
            </a:r>
          </a:p>
        </p:txBody>
      </p:sp>
      <p:sp>
        <p:nvSpPr>
          <p:cNvPr id="25" name="Rounded Rectangle 24"/>
          <p:cNvSpPr/>
          <p:nvPr/>
        </p:nvSpPr>
        <p:spPr>
          <a:xfrm>
            <a:off x="4370832" y="137160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70832" y="1371600"/>
            <a:ext cx="365760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5424" y="1536192"/>
            <a:ext cx="3328416" cy="320040"/>
          </a:xfrm>
          <a:prstGeom prst="rect">
            <a:avLst/>
          </a:prstGeom>
          <a:noFill/>
        </p:spPr>
        <p:txBody>
          <a:bodyPr wrap="square" lIns="36576" rIns="36576" tIns="18288" bIns="18288">
            <a:spAutoFit/>
          </a:bodyPr>
          <a:lstStyle/>
          <a:p>
            <a:pPr algn="l"/>
            <a:r>
              <a:rPr sz="1100" b="1" i="0">
                <a:solidFill>
                  <a:srgbClr val="0284C7"/>
                </a:solidFill>
                <a:latin typeface="Outfit"/>
              </a:rPr>
              <a:t>PHASE 2 · YEAR 2–3 (2026–27)</a:t>
            </a:r>
          </a:p>
        </p:txBody>
      </p:sp>
      <p:sp>
        <p:nvSpPr>
          <p:cNvPr id="28" name="TextBox 27"/>
          <p:cNvSpPr txBox="1"/>
          <p:nvPr/>
        </p:nvSpPr>
        <p:spPr>
          <a:xfrm>
            <a:off x="4535424" y="192024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Launch Touch-Up Mist ₹599</a:t>
            </a:r>
          </a:p>
          <a:p>
            <a:pPr>
              <a:spcAft>
                <a:spcPts val="400"/>
              </a:spcAft>
              <a:defRPr sz="950">
                <a:solidFill>
                  <a:srgbClr val="0F172A"/>
                </a:solidFill>
                <a:latin typeface="Inter"/>
              </a:defRPr>
            </a:pPr>
            <a:r>
              <a:t>• Launch Tinted Glow SPF50 ₹849</a:t>
            </a:r>
          </a:p>
          <a:p>
            <a:pPr>
              <a:spcAft>
                <a:spcPts val="400"/>
              </a:spcAft>
              <a:defRPr sz="950">
                <a:solidFill>
                  <a:srgbClr val="0F172A"/>
                </a:solidFill>
                <a:latin typeface="Inter"/>
              </a:defRPr>
            </a:pPr>
            <a:r>
              <a:t>• MT expansion: Reliance, Shoppers</a:t>
            </a:r>
          </a:p>
          <a:p>
            <a:pPr>
              <a:spcAft>
                <a:spcPts val="400"/>
              </a:spcAft>
              <a:defRPr sz="950">
                <a:solidFill>
                  <a:srgbClr val="0F172A"/>
                </a:solidFill>
                <a:latin typeface="Inter"/>
              </a:defRPr>
            </a:pPr>
            <a:r>
              <a:t>• Launch Age Defense Serum ₹999</a:t>
            </a:r>
          </a:p>
          <a:p>
            <a:pPr>
              <a:spcAft>
                <a:spcPts val="400"/>
              </a:spcAft>
              <a:defRPr sz="950">
                <a:solidFill>
                  <a:srgbClr val="0F172A"/>
                </a:solidFill>
                <a:latin typeface="Inter"/>
              </a:defRPr>
            </a:pPr>
            <a:r>
              <a:t>• Launch SunMatch AI digital quiz</a:t>
            </a:r>
          </a:p>
          <a:p>
            <a:pPr>
              <a:spcAft>
                <a:spcPts val="400"/>
              </a:spcAft>
              <a:defRPr sz="950">
                <a:solidFill>
                  <a:srgbClr val="0F172A"/>
                </a:solidFill>
                <a:latin typeface="Inter"/>
              </a:defRPr>
            </a:pPr>
            <a:r>
              <a:t>🎯 Target: ₹140 Cr Y3 | 15% share</a:t>
            </a:r>
          </a:p>
        </p:txBody>
      </p:sp>
      <p:sp>
        <p:nvSpPr>
          <p:cNvPr id="29" name="Rounded Rectangle 28"/>
          <p:cNvSpPr/>
          <p:nvPr/>
        </p:nvSpPr>
        <p:spPr>
          <a:xfrm>
            <a:off x="8284464" y="1371600"/>
            <a:ext cx="3657600" cy="2651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84464" y="1371600"/>
            <a:ext cx="3657600"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49056" y="1536192"/>
            <a:ext cx="3328416" cy="320040"/>
          </a:xfrm>
          <a:prstGeom prst="rect">
            <a:avLst/>
          </a:prstGeom>
          <a:noFill/>
        </p:spPr>
        <p:txBody>
          <a:bodyPr wrap="square" lIns="36576" rIns="36576" tIns="18288" bIns="18288">
            <a:spAutoFit/>
          </a:bodyPr>
          <a:lstStyle/>
          <a:p>
            <a:pPr algn="l"/>
            <a:r>
              <a:rPr sz="1100" b="1" i="0">
                <a:solidFill>
                  <a:srgbClr val="059669"/>
                </a:solidFill>
                <a:latin typeface="Outfit"/>
              </a:rPr>
              <a:t>PHASE 3 · YEAR 4–5 (2028–29)</a:t>
            </a:r>
          </a:p>
        </p:txBody>
      </p:sp>
      <p:sp>
        <p:nvSpPr>
          <p:cNvPr id="32" name="TextBox 31"/>
          <p:cNvSpPr txBox="1"/>
          <p:nvPr/>
        </p:nvSpPr>
        <p:spPr>
          <a:xfrm>
            <a:off x="8449056" y="1920240"/>
            <a:ext cx="3328416" cy="1920240"/>
          </a:xfrm>
          <a:prstGeom prst="rect">
            <a:avLst/>
          </a:prstGeom>
          <a:noFill/>
        </p:spPr>
        <p:txBody>
          <a:bodyPr wrap="square" lIns="0" rIns="0" tIns="0" bIns="0">
            <a:spAutoFit/>
          </a:bodyPr>
          <a:lstStyle/>
          <a:p>
            <a:pPr>
              <a:spcAft>
                <a:spcPts val="400"/>
              </a:spcAft>
              <a:defRPr sz="950">
                <a:solidFill>
                  <a:srgbClr val="0F172A"/>
                </a:solidFill>
                <a:latin typeface="Inter"/>
              </a:defRPr>
            </a:pPr>
            <a:r>
              <a:t>• 100ml loyalty packs launch</a:t>
            </a:r>
          </a:p>
          <a:p>
            <a:pPr>
              <a:spcAft>
                <a:spcPts val="400"/>
              </a:spcAft>
              <a:defRPr sz="950">
                <a:solidFill>
                  <a:srgbClr val="0F172A"/>
                </a:solidFill>
                <a:latin typeface="Inter"/>
              </a:defRPr>
            </a:pPr>
            <a:r>
              <a:t>• Export to GCC / SEA markets</a:t>
            </a:r>
          </a:p>
          <a:p>
            <a:pPr>
              <a:spcAft>
                <a:spcPts val="400"/>
              </a:spcAft>
              <a:defRPr sz="950">
                <a:solidFill>
                  <a:srgbClr val="0F172A"/>
                </a:solidFill>
                <a:latin typeface="Inter"/>
              </a:defRPr>
            </a:pPr>
            <a:r>
              <a:t>• D2C subscription auto-refills</a:t>
            </a:r>
          </a:p>
          <a:p>
            <a:pPr>
              <a:spcAft>
                <a:spcPts val="400"/>
              </a:spcAft>
              <a:defRPr sz="950">
                <a:solidFill>
                  <a:srgbClr val="0F172A"/>
                </a:solidFill>
                <a:latin typeface="Inter"/>
              </a:defRPr>
            </a:pPr>
            <a:r>
              <a:t>• Men's SPF sub-brand launch</a:t>
            </a:r>
          </a:p>
          <a:p>
            <a:pPr>
              <a:spcAft>
                <a:spcPts val="400"/>
              </a:spcAft>
              <a:defRPr sz="950">
                <a:solidFill>
                  <a:srgbClr val="0F172A"/>
                </a:solidFill>
                <a:latin typeface="Inter"/>
              </a:defRPr>
            </a:pPr>
            <a:r>
              <a:t>• Tier 2/3 city expansions (60 cities)</a:t>
            </a:r>
          </a:p>
          <a:p>
            <a:pPr>
              <a:spcAft>
                <a:spcPts val="400"/>
              </a:spcAft>
              <a:defRPr sz="950">
                <a:solidFill>
                  <a:srgbClr val="0F172A"/>
                </a:solidFill>
                <a:latin typeface="Inter"/>
              </a:defRPr>
            </a:pPr>
            <a:r>
              <a:t>🎯 Target: ₹350 Cr Y5 | 22% share</a:t>
            </a:r>
          </a:p>
        </p:txBody>
      </p:sp>
      <p:sp>
        <p:nvSpPr>
          <p:cNvPr id="33" name="Rounded Rectangle 32"/>
          <p:cNvSpPr/>
          <p:nvPr/>
        </p:nvSpPr>
        <p:spPr>
          <a:xfrm>
            <a:off x="457200" y="4160520"/>
            <a:ext cx="11274552" cy="9144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06240"/>
            <a:ext cx="3657600" cy="182880"/>
          </a:xfrm>
          <a:prstGeom prst="rect">
            <a:avLst/>
          </a:prstGeom>
          <a:noFill/>
        </p:spPr>
        <p:txBody>
          <a:bodyPr wrap="square" lIns="36576" rIns="36576" tIns="18288" bIns="18288">
            <a:spAutoFit/>
          </a:bodyPr>
          <a:lstStyle/>
          <a:p>
            <a:pPr algn="l"/>
            <a:r>
              <a:rPr sz="800" b="1" i="0">
                <a:solidFill>
                  <a:srgbClr val="94A3B8"/>
                </a:solidFill>
                <a:latin typeface="Outfit"/>
              </a:rPr>
              <a:t>GANTT MILESTONE TIMELINE</a:t>
            </a:r>
          </a:p>
        </p:txBody>
      </p:sp>
      <p:sp>
        <p:nvSpPr>
          <p:cNvPr id="35" name="TextBox 34"/>
          <p:cNvSpPr txBox="1"/>
          <p:nvPr/>
        </p:nvSpPr>
        <p:spPr>
          <a:xfrm>
            <a:off x="640080" y="4398264"/>
            <a:ext cx="2103120" cy="164592"/>
          </a:xfrm>
          <a:prstGeom prst="rect">
            <a:avLst/>
          </a:prstGeom>
          <a:noFill/>
        </p:spPr>
        <p:txBody>
          <a:bodyPr wrap="square" lIns="36576" rIns="36576" tIns="18288" bIns="18288">
            <a:spAutoFit/>
          </a:bodyPr>
          <a:lstStyle/>
          <a:p>
            <a:pPr algn="l"/>
            <a:r>
              <a:rPr sz="700" b="1" i="0">
                <a:solidFill>
                  <a:srgbClr val="0F172A"/>
                </a:solidFill>
                <a:latin typeface="Inter"/>
              </a:rPr>
              <a:t>R&amp;D / SPF Testing</a:t>
            </a:r>
          </a:p>
        </p:txBody>
      </p:sp>
      <p:sp>
        <p:nvSpPr>
          <p:cNvPr id="36" name="Rectangle 35"/>
          <p:cNvSpPr/>
          <p:nvPr/>
        </p:nvSpPr>
        <p:spPr>
          <a:xfrm>
            <a:off x="2926080" y="4434840"/>
            <a:ext cx="8412480" cy="731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46704" y="4434840"/>
            <a:ext cx="1682496" cy="731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544568"/>
            <a:ext cx="2103120" cy="164592"/>
          </a:xfrm>
          <a:prstGeom prst="rect">
            <a:avLst/>
          </a:prstGeom>
          <a:noFill/>
        </p:spPr>
        <p:txBody>
          <a:bodyPr wrap="square" lIns="36576" rIns="36576" tIns="18288" bIns="18288">
            <a:spAutoFit/>
          </a:bodyPr>
          <a:lstStyle/>
          <a:p>
            <a:pPr algn="l"/>
            <a:r>
              <a:rPr sz="700" b="1" i="0">
                <a:solidFill>
                  <a:srgbClr val="0F172A"/>
                </a:solidFill>
                <a:latin typeface="Inter"/>
              </a:rPr>
              <a:t>Derm Seeding (Clinic)</a:t>
            </a:r>
          </a:p>
        </p:txBody>
      </p:sp>
      <p:sp>
        <p:nvSpPr>
          <p:cNvPr id="39" name="Rectangle 38"/>
          <p:cNvSpPr/>
          <p:nvPr/>
        </p:nvSpPr>
        <p:spPr>
          <a:xfrm>
            <a:off x="2926080" y="4581144"/>
            <a:ext cx="8412480" cy="731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08576" y="4581144"/>
            <a:ext cx="210312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690872"/>
            <a:ext cx="2103120" cy="164592"/>
          </a:xfrm>
          <a:prstGeom prst="rect">
            <a:avLst/>
          </a:prstGeom>
          <a:noFill/>
        </p:spPr>
        <p:txBody>
          <a:bodyPr wrap="square" lIns="36576" rIns="36576" tIns="18288" bIns="18288">
            <a:spAutoFit/>
          </a:bodyPr>
          <a:lstStyle/>
          <a:p>
            <a:pPr algn="l"/>
            <a:r>
              <a:rPr sz="700" b="1" i="0">
                <a:solidFill>
                  <a:srgbClr val="0F172A"/>
                </a:solidFill>
                <a:latin typeface="Inter"/>
              </a:rPr>
              <a:t>Nykaa &amp; Online Launch</a:t>
            </a:r>
          </a:p>
        </p:txBody>
      </p:sp>
      <p:sp>
        <p:nvSpPr>
          <p:cNvPr id="42" name="Rectangle 41"/>
          <p:cNvSpPr/>
          <p:nvPr/>
        </p:nvSpPr>
        <p:spPr>
          <a:xfrm>
            <a:off x="2926080" y="4727448"/>
            <a:ext cx="8412480" cy="731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70448" y="4727448"/>
            <a:ext cx="2944368"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837176"/>
            <a:ext cx="2103120" cy="164592"/>
          </a:xfrm>
          <a:prstGeom prst="rect">
            <a:avLst/>
          </a:prstGeom>
          <a:noFill/>
        </p:spPr>
        <p:txBody>
          <a:bodyPr wrap="square" lIns="36576" rIns="36576" tIns="18288" bIns="18288">
            <a:spAutoFit/>
          </a:bodyPr>
          <a:lstStyle/>
          <a:p>
            <a:pPr algn="l"/>
            <a:r>
              <a:rPr sz="700" b="1" i="0">
                <a:solidFill>
                  <a:srgbClr val="0F172A"/>
                </a:solidFill>
                <a:latin typeface="Inter"/>
              </a:rPr>
              <a:t>Modern Trade expansion</a:t>
            </a:r>
          </a:p>
        </p:txBody>
      </p:sp>
      <p:sp>
        <p:nvSpPr>
          <p:cNvPr id="45" name="Rectangle 44"/>
          <p:cNvSpPr/>
          <p:nvPr/>
        </p:nvSpPr>
        <p:spPr>
          <a:xfrm>
            <a:off x="2926080" y="4873752"/>
            <a:ext cx="8412480" cy="731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73568" y="4873752"/>
            <a:ext cx="2523744"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31520" y="5212080"/>
            <a:ext cx="10725912" cy="1188720"/>
          </a:xfrm>
          <a:prstGeom prst="round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303520"/>
            <a:ext cx="10360152" cy="1005840"/>
          </a:xfrm>
          <a:prstGeom prst="rect">
            <a:avLst/>
          </a:prstGeom>
          <a:noFill/>
        </p:spPr>
        <p:txBody>
          <a:bodyPr wrap="square" lIns="36576" rIns="36576" tIns="18288" bIns="18288">
            <a:spAutoFit/>
          </a:bodyPr>
          <a:lstStyle/>
          <a:p>
            <a:pPr algn="l"/>
            <a:r>
              <a:rPr sz="950" b="0" i="0">
                <a:solidFill>
                  <a:srgbClr val="0F172A"/>
                </a:solidFill>
                <a:latin typeface="Inter"/>
              </a:rPr>
              <a:t>Compliance Checklist: Mandatory BIS CRS registration for all new sunscreen formulations. In-vivo SPF testing (ISO 24444) at NABL accredited labs. Stability testing at 40°C for 6 months. Global R&amp;D audit and safety clearance.</a:t>
            </a:r>
          </a:p>
        </p:txBody>
      </p:sp>
      <p:sp>
        <p:nvSpPr>
          <p:cNvPr id="49" name="Rectangle 48"/>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Implementation subject to BIS CRS registration, SPF testing (in-vivo), and Galderma validation</a:t>
            </a:r>
          </a:p>
        </p:txBody>
      </p:sp>
      <p:sp>
        <p:nvSpPr>
          <p:cNvPr id="51" name="TextBox 50"/>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10 of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Implementation: Unit Economics &amp; 5-Year Financial Model</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11 · FINANCIALS</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graphicFrame>
        <p:nvGraphicFramePr>
          <p:cNvPr id="21" name="Chart 20"/>
          <p:cNvGraphicFramePr>
            <a:graphicFrameLocks noGrp="1"/>
          </p:cNvGraphicFramePr>
          <p:nvPr/>
        </p:nvGraphicFramePr>
        <p:xfrm>
          <a:off x="457200" y="1371600"/>
          <a:ext cx="3931920" cy="2468880"/>
        </p:xfrm>
        <a:graphic>
          <a:graphicData uri="http://schemas.openxmlformats.org/drawingml/2006/chart">
            <c:chart xmlns:c="http://schemas.openxmlformats.org/drawingml/2006/chart" r:id="rId2"/>
          </a:graphicData>
        </a:graphic>
      </p:graphicFrame>
      <p:graphicFrame>
        <p:nvGraphicFramePr>
          <p:cNvPr id="22" name="Chart 21"/>
          <p:cNvGraphicFramePr>
            <a:graphicFrameLocks noGrp="1"/>
          </p:cNvGraphicFramePr>
          <p:nvPr/>
        </p:nvGraphicFramePr>
        <p:xfrm>
          <a:off x="4572000" y="1371600"/>
          <a:ext cx="3474720" cy="2468880"/>
        </p:xfrm>
        <a:graphic>
          <a:graphicData uri="http://schemas.openxmlformats.org/drawingml/2006/chart">
            <c:chart xmlns:c="http://schemas.openxmlformats.org/drawingml/2006/chart" r:id="rId3"/>
          </a:graphicData>
        </a:graphic>
      </p:graphicFrame>
      <p:sp>
        <p:nvSpPr>
          <p:cNvPr id="23" name="Rounded Rectangle 22"/>
          <p:cNvSpPr/>
          <p:nvPr/>
        </p:nvSpPr>
        <p:spPr>
          <a:xfrm>
            <a:off x="8229600" y="1371600"/>
            <a:ext cx="3502152" cy="246888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0" y="1371600"/>
            <a:ext cx="3502152" cy="219456"/>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1389888"/>
            <a:ext cx="3291840" cy="182880"/>
          </a:xfrm>
          <a:prstGeom prst="rect">
            <a:avLst/>
          </a:prstGeom>
          <a:noFill/>
        </p:spPr>
        <p:txBody>
          <a:bodyPr wrap="square" lIns="36576" rIns="36576" tIns="18288" bIns="18288">
            <a:spAutoFit/>
          </a:bodyPr>
          <a:lstStyle/>
          <a:p>
            <a:pPr algn="l"/>
            <a:r>
              <a:rPr sz="800" b="1" i="0">
                <a:solidFill>
                  <a:srgbClr val="FFFFFF"/>
                </a:solidFill>
                <a:latin typeface="Outfit"/>
              </a:rPr>
              <a:t>KEY METRICS SUMMARY</a:t>
            </a:r>
          </a:p>
        </p:txBody>
      </p:sp>
      <p:sp>
        <p:nvSpPr>
          <p:cNvPr id="26" name="TextBox 25"/>
          <p:cNvSpPr txBox="1"/>
          <p:nvPr/>
        </p:nvSpPr>
        <p:spPr>
          <a:xfrm>
            <a:off x="8366760" y="1645920"/>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Revenue Yr 1</a:t>
            </a:r>
          </a:p>
        </p:txBody>
      </p:sp>
      <p:sp>
        <p:nvSpPr>
          <p:cNvPr id="27" name="TextBox 26"/>
          <p:cNvSpPr txBox="1"/>
          <p:nvPr/>
        </p:nvSpPr>
        <p:spPr>
          <a:xfrm>
            <a:off x="10241280" y="1645920"/>
            <a:ext cx="1371600" cy="182880"/>
          </a:xfrm>
          <a:prstGeom prst="rect">
            <a:avLst/>
          </a:prstGeom>
          <a:noFill/>
        </p:spPr>
        <p:txBody>
          <a:bodyPr wrap="square" lIns="36576" rIns="36576" tIns="18288" bIns="18288">
            <a:spAutoFit/>
          </a:bodyPr>
          <a:lstStyle/>
          <a:p>
            <a:pPr algn="r"/>
            <a:r>
              <a:rPr sz="950" b="1" i="0">
                <a:solidFill>
                  <a:srgbClr val="EA580C"/>
                </a:solidFill>
                <a:latin typeface="Outfit"/>
              </a:rPr>
              <a:t>₹40 Cr</a:t>
            </a:r>
          </a:p>
        </p:txBody>
      </p:sp>
      <p:sp>
        <p:nvSpPr>
          <p:cNvPr id="28" name="TextBox 27"/>
          <p:cNvSpPr txBox="1"/>
          <p:nvPr/>
        </p:nvSpPr>
        <p:spPr>
          <a:xfrm>
            <a:off x="8366760" y="1993392"/>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Revenue Yr 3</a:t>
            </a:r>
          </a:p>
        </p:txBody>
      </p:sp>
      <p:sp>
        <p:nvSpPr>
          <p:cNvPr id="29" name="TextBox 28"/>
          <p:cNvSpPr txBox="1"/>
          <p:nvPr/>
        </p:nvSpPr>
        <p:spPr>
          <a:xfrm>
            <a:off x="10241280" y="1993392"/>
            <a:ext cx="1371600" cy="182880"/>
          </a:xfrm>
          <a:prstGeom prst="rect">
            <a:avLst/>
          </a:prstGeom>
          <a:noFill/>
        </p:spPr>
        <p:txBody>
          <a:bodyPr wrap="square" lIns="36576" rIns="36576" tIns="18288" bIns="18288">
            <a:spAutoFit/>
          </a:bodyPr>
          <a:lstStyle/>
          <a:p>
            <a:pPr algn="r"/>
            <a:r>
              <a:rPr sz="950" b="1" i="0">
                <a:solidFill>
                  <a:srgbClr val="EA580C"/>
                </a:solidFill>
                <a:latin typeface="Outfit"/>
              </a:rPr>
              <a:t>₹140 Cr</a:t>
            </a:r>
          </a:p>
        </p:txBody>
      </p:sp>
      <p:sp>
        <p:nvSpPr>
          <p:cNvPr id="30" name="TextBox 29"/>
          <p:cNvSpPr txBox="1"/>
          <p:nvPr/>
        </p:nvSpPr>
        <p:spPr>
          <a:xfrm>
            <a:off x="8366760" y="2340864"/>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Revenue Yr 5</a:t>
            </a:r>
          </a:p>
        </p:txBody>
      </p:sp>
      <p:sp>
        <p:nvSpPr>
          <p:cNvPr id="31" name="TextBox 30"/>
          <p:cNvSpPr txBox="1"/>
          <p:nvPr/>
        </p:nvSpPr>
        <p:spPr>
          <a:xfrm>
            <a:off x="10241280" y="2340864"/>
            <a:ext cx="1371600" cy="182880"/>
          </a:xfrm>
          <a:prstGeom prst="rect">
            <a:avLst/>
          </a:prstGeom>
          <a:noFill/>
        </p:spPr>
        <p:txBody>
          <a:bodyPr wrap="square" lIns="36576" rIns="36576" tIns="18288" bIns="18288">
            <a:spAutoFit/>
          </a:bodyPr>
          <a:lstStyle/>
          <a:p>
            <a:pPr algn="r"/>
            <a:r>
              <a:rPr sz="950" b="1" i="0">
                <a:solidFill>
                  <a:srgbClr val="EA580C"/>
                </a:solidFill>
                <a:latin typeface="Outfit"/>
              </a:rPr>
              <a:t>₹350 Cr</a:t>
            </a:r>
          </a:p>
        </p:txBody>
      </p:sp>
      <p:sp>
        <p:nvSpPr>
          <p:cNvPr id="32" name="TextBox 31"/>
          <p:cNvSpPr txBox="1"/>
          <p:nvPr/>
        </p:nvSpPr>
        <p:spPr>
          <a:xfrm>
            <a:off x="8366760" y="2688336"/>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5-Yr Cumulative</a:t>
            </a:r>
          </a:p>
        </p:txBody>
      </p:sp>
      <p:sp>
        <p:nvSpPr>
          <p:cNvPr id="33" name="TextBox 32"/>
          <p:cNvSpPr txBox="1"/>
          <p:nvPr/>
        </p:nvSpPr>
        <p:spPr>
          <a:xfrm>
            <a:off x="10241280" y="2688336"/>
            <a:ext cx="1371600" cy="182880"/>
          </a:xfrm>
          <a:prstGeom prst="rect">
            <a:avLst/>
          </a:prstGeom>
          <a:noFill/>
        </p:spPr>
        <p:txBody>
          <a:bodyPr wrap="square" lIns="36576" rIns="36576" tIns="18288" bIns="18288">
            <a:spAutoFit/>
          </a:bodyPr>
          <a:lstStyle/>
          <a:p>
            <a:pPr algn="r"/>
            <a:r>
              <a:rPr sz="950" b="1" i="0">
                <a:solidFill>
                  <a:srgbClr val="059669"/>
                </a:solidFill>
                <a:latin typeface="Outfit"/>
              </a:rPr>
              <a:t>₹840 Cr</a:t>
            </a:r>
          </a:p>
        </p:txBody>
      </p:sp>
      <p:sp>
        <p:nvSpPr>
          <p:cNvPr id="34" name="TextBox 33"/>
          <p:cNvSpPr txBox="1"/>
          <p:nvPr/>
        </p:nvSpPr>
        <p:spPr>
          <a:xfrm>
            <a:off x="8366760" y="3035808"/>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COGS %</a:t>
            </a:r>
          </a:p>
        </p:txBody>
      </p:sp>
      <p:sp>
        <p:nvSpPr>
          <p:cNvPr id="35" name="TextBox 34"/>
          <p:cNvSpPr txBox="1"/>
          <p:nvPr/>
        </p:nvSpPr>
        <p:spPr>
          <a:xfrm>
            <a:off x="10241280" y="3035808"/>
            <a:ext cx="1371600" cy="182880"/>
          </a:xfrm>
          <a:prstGeom prst="rect">
            <a:avLst/>
          </a:prstGeom>
          <a:noFill/>
        </p:spPr>
        <p:txBody>
          <a:bodyPr wrap="square" lIns="36576" rIns="36576" tIns="18288" bIns="18288">
            <a:spAutoFit/>
          </a:bodyPr>
          <a:lstStyle/>
          <a:p>
            <a:pPr algn="r"/>
            <a:r>
              <a:rPr sz="950" b="1" i="0">
                <a:solidFill>
                  <a:srgbClr val="64748B"/>
                </a:solidFill>
                <a:latin typeface="Outfit"/>
              </a:rPr>
              <a:t>22% MRP</a:t>
            </a:r>
          </a:p>
        </p:txBody>
      </p:sp>
      <p:sp>
        <p:nvSpPr>
          <p:cNvPr id="36" name="TextBox 35"/>
          <p:cNvSpPr txBox="1"/>
          <p:nvPr/>
        </p:nvSpPr>
        <p:spPr>
          <a:xfrm>
            <a:off x="8366760" y="3383280"/>
            <a:ext cx="1828800" cy="182880"/>
          </a:xfrm>
          <a:prstGeom prst="rect">
            <a:avLst/>
          </a:prstGeom>
          <a:noFill/>
        </p:spPr>
        <p:txBody>
          <a:bodyPr wrap="square" lIns="36576" rIns="36576" tIns="18288" bIns="18288">
            <a:spAutoFit/>
          </a:bodyPr>
          <a:lstStyle/>
          <a:p>
            <a:pPr algn="l"/>
            <a:r>
              <a:rPr sz="819" b="0" i="0">
                <a:solidFill>
                  <a:srgbClr val="0F172A"/>
                </a:solidFill>
                <a:latin typeface="Inter"/>
              </a:rPr>
              <a:t>Net Margin</a:t>
            </a:r>
          </a:p>
        </p:txBody>
      </p:sp>
      <p:sp>
        <p:nvSpPr>
          <p:cNvPr id="37" name="TextBox 36"/>
          <p:cNvSpPr txBox="1"/>
          <p:nvPr/>
        </p:nvSpPr>
        <p:spPr>
          <a:xfrm>
            <a:off x="10241280" y="3383280"/>
            <a:ext cx="1371600" cy="182880"/>
          </a:xfrm>
          <a:prstGeom prst="rect">
            <a:avLst/>
          </a:prstGeom>
          <a:noFill/>
        </p:spPr>
        <p:txBody>
          <a:bodyPr wrap="square" lIns="36576" rIns="36576" tIns="18288" bIns="18288">
            <a:spAutoFit/>
          </a:bodyPr>
          <a:lstStyle/>
          <a:p>
            <a:pPr algn="r"/>
            <a:r>
              <a:rPr sz="950" b="1" i="0">
                <a:solidFill>
                  <a:srgbClr val="059669"/>
                </a:solidFill>
                <a:latin typeface="Outfit"/>
              </a:rPr>
              <a:t>25%</a:t>
            </a:r>
          </a:p>
        </p:txBody>
      </p:sp>
      <p:sp>
        <p:nvSpPr>
          <p:cNvPr id="38" name="Rounded Rectangle 37"/>
          <p:cNvSpPr/>
          <p:nvPr/>
        </p:nvSpPr>
        <p:spPr>
          <a:xfrm>
            <a:off x="457200" y="3977639"/>
            <a:ext cx="11274552" cy="1097280"/>
          </a:xfrm>
          <a:prstGeom prst="round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023360"/>
            <a:ext cx="10817352" cy="182880"/>
          </a:xfrm>
          <a:prstGeom prst="rect">
            <a:avLst/>
          </a:prstGeom>
          <a:noFill/>
        </p:spPr>
        <p:txBody>
          <a:bodyPr wrap="square" lIns="36576" rIns="36576" tIns="18288" bIns="18288">
            <a:spAutoFit/>
          </a:bodyPr>
          <a:lstStyle/>
          <a:p>
            <a:pPr algn="l"/>
            <a:r>
              <a:rPr sz="850" b="1" i="0">
                <a:solidFill>
                  <a:srgbClr val="0F172A"/>
                </a:solidFill>
                <a:latin typeface="Outfit"/>
              </a:rPr>
              <a:t>5-YEAR P&amp;L METRIC TRAJECTORY (₹ Crore)</a:t>
            </a:r>
          </a:p>
        </p:txBody>
      </p:sp>
      <p:sp>
        <p:nvSpPr>
          <p:cNvPr id="40" name="TextBox 39"/>
          <p:cNvSpPr txBox="1"/>
          <p:nvPr/>
        </p:nvSpPr>
        <p:spPr>
          <a:xfrm>
            <a:off x="64008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Metric</a:t>
            </a:r>
          </a:p>
        </p:txBody>
      </p:sp>
      <p:sp>
        <p:nvSpPr>
          <p:cNvPr id="41" name="TextBox 40"/>
          <p:cNvSpPr txBox="1"/>
          <p:nvPr/>
        </p:nvSpPr>
        <p:spPr>
          <a:xfrm>
            <a:off x="242316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Year 1</a:t>
            </a:r>
          </a:p>
        </p:txBody>
      </p:sp>
      <p:sp>
        <p:nvSpPr>
          <p:cNvPr id="42" name="TextBox 41"/>
          <p:cNvSpPr txBox="1"/>
          <p:nvPr/>
        </p:nvSpPr>
        <p:spPr>
          <a:xfrm>
            <a:off x="420624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Year 2</a:t>
            </a:r>
          </a:p>
        </p:txBody>
      </p:sp>
      <p:sp>
        <p:nvSpPr>
          <p:cNvPr id="43" name="TextBox 42"/>
          <p:cNvSpPr txBox="1"/>
          <p:nvPr/>
        </p:nvSpPr>
        <p:spPr>
          <a:xfrm>
            <a:off x="598932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Year 3</a:t>
            </a:r>
          </a:p>
        </p:txBody>
      </p:sp>
      <p:sp>
        <p:nvSpPr>
          <p:cNvPr id="44" name="TextBox 43"/>
          <p:cNvSpPr txBox="1"/>
          <p:nvPr/>
        </p:nvSpPr>
        <p:spPr>
          <a:xfrm>
            <a:off x="777240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Year 4</a:t>
            </a:r>
          </a:p>
        </p:txBody>
      </p:sp>
      <p:sp>
        <p:nvSpPr>
          <p:cNvPr id="45" name="TextBox 44"/>
          <p:cNvSpPr txBox="1"/>
          <p:nvPr/>
        </p:nvSpPr>
        <p:spPr>
          <a:xfrm>
            <a:off x="9555480" y="4206240"/>
            <a:ext cx="1554480" cy="182880"/>
          </a:xfrm>
          <a:prstGeom prst="rect">
            <a:avLst/>
          </a:prstGeom>
          <a:noFill/>
        </p:spPr>
        <p:txBody>
          <a:bodyPr wrap="square" lIns="36576" rIns="36576" tIns="18288" bIns="18288">
            <a:spAutoFit/>
          </a:bodyPr>
          <a:lstStyle/>
          <a:p>
            <a:pPr algn="l"/>
            <a:r>
              <a:rPr sz="800" b="1" i="0">
                <a:solidFill>
                  <a:srgbClr val="0284C7"/>
                </a:solidFill>
                <a:latin typeface="Outfit"/>
              </a:rPr>
              <a:t>Year 5</a:t>
            </a:r>
          </a:p>
        </p:txBody>
      </p:sp>
      <p:sp>
        <p:nvSpPr>
          <p:cNvPr id="46" name="TextBox 45"/>
          <p:cNvSpPr txBox="1"/>
          <p:nvPr/>
        </p:nvSpPr>
        <p:spPr>
          <a:xfrm>
            <a:off x="640080" y="4407408"/>
            <a:ext cx="1554480" cy="182880"/>
          </a:xfrm>
          <a:prstGeom prst="rect">
            <a:avLst/>
          </a:prstGeom>
          <a:noFill/>
        </p:spPr>
        <p:txBody>
          <a:bodyPr wrap="square" lIns="36576" rIns="36576" tIns="18288" bIns="18288">
            <a:spAutoFit/>
          </a:bodyPr>
          <a:lstStyle/>
          <a:p>
            <a:pPr algn="l"/>
            <a:r>
              <a:rPr sz="780" b="1" i="0">
                <a:solidFill>
                  <a:srgbClr val="0F172A"/>
                </a:solidFill>
                <a:latin typeface="Inter"/>
              </a:rPr>
              <a:t>Gross Sales</a:t>
            </a:r>
          </a:p>
        </p:txBody>
      </p:sp>
      <p:sp>
        <p:nvSpPr>
          <p:cNvPr id="47" name="TextBox 46"/>
          <p:cNvSpPr txBox="1"/>
          <p:nvPr/>
        </p:nvSpPr>
        <p:spPr>
          <a:xfrm>
            <a:off x="2423160" y="440740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₹40.0</a:t>
            </a:r>
          </a:p>
        </p:txBody>
      </p:sp>
      <p:sp>
        <p:nvSpPr>
          <p:cNvPr id="48" name="TextBox 47"/>
          <p:cNvSpPr txBox="1"/>
          <p:nvPr/>
        </p:nvSpPr>
        <p:spPr>
          <a:xfrm>
            <a:off x="4206240" y="440740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₹85.0</a:t>
            </a:r>
          </a:p>
        </p:txBody>
      </p:sp>
      <p:sp>
        <p:nvSpPr>
          <p:cNvPr id="49" name="TextBox 48"/>
          <p:cNvSpPr txBox="1"/>
          <p:nvPr/>
        </p:nvSpPr>
        <p:spPr>
          <a:xfrm>
            <a:off x="5989320" y="440740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₹140.0</a:t>
            </a:r>
          </a:p>
        </p:txBody>
      </p:sp>
      <p:sp>
        <p:nvSpPr>
          <p:cNvPr id="50" name="TextBox 49"/>
          <p:cNvSpPr txBox="1"/>
          <p:nvPr/>
        </p:nvSpPr>
        <p:spPr>
          <a:xfrm>
            <a:off x="7772400" y="440740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₹230.0</a:t>
            </a:r>
          </a:p>
        </p:txBody>
      </p:sp>
      <p:sp>
        <p:nvSpPr>
          <p:cNvPr id="51" name="TextBox 50"/>
          <p:cNvSpPr txBox="1"/>
          <p:nvPr/>
        </p:nvSpPr>
        <p:spPr>
          <a:xfrm>
            <a:off x="9555480" y="440740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₹350.0</a:t>
            </a:r>
          </a:p>
        </p:txBody>
      </p:sp>
      <p:sp>
        <p:nvSpPr>
          <p:cNvPr id="52" name="TextBox 51"/>
          <p:cNvSpPr txBox="1"/>
          <p:nvPr/>
        </p:nvSpPr>
        <p:spPr>
          <a:xfrm>
            <a:off x="640080" y="4590288"/>
            <a:ext cx="1554480" cy="182880"/>
          </a:xfrm>
          <a:prstGeom prst="rect">
            <a:avLst/>
          </a:prstGeom>
          <a:noFill/>
        </p:spPr>
        <p:txBody>
          <a:bodyPr wrap="square" lIns="36576" rIns="36576" tIns="18288" bIns="18288">
            <a:spAutoFit/>
          </a:bodyPr>
          <a:lstStyle/>
          <a:p>
            <a:pPr algn="l"/>
            <a:r>
              <a:rPr sz="780" b="1" i="0">
                <a:solidFill>
                  <a:srgbClr val="0F172A"/>
                </a:solidFill>
                <a:latin typeface="Inter"/>
              </a:rPr>
              <a:t>Marketing Spend</a:t>
            </a:r>
          </a:p>
        </p:txBody>
      </p:sp>
      <p:sp>
        <p:nvSpPr>
          <p:cNvPr id="53" name="TextBox 52"/>
          <p:cNvSpPr txBox="1"/>
          <p:nvPr/>
        </p:nvSpPr>
        <p:spPr>
          <a:xfrm>
            <a:off x="2423160" y="459028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₹6.0 (15%)</a:t>
            </a:r>
          </a:p>
        </p:txBody>
      </p:sp>
      <p:sp>
        <p:nvSpPr>
          <p:cNvPr id="54" name="TextBox 53"/>
          <p:cNvSpPr txBox="1"/>
          <p:nvPr/>
        </p:nvSpPr>
        <p:spPr>
          <a:xfrm>
            <a:off x="4206240" y="459028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₹11.0 (13%)</a:t>
            </a:r>
          </a:p>
        </p:txBody>
      </p:sp>
      <p:sp>
        <p:nvSpPr>
          <p:cNvPr id="55" name="TextBox 54"/>
          <p:cNvSpPr txBox="1"/>
          <p:nvPr/>
        </p:nvSpPr>
        <p:spPr>
          <a:xfrm>
            <a:off x="5989320" y="459028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₹14.0 (10%)</a:t>
            </a:r>
          </a:p>
        </p:txBody>
      </p:sp>
      <p:sp>
        <p:nvSpPr>
          <p:cNvPr id="56" name="TextBox 55"/>
          <p:cNvSpPr txBox="1"/>
          <p:nvPr/>
        </p:nvSpPr>
        <p:spPr>
          <a:xfrm>
            <a:off x="7772400" y="459028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₹23.0 (10%)</a:t>
            </a:r>
          </a:p>
        </p:txBody>
      </p:sp>
      <p:sp>
        <p:nvSpPr>
          <p:cNvPr id="57" name="TextBox 56"/>
          <p:cNvSpPr txBox="1"/>
          <p:nvPr/>
        </p:nvSpPr>
        <p:spPr>
          <a:xfrm>
            <a:off x="9555480" y="459028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₹35.0 (10%)</a:t>
            </a:r>
          </a:p>
        </p:txBody>
      </p:sp>
      <p:sp>
        <p:nvSpPr>
          <p:cNvPr id="58" name="TextBox 57"/>
          <p:cNvSpPr txBox="1"/>
          <p:nvPr/>
        </p:nvSpPr>
        <p:spPr>
          <a:xfrm>
            <a:off x="640080" y="4773168"/>
            <a:ext cx="1554480" cy="182880"/>
          </a:xfrm>
          <a:prstGeom prst="rect">
            <a:avLst/>
          </a:prstGeom>
          <a:noFill/>
        </p:spPr>
        <p:txBody>
          <a:bodyPr wrap="square" lIns="36576" rIns="36576" tIns="18288" bIns="18288">
            <a:spAutoFit/>
          </a:bodyPr>
          <a:lstStyle/>
          <a:p>
            <a:pPr algn="l"/>
            <a:r>
              <a:rPr sz="780" b="1" i="0">
                <a:solidFill>
                  <a:srgbClr val="0F172A"/>
                </a:solidFill>
                <a:latin typeface="Inter"/>
              </a:rPr>
              <a:t>EBITDA (Contribution)</a:t>
            </a:r>
          </a:p>
        </p:txBody>
      </p:sp>
      <p:sp>
        <p:nvSpPr>
          <p:cNvPr id="59" name="TextBox 58"/>
          <p:cNvSpPr txBox="1"/>
          <p:nvPr/>
        </p:nvSpPr>
        <p:spPr>
          <a:xfrm>
            <a:off x="2423160" y="477316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₹8.0 (20%)</a:t>
            </a:r>
          </a:p>
        </p:txBody>
      </p:sp>
      <p:sp>
        <p:nvSpPr>
          <p:cNvPr id="60" name="TextBox 59"/>
          <p:cNvSpPr txBox="1"/>
          <p:nvPr/>
        </p:nvSpPr>
        <p:spPr>
          <a:xfrm>
            <a:off x="4206240" y="477316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₹18.7 (22%)</a:t>
            </a:r>
          </a:p>
        </p:txBody>
      </p:sp>
      <p:sp>
        <p:nvSpPr>
          <p:cNvPr id="61" name="TextBox 60"/>
          <p:cNvSpPr txBox="1"/>
          <p:nvPr/>
        </p:nvSpPr>
        <p:spPr>
          <a:xfrm>
            <a:off x="5989320" y="477316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₹35.0 (25%)</a:t>
            </a:r>
          </a:p>
        </p:txBody>
      </p:sp>
      <p:sp>
        <p:nvSpPr>
          <p:cNvPr id="62" name="TextBox 61"/>
          <p:cNvSpPr txBox="1"/>
          <p:nvPr/>
        </p:nvSpPr>
        <p:spPr>
          <a:xfrm>
            <a:off x="7772400" y="477316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₹57.5 (25%)</a:t>
            </a:r>
          </a:p>
        </p:txBody>
      </p:sp>
      <p:sp>
        <p:nvSpPr>
          <p:cNvPr id="63" name="TextBox 62"/>
          <p:cNvSpPr txBox="1"/>
          <p:nvPr/>
        </p:nvSpPr>
        <p:spPr>
          <a:xfrm>
            <a:off x="9555480" y="4773168"/>
            <a:ext cx="1554480" cy="182880"/>
          </a:xfrm>
          <a:prstGeom prst="rect">
            <a:avLst/>
          </a:prstGeom>
          <a:noFill/>
        </p:spPr>
        <p:txBody>
          <a:bodyPr wrap="square" lIns="36576" rIns="36576" tIns="18288" bIns="18288">
            <a:spAutoFit/>
          </a:bodyPr>
          <a:lstStyle/>
          <a:p>
            <a:pPr algn="l"/>
            <a:r>
              <a:rPr sz="780" b="0" i="0">
                <a:solidFill>
                  <a:srgbClr val="0F172A"/>
                </a:solidFill>
                <a:latin typeface="Inter"/>
              </a:rPr>
              <a:t>₹87.5 (25%)</a:t>
            </a:r>
          </a:p>
        </p:txBody>
      </p:sp>
      <p:sp>
        <p:nvSpPr>
          <p:cNvPr id="64" name="Rounded Rectangle 63"/>
          <p:cNvSpPr/>
          <p:nvPr/>
        </p:nvSpPr>
        <p:spPr>
          <a:xfrm>
            <a:off x="457200" y="5166360"/>
            <a:ext cx="11274552" cy="11887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5212080"/>
            <a:ext cx="10908792" cy="1097280"/>
          </a:xfrm>
          <a:prstGeom prst="rect">
            <a:avLst/>
          </a:prstGeom>
          <a:noFill/>
        </p:spPr>
        <p:txBody>
          <a:bodyPr wrap="square" lIns="36576" rIns="36576" tIns="18288" bIns="18288">
            <a:spAutoFit/>
          </a:bodyPr>
          <a:lstStyle/>
          <a:p>
            <a:pPr algn="l"/>
            <a:r>
              <a:rPr sz="819" b="0" i="0">
                <a:solidFill>
                  <a:srgbClr val="64748B"/>
                </a:solidFill>
                <a:latin typeface="Inter"/>
              </a:rPr>
              <a:t>• Yr1 Revenue = 5 Lakh units × avg. selling price ₹800 = ₹40 Cr | Yr5 = 35L units × ₹1,000 avg. ASP = ₹350 Cr
• COGS: Entry Gel ₹9/ml MRP → cost ~₹200/unit (22%); Serum ₹930 selling → cost ~₹205 (22%)
• Trade margin: 25–30% (Nykaa 35%, pharmacies 20%, MT 25%); Marketing: 15% of revenue Yr1 declining to 10% Yr3+
• Market share: 2024 premium segment ₹1,148 Cr (41% of ₹2,800 Cr); Yr3 target = ₹140 Cr / ₹2,100 Cr addressable = 6.7%</a:t>
            </a:r>
          </a:p>
        </p:txBody>
      </p:sp>
      <p:sp>
        <p:nvSpPr>
          <p:cNvPr id="66" name="Rectangle 65"/>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Financial projections are indicative estimates based on market data [1][3][5] and standard FMCG unit economics benchmarks</a:t>
            </a:r>
          </a:p>
        </p:txBody>
      </p:sp>
      <p:sp>
        <p:nvSpPr>
          <p:cNvPr id="68" name="TextBox 67"/>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11 of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Solution: KPIs Balanced Scorecard</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12 · ROADMAP &amp; GTM</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GTM &amp; ROADMAP</a:t>
            </a:r>
          </a:p>
        </p:txBody>
      </p:sp>
      <p:sp>
        <p:nvSpPr>
          <p:cNvPr id="19" name="Rounded Rectangle 18"/>
          <p:cNvSpPr/>
          <p:nvPr/>
        </p:nvSpPr>
        <p:spPr>
          <a:xfrm>
            <a:off x="1016812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RISK &amp; MITIGATION</a:t>
            </a:r>
          </a:p>
        </p:txBody>
      </p:sp>
      <p:sp>
        <p:nvSpPr>
          <p:cNvPr id="21" name="Rounded Rectangle 20"/>
          <p:cNvSpPr/>
          <p:nvPr/>
        </p:nvSpPr>
        <p:spPr>
          <a:xfrm>
            <a:off x="457200" y="1371600"/>
            <a:ext cx="548640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71600"/>
            <a:ext cx="548640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1536192"/>
            <a:ext cx="5157216" cy="320040"/>
          </a:xfrm>
          <a:prstGeom prst="rect">
            <a:avLst/>
          </a:prstGeom>
          <a:noFill/>
        </p:spPr>
        <p:txBody>
          <a:bodyPr wrap="square" lIns="36576" rIns="36576" tIns="18288" bIns="18288">
            <a:spAutoFit/>
          </a:bodyPr>
          <a:lstStyle/>
          <a:p>
            <a:pPr algn="l"/>
            <a:r>
              <a:rPr sz="1100" b="1" i="0">
                <a:solidFill>
                  <a:srgbClr val="0284C7"/>
                </a:solidFill>
                <a:latin typeface="Outfit"/>
              </a:rPr>
              <a:t>FINANCIAL PERSPECTIVE</a:t>
            </a:r>
          </a:p>
        </p:txBody>
      </p:sp>
      <p:sp>
        <p:nvSpPr>
          <p:cNvPr id="24" name="TextBox 23"/>
          <p:cNvSpPr txBox="1"/>
          <p:nvPr/>
        </p:nvSpPr>
        <p:spPr>
          <a:xfrm>
            <a:off x="621792" y="1920240"/>
            <a:ext cx="5157216" cy="1554480"/>
          </a:xfrm>
          <a:prstGeom prst="rect">
            <a:avLst/>
          </a:prstGeom>
          <a:noFill/>
        </p:spPr>
        <p:txBody>
          <a:bodyPr wrap="square" lIns="0" rIns="0" tIns="0" bIns="0">
            <a:spAutoFit/>
          </a:bodyPr>
          <a:lstStyle/>
          <a:p>
            <a:pPr>
              <a:spcAft>
                <a:spcPts val="400"/>
              </a:spcAft>
              <a:defRPr sz="950">
                <a:solidFill>
                  <a:srgbClr val="0F172A"/>
                </a:solidFill>
                <a:latin typeface="Inter"/>
              </a:defRPr>
            </a:pPr>
            <a:r>
              <a:t>• Gross Revenue Growth: Year 1 ₹40 Cr to Year 5 ₹350 Cr</a:t>
            </a:r>
          </a:p>
          <a:p>
            <a:pPr>
              <a:spcAft>
                <a:spcPts val="400"/>
              </a:spcAft>
              <a:defRPr sz="950">
                <a:solidFill>
                  <a:srgbClr val="0F172A"/>
                </a:solidFill>
                <a:latin typeface="Inter"/>
              </a:defRPr>
            </a:pPr>
            <a:r>
              <a:t>• Profitability: Portfolio Net Contribution Margin at 25%</a:t>
            </a:r>
          </a:p>
          <a:p>
            <a:pPr>
              <a:spcAft>
                <a:spcPts val="400"/>
              </a:spcAft>
              <a:defRPr sz="950">
                <a:solidFill>
                  <a:srgbClr val="0F172A"/>
                </a:solidFill>
                <a:latin typeface="Inter"/>
              </a:defRPr>
            </a:pPr>
            <a:r>
              <a:t>• Marketing ROI: Year 1 &gt; 3.0, scaling to &gt; 5.0 in Year 3+</a:t>
            </a:r>
          </a:p>
          <a:p>
            <a:pPr>
              <a:spcAft>
                <a:spcPts val="400"/>
              </a:spcAft>
              <a:defRPr sz="950">
                <a:solidFill>
                  <a:srgbClr val="0F172A"/>
                </a:solidFill>
                <a:latin typeface="Inter"/>
              </a:defRPr>
            </a:pPr>
            <a:r>
              <a:t>• Customer Acquisition Cost (CAC) to LTV ratio &gt; 3.0</a:t>
            </a:r>
          </a:p>
        </p:txBody>
      </p:sp>
      <p:sp>
        <p:nvSpPr>
          <p:cNvPr id="25" name="Rounded Rectangle 24"/>
          <p:cNvSpPr/>
          <p:nvPr/>
        </p:nvSpPr>
        <p:spPr>
          <a:xfrm>
            <a:off x="6126480" y="1371600"/>
            <a:ext cx="548640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1371600"/>
            <a:ext cx="5486400" cy="731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1536192"/>
            <a:ext cx="5157216" cy="320040"/>
          </a:xfrm>
          <a:prstGeom prst="rect">
            <a:avLst/>
          </a:prstGeom>
          <a:noFill/>
        </p:spPr>
        <p:txBody>
          <a:bodyPr wrap="square" lIns="36576" rIns="36576" tIns="18288" bIns="18288">
            <a:spAutoFit/>
          </a:bodyPr>
          <a:lstStyle/>
          <a:p>
            <a:pPr algn="l"/>
            <a:r>
              <a:rPr sz="1100" b="1" i="0">
                <a:solidFill>
                  <a:srgbClr val="EA580C"/>
                </a:solidFill>
                <a:latin typeface="Outfit"/>
              </a:rPr>
              <a:t>CUSTOMER PERSPECTIVE</a:t>
            </a:r>
          </a:p>
        </p:txBody>
      </p:sp>
      <p:sp>
        <p:nvSpPr>
          <p:cNvPr id="28" name="TextBox 27"/>
          <p:cNvSpPr txBox="1"/>
          <p:nvPr/>
        </p:nvSpPr>
        <p:spPr>
          <a:xfrm>
            <a:off x="6291072" y="1920240"/>
            <a:ext cx="5157216" cy="1554480"/>
          </a:xfrm>
          <a:prstGeom prst="rect">
            <a:avLst/>
          </a:prstGeom>
          <a:noFill/>
        </p:spPr>
        <p:txBody>
          <a:bodyPr wrap="square" lIns="0" rIns="0" tIns="0" bIns="0">
            <a:spAutoFit/>
          </a:bodyPr>
          <a:lstStyle/>
          <a:p>
            <a:pPr>
              <a:spcAft>
                <a:spcPts val="400"/>
              </a:spcAft>
              <a:defRPr sz="950">
                <a:solidFill>
                  <a:srgbClr val="0F172A"/>
                </a:solidFill>
                <a:latin typeface="Inter"/>
              </a:defRPr>
            </a:pPr>
            <a:r>
              <a:t>• Brand Recall: Top-of-Mind awareness &gt; 15% in target cohort</a:t>
            </a:r>
          </a:p>
          <a:p>
            <a:pPr>
              <a:spcAft>
                <a:spcPts val="400"/>
              </a:spcAft>
              <a:defRPr sz="950">
                <a:solidFill>
                  <a:srgbClr val="0F172A"/>
                </a:solidFill>
                <a:latin typeface="Inter"/>
              </a:defRPr>
            </a:pPr>
            <a:r>
              <a:t>• Retention Rate: Online D2C/Q-commerce repeat rate &gt; 40%</a:t>
            </a:r>
          </a:p>
          <a:p>
            <a:pPr>
              <a:spcAft>
                <a:spcPts val="400"/>
              </a:spcAft>
              <a:defRPr sz="950">
                <a:solidFill>
                  <a:srgbClr val="0F172A"/>
                </a:solidFill>
                <a:latin typeface="Inter"/>
              </a:defRPr>
            </a:pPr>
            <a:r>
              <a:t>• Brand Advocacy: Customer Net Promoter Score (NPS) &gt; 70</a:t>
            </a:r>
          </a:p>
          <a:p>
            <a:pPr>
              <a:spcAft>
                <a:spcPts val="400"/>
              </a:spcAft>
              <a:defRPr sz="950">
                <a:solidFill>
                  <a:srgbClr val="0F172A"/>
                </a:solidFill>
                <a:latin typeface="Inter"/>
              </a:defRPr>
            </a:pPr>
            <a:r>
              <a:t>• Doctor Seeding: Top-20 cities recommendation rate &gt; 15%</a:t>
            </a:r>
          </a:p>
        </p:txBody>
      </p:sp>
      <p:sp>
        <p:nvSpPr>
          <p:cNvPr id="29" name="Rounded Rectangle 28"/>
          <p:cNvSpPr/>
          <p:nvPr/>
        </p:nvSpPr>
        <p:spPr>
          <a:xfrm>
            <a:off x="457200" y="3840480"/>
            <a:ext cx="548640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840480"/>
            <a:ext cx="5486400"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4005072"/>
            <a:ext cx="5157216" cy="320040"/>
          </a:xfrm>
          <a:prstGeom prst="rect">
            <a:avLst/>
          </a:prstGeom>
          <a:noFill/>
        </p:spPr>
        <p:txBody>
          <a:bodyPr wrap="square" lIns="36576" rIns="36576" tIns="18288" bIns="18288">
            <a:spAutoFit/>
          </a:bodyPr>
          <a:lstStyle/>
          <a:p>
            <a:pPr algn="l"/>
            <a:r>
              <a:rPr sz="1100" b="1" i="0">
                <a:solidFill>
                  <a:srgbClr val="059669"/>
                </a:solidFill>
                <a:latin typeface="Outfit"/>
              </a:rPr>
              <a:t>INTERNAL BUSINESS PROCESSES</a:t>
            </a:r>
          </a:p>
        </p:txBody>
      </p:sp>
      <p:sp>
        <p:nvSpPr>
          <p:cNvPr id="32" name="TextBox 31"/>
          <p:cNvSpPr txBox="1"/>
          <p:nvPr/>
        </p:nvSpPr>
        <p:spPr>
          <a:xfrm>
            <a:off x="621792" y="4389120"/>
            <a:ext cx="5157216" cy="1554480"/>
          </a:xfrm>
          <a:prstGeom prst="rect">
            <a:avLst/>
          </a:prstGeom>
          <a:noFill/>
        </p:spPr>
        <p:txBody>
          <a:bodyPr wrap="square" lIns="0" rIns="0" tIns="0" bIns="0">
            <a:spAutoFit/>
          </a:bodyPr>
          <a:lstStyle/>
          <a:p>
            <a:pPr>
              <a:spcAft>
                <a:spcPts val="400"/>
              </a:spcAft>
              <a:defRPr sz="950">
                <a:solidFill>
                  <a:srgbClr val="0F172A"/>
                </a:solidFill>
                <a:latin typeface="Inter"/>
              </a:defRPr>
            </a:pPr>
            <a:r>
              <a:t>• Time-to-Market: R&amp;D formulation to commercialization &lt; 9 mo</a:t>
            </a:r>
          </a:p>
          <a:p>
            <a:pPr>
              <a:spcAft>
                <a:spcPts val="400"/>
              </a:spcAft>
              <a:defRPr sz="950">
                <a:solidFill>
                  <a:srgbClr val="0F172A"/>
                </a:solidFill>
                <a:latin typeface="Inter"/>
              </a:defRPr>
            </a:pPr>
            <a:r>
              <a:t>• Compliance: 100% BIS CRS registration &amp; ISO 24444 tests</a:t>
            </a:r>
          </a:p>
          <a:p>
            <a:pPr>
              <a:spcAft>
                <a:spcPts val="400"/>
              </a:spcAft>
              <a:defRPr sz="950">
                <a:solidFill>
                  <a:srgbClr val="0F172A"/>
                </a:solidFill>
                <a:latin typeface="Inter"/>
              </a:defRPr>
            </a:pPr>
            <a:r>
              <a:t>• Logistics: Quick commerce order fill rate &gt; 95%</a:t>
            </a:r>
          </a:p>
          <a:p>
            <a:pPr>
              <a:spcAft>
                <a:spcPts val="400"/>
              </a:spcAft>
              <a:defRPr sz="950">
                <a:solidFill>
                  <a:srgbClr val="0F172A"/>
                </a:solidFill>
                <a:latin typeface="Inter"/>
              </a:defRPr>
            </a:pPr>
            <a:r>
              <a:t>• Safety: Zero severe adverse dermatological incidents</a:t>
            </a:r>
          </a:p>
        </p:txBody>
      </p:sp>
      <p:sp>
        <p:nvSpPr>
          <p:cNvPr id="33" name="Rounded Rectangle 32"/>
          <p:cNvSpPr/>
          <p:nvPr/>
        </p:nvSpPr>
        <p:spPr>
          <a:xfrm>
            <a:off x="6126480" y="3840480"/>
            <a:ext cx="548640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0" y="3840480"/>
            <a:ext cx="548640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1072" y="4005072"/>
            <a:ext cx="5157216" cy="320040"/>
          </a:xfrm>
          <a:prstGeom prst="rect">
            <a:avLst/>
          </a:prstGeom>
          <a:noFill/>
        </p:spPr>
        <p:txBody>
          <a:bodyPr wrap="square" lIns="36576" rIns="36576" tIns="18288" bIns="18288">
            <a:spAutoFit/>
          </a:bodyPr>
          <a:lstStyle/>
          <a:p>
            <a:pPr algn="l"/>
            <a:r>
              <a:rPr sz="1100" b="1" i="0">
                <a:solidFill>
                  <a:srgbClr val="7C3AED"/>
                </a:solidFill>
                <a:latin typeface="Outfit"/>
              </a:rPr>
              <a:t>LEARNING &amp; GROWTH</a:t>
            </a:r>
          </a:p>
        </p:txBody>
      </p:sp>
      <p:sp>
        <p:nvSpPr>
          <p:cNvPr id="36" name="TextBox 35"/>
          <p:cNvSpPr txBox="1"/>
          <p:nvPr/>
        </p:nvSpPr>
        <p:spPr>
          <a:xfrm>
            <a:off x="6291072" y="4389120"/>
            <a:ext cx="5157216" cy="1554480"/>
          </a:xfrm>
          <a:prstGeom prst="rect">
            <a:avLst/>
          </a:prstGeom>
          <a:noFill/>
        </p:spPr>
        <p:txBody>
          <a:bodyPr wrap="square" lIns="0" rIns="0" tIns="0" bIns="0">
            <a:spAutoFit/>
          </a:bodyPr>
          <a:lstStyle/>
          <a:p>
            <a:pPr>
              <a:spcAft>
                <a:spcPts val="400"/>
              </a:spcAft>
              <a:defRPr sz="950">
                <a:solidFill>
                  <a:srgbClr val="0F172A"/>
                </a:solidFill>
                <a:latin typeface="Inter"/>
              </a:defRPr>
            </a:pPr>
            <a:r>
              <a:t>• MR Training: 100% Reps trained on SPF chemical filter science</a:t>
            </a:r>
          </a:p>
          <a:p>
            <a:pPr>
              <a:spcAft>
                <a:spcPts val="400"/>
              </a:spcAft>
              <a:defRPr sz="950">
                <a:solidFill>
                  <a:srgbClr val="0F172A"/>
                </a:solidFill>
                <a:latin typeface="Inter"/>
              </a:defRPr>
            </a:pPr>
            <a:r>
              <a:t>• Doctor KOL Growth: +50% YoY dermatologist network growth</a:t>
            </a:r>
          </a:p>
          <a:p>
            <a:pPr>
              <a:spcAft>
                <a:spcPts val="400"/>
              </a:spcAft>
              <a:defRPr sz="950">
                <a:solidFill>
                  <a:srgbClr val="0F172A"/>
                </a:solidFill>
                <a:latin typeface="Inter"/>
              </a:defRPr>
            </a:pPr>
            <a:r>
              <a:t>• SunMatch AI: Target 1 Million skin profile records by Yr 2</a:t>
            </a:r>
          </a:p>
          <a:p>
            <a:pPr>
              <a:spcAft>
                <a:spcPts val="400"/>
              </a:spcAft>
              <a:defRPr sz="950">
                <a:solidFill>
                  <a:srgbClr val="0F172A"/>
                </a:solidFill>
                <a:latin typeface="Inter"/>
              </a:defRPr>
            </a:pPr>
            <a:r>
              <a:t>• D2C Innovation: Launch monthly skin consultation digital webinars</a:t>
            </a:r>
          </a:p>
        </p:txBody>
      </p:sp>
      <p:sp>
        <p:nvSpPr>
          <p:cNvPr id="37" name="Rectangle 36"/>
          <p:cNvSpPr/>
          <p:nvPr/>
        </p:nvSpPr>
        <p:spPr>
          <a:xfrm>
            <a:off x="457200" y="6217920"/>
            <a:ext cx="11274552"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172200"/>
            <a:ext cx="11274552" cy="201168"/>
          </a:xfrm>
          <a:prstGeom prst="rect">
            <a:avLst/>
          </a:prstGeom>
          <a:noFill/>
        </p:spPr>
        <p:txBody>
          <a:bodyPr wrap="square" lIns="36576" rIns="36576" tIns="18288" bIns="18288">
            <a:spAutoFit/>
          </a:bodyPr>
          <a:lstStyle/>
          <a:p>
            <a:pPr algn="l"/>
            <a:r>
              <a:rPr sz="850" b="0" i="1">
                <a:solidFill>
                  <a:srgbClr val="64748B"/>
                </a:solidFill>
                <a:latin typeface="Inter"/>
              </a:rPr>
              <a:t>★ Balanced Scorecard implementation aligns strategic sunscreen targets across finance, consumer retention, compliance processes, and medical rep training.</a:t>
            </a:r>
          </a:p>
        </p:txBody>
      </p:sp>
      <p:sp>
        <p:nvSpPr>
          <p:cNvPr id="39" name="Rectangle 38"/>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Strategic Governance: Balanced Scorecard KPIs monitored quarterly by the Sunshield Cross-Functional Committee</a:t>
            </a:r>
          </a:p>
        </p:txBody>
      </p:sp>
      <p:sp>
        <p:nvSpPr>
          <p:cNvPr id="41" name="TextBox 40"/>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12 of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Risk Analysis: 2×2 Matrix &amp; Mitigation Strategy</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13 · RISK ANALYSIS</a:t>
            </a:r>
          </a:p>
        </p:txBody>
      </p:sp>
      <p:sp>
        <p:nvSpPr>
          <p:cNvPr id="7" name="Rounded Rectangle 6"/>
          <p:cNvSpPr/>
          <p:nvPr/>
        </p:nvSpPr>
        <p:spPr>
          <a:xfrm>
            <a:off x="45720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EXEC SUMMARY</a:t>
            </a:r>
          </a:p>
        </p:txBody>
      </p:sp>
      <p:sp>
        <p:nvSpPr>
          <p:cNvPr id="9" name="Rounded Rectangle 8"/>
          <p:cNvSpPr/>
          <p:nvPr/>
        </p:nvSpPr>
        <p:spPr>
          <a:xfrm>
            <a:off x="2075688"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SITUATION</a:t>
            </a:r>
          </a:p>
        </p:txBody>
      </p:sp>
      <p:sp>
        <p:nvSpPr>
          <p:cNvPr id="11" name="Rounded Rectangle 10"/>
          <p:cNvSpPr/>
          <p:nvPr/>
        </p:nvSpPr>
        <p:spPr>
          <a:xfrm>
            <a:off x="3694176"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VALUE PROP</a:t>
            </a:r>
          </a:p>
        </p:txBody>
      </p:sp>
      <p:sp>
        <p:nvSpPr>
          <p:cNvPr id="13" name="Rounded Rectangle 12"/>
          <p:cNvSpPr/>
          <p:nvPr/>
        </p:nvSpPr>
        <p:spPr>
          <a:xfrm>
            <a:off x="5312664"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PORTFOLIO</a:t>
            </a:r>
          </a:p>
        </p:txBody>
      </p:sp>
      <p:sp>
        <p:nvSpPr>
          <p:cNvPr id="15" name="Rounded Rectangle 14"/>
          <p:cNvSpPr/>
          <p:nvPr/>
        </p:nvSpPr>
        <p:spPr>
          <a:xfrm>
            <a:off x="6931152"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BUSINESS MODEL</a:t>
            </a:r>
          </a:p>
        </p:txBody>
      </p:sp>
      <p:sp>
        <p:nvSpPr>
          <p:cNvPr id="17" name="Rounded Rectangle 16"/>
          <p:cNvSpPr/>
          <p:nvPr/>
        </p:nvSpPr>
        <p:spPr>
          <a:xfrm>
            <a:off x="8549640" y="1005840"/>
            <a:ext cx="1572768" cy="219456"/>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987552"/>
            <a:ext cx="1572768" cy="219456"/>
          </a:xfrm>
          <a:prstGeom prst="rect">
            <a:avLst/>
          </a:prstGeom>
          <a:noFill/>
        </p:spPr>
        <p:txBody>
          <a:bodyPr wrap="square" lIns="36576" rIns="36576" tIns="18288" bIns="18288">
            <a:spAutoFit/>
          </a:bodyPr>
          <a:lstStyle/>
          <a:p>
            <a:pPr algn="ctr"/>
            <a:r>
              <a:rPr sz="700" b="1" i="0">
                <a:solidFill>
                  <a:srgbClr val="64748B"/>
                </a:solidFill>
                <a:latin typeface="Outfit"/>
              </a:rPr>
              <a:t>GTM &amp; ROADMAP</a:t>
            </a:r>
          </a:p>
        </p:txBody>
      </p:sp>
      <p:sp>
        <p:nvSpPr>
          <p:cNvPr id="19" name="Rounded Rectangle 18"/>
          <p:cNvSpPr/>
          <p:nvPr/>
        </p:nvSpPr>
        <p:spPr>
          <a:xfrm>
            <a:off x="10168128" y="1005840"/>
            <a:ext cx="1572768" cy="219456"/>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987552"/>
            <a:ext cx="1572768" cy="219456"/>
          </a:xfrm>
          <a:prstGeom prst="rect">
            <a:avLst/>
          </a:prstGeom>
          <a:noFill/>
        </p:spPr>
        <p:txBody>
          <a:bodyPr wrap="square" lIns="36576" rIns="36576" tIns="18288" bIns="18288">
            <a:spAutoFit/>
          </a:bodyPr>
          <a:lstStyle/>
          <a:p>
            <a:pPr algn="ctr"/>
            <a:r>
              <a:rPr sz="700" b="1" i="0">
                <a:solidFill>
                  <a:srgbClr val="FFFFFF"/>
                </a:solidFill>
                <a:latin typeface="Outfit"/>
              </a:rPr>
              <a:t>RISK &amp; MITIGATION</a:t>
            </a:r>
          </a:p>
        </p:txBody>
      </p:sp>
      <p:sp>
        <p:nvSpPr>
          <p:cNvPr id="21" name="Rounded Rectangle 20"/>
          <p:cNvSpPr/>
          <p:nvPr/>
        </p:nvSpPr>
        <p:spPr>
          <a:xfrm>
            <a:off x="457200" y="1463040"/>
            <a:ext cx="548640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1554480"/>
            <a:ext cx="5120640" cy="228600"/>
          </a:xfrm>
          <a:prstGeom prst="rect">
            <a:avLst/>
          </a:prstGeom>
          <a:noFill/>
        </p:spPr>
        <p:txBody>
          <a:bodyPr wrap="square" lIns="36576" rIns="36576" tIns="18288" bIns="18288">
            <a:spAutoFit/>
          </a:bodyPr>
          <a:lstStyle/>
          <a:p>
            <a:pPr algn="l"/>
            <a:r>
              <a:rPr sz="950" b="1" i="0">
                <a:solidFill>
                  <a:srgbClr val="EA580C"/>
                </a:solidFill>
                <a:latin typeface="Outfit"/>
              </a:rPr>
              <a:t>RISK MATRIX (PROBABILITY vs IMPACT)</a:t>
            </a:r>
          </a:p>
        </p:txBody>
      </p:sp>
      <p:sp>
        <p:nvSpPr>
          <p:cNvPr id="23" name="Rounded Rectangle 22"/>
          <p:cNvSpPr/>
          <p:nvPr/>
        </p:nvSpPr>
        <p:spPr>
          <a:xfrm>
            <a:off x="1645920" y="1920240"/>
            <a:ext cx="1463040" cy="1463040"/>
          </a:xfrm>
          <a:prstGeom prst="roundRect">
            <a:avLst/>
          </a:prstGeom>
          <a:solidFill>
            <a:srgbClr val="FFFBE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00784" y="1975104"/>
            <a:ext cx="1353312" cy="182880"/>
          </a:xfrm>
          <a:prstGeom prst="rect">
            <a:avLst/>
          </a:prstGeom>
          <a:noFill/>
        </p:spPr>
        <p:txBody>
          <a:bodyPr wrap="square" lIns="36576" rIns="36576" tIns="18288" bIns="18288">
            <a:spAutoFit/>
          </a:bodyPr>
          <a:lstStyle/>
          <a:p>
            <a:pPr algn="l"/>
            <a:r>
              <a:rPr sz="700" b="1" i="0">
                <a:solidFill>
                  <a:srgbClr val="F59E0B"/>
                </a:solidFill>
                <a:latin typeface="Outfit"/>
              </a:rPr>
              <a:t>MONITOR</a:t>
            </a:r>
          </a:p>
        </p:txBody>
      </p:sp>
      <p:sp>
        <p:nvSpPr>
          <p:cNvPr id="25" name="Rounded Rectangle 24"/>
          <p:cNvSpPr/>
          <p:nvPr/>
        </p:nvSpPr>
        <p:spPr>
          <a:xfrm>
            <a:off x="3200400" y="1920240"/>
            <a:ext cx="1463040" cy="1463040"/>
          </a:xfrm>
          <a:prstGeom prst="roundRect">
            <a:avLst/>
          </a:prstGeom>
          <a:solidFill>
            <a:srgbClr val="FEF2F2"/>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55264" y="1975104"/>
            <a:ext cx="1353312" cy="182880"/>
          </a:xfrm>
          <a:prstGeom prst="rect">
            <a:avLst/>
          </a:prstGeom>
          <a:noFill/>
        </p:spPr>
        <p:txBody>
          <a:bodyPr wrap="square" lIns="36576" rIns="36576" tIns="18288" bIns="18288">
            <a:spAutoFit/>
          </a:bodyPr>
          <a:lstStyle/>
          <a:p>
            <a:pPr algn="l"/>
            <a:r>
              <a:rPr sz="700" b="1" i="0">
                <a:solidFill>
                  <a:srgbClr val="DC2626"/>
                </a:solidFill>
                <a:latin typeface="Outfit"/>
              </a:rPr>
              <a:t>CRITICAL</a:t>
            </a:r>
          </a:p>
        </p:txBody>
      </p:sp>
      <p:sp>
        <p:nvSpPr>
          <p:cNvPr id="27" name="Rounded Rectangle 26"/>
          <p:cNvSpPr/>
          <p:nvPr/>
        </p:nvSpPr>
        <p:spPr>
          <a:xfrm>
            <a:off x="1645920" y="3474720"/>
            <a:ext cx="1463040" cy="1463040"/>
          </a:xfrm>
          <a:prstGeom prst="roundRect">
            <a:avLst/>
          </a:prstGeom>
          <a:solidFill>
            <a:srgbClr val="ECFD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00784" y="3529584"/>
            <a:ext cx="1353312" cy="182880"/>
          </a:xfrm>
          <a:prstGeom prst="rect">
            <a:avLst/>
          </a:prstGeom>
          <a:noFill/>
        </p:spPr>
        <p:txBody>
          <a:bodyPr wrap="square" lIns="36576" rIns="36576" tIns="18288" bIns="18288">
            <a:spAutoFit/>
          </a:bodyPr>
          <a:lstStyle/>
          <a:p>
            <a:pPr algn="l"/>
            <a:r>
              <a:rPr sz="700" b="1" i="0">
                <a:solidFill>
                  <a:srgbClr val="059669"/>
                </a:solidFill>
                <a:latin typeface="Outfit"/>
              </a:rPr>
              <a:t>ACCEPT</a:t>
            </a:r>
          </a:p>
        </p:txBody>
      </p:sp>
      <p:sp>
        <p:nvSpPr>
          <p:cNvPr id="29" name="Rounded Rectangle 28"/>
          <p:cNvSpPr/>
          <p:nvPr/>
        </p:nvSpPr>
        <p:spPr>
          <a:xfrm>
            <a:off x="3200400" y="3474720"/>
            <a:ext cx="1463040" cy="1463040"/>
          </a:xfrm>
          <a:prstGeom prst="roundRect">
            <a:avLst/>
          </a:prstGeom>
          <a:solidFill>
            <a:srgbClr val="FFFBE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55264" y="3529584"/>
            <a:ext cx="1353312" cy="182880"/>
          </a:xfrm>
          <a:prstGeom prst="rect">
            <a:avLst/>
          </a:prstGeom>
          <a:noFill/>
        </p:spPr>
        <p:txBody>
          <a:bodyPr wrap="square" lIns="36576" rIns="36576" tIns="18288" bIns="18288">
            <a:spAutoFit/>
          </a:bodyPr>
          <a:lstStyle/>
          <a:p>
            <a:pPr algn="l"/>
            <a:r>
              <a:rPr sz="700" b="1" i="0">
                <a:solidFill>
                  <a:srgbClr val="F59E0B"/>
                </a:solidFill>
                <a:latin typeface="Outfit"/>
              </a:rPr>
              <a:t>MITIGATE</a:t>
            </a:r>
          </a:p>
        </p:txBody>
      </p:sp>
      <p:sp>
        <p:nvSpPr>
          <p:cNvPr id="31" name="Oval 30"/>
          <p:cNvSpPr/>
          <p:nvPr/>
        </p:nvSpPr>
        <p:spPr>
          <a:xfrm>
            <a:off x="3383280" y="2194560"/>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2194560"/>
            <a:ext cx="219456" cy="219456"/>
          </a:xfrm>
          <a:prstGeom prst="rect">
            <a:avLst/>
          </a:prstGeom>
          <a:noFill/>
        </p:spPr>
        <p:txBody>
          <a:bodyPr wrap="square" lIns="36576" rIns="36576" tIns="18288" bIns="18288">
            <a:spAutoFit/>
          </a:bodyPr>
          <a:lstStyle/>
          <a:p>
            <a:pPr algn="ctr"/>
            <a:r>
              <a:rPr sz="750" b="1" i="0">
                <a:solidFill>
                  <a:srgbClr val="FFFFFF"/>
                </a:solidFill>
                <a:latin typeface="Outfit"/>
              </a:rPr>
              <a:t>1</a:t>
            </a:r>
          </a:p>
        </p:txBody>
      </p:sp>
      <p:sp>
        <p:nvSpPr>
          <p:cNvPr id="33" name="TextBox 32"/>
          <p:cNvSpPr txBox="1"/>
          <p:nvPr/>
        </p:nvSpPr>
        <p:spPr>
          <a:xfrm>
            <a:off x="3639312" y="2194560"/>
            <a:ext cx="1005840" cy="228600"/>
          </a:xfrm>
          <a:prstGeom prst="rect">
            <a:avLst/>
          </a:prstGeom>
          <a:noFill/>
        </p:spPr>
        <p:txBody>
          <a:bodyPr wrap="square" lIns="36576" rIns="36576" tIns="18288" bIns="18288">
            <a:spAutoFit/>
          </a:bodyPr>
          <a:lstStyle/>
          <a:p>
            <a:pPr algn="l"/>
            <a:r>
              <a:rPr sz="650" b="1" i="0">
                <a:solidFill>
                  <a:srgbClr val="DC2626"/>
                </a:solidFill>
                <a:latin typeface="Inter"/>
              </a:rPr>
              <a:t>Regulatory (BIS)</a:t>
            </a:r>
          </a:p>
        </p:txBody>
      </p:sp>
      <p:sp>
        <p:nvSpPr>
          <p:cNvPr id="34" name="Oval 33"/>
          <p:cNvSpPr/>
          <p:nvPr/>
        </p:nvSpPr>
        <p:spPr>
          <a:xfrm>
            <a:off x="4114800" y="2560320"/>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0" y="2560320"/>
            <a:ext cx="219456" cy="219456"/>
          </a:xfrm>
          <a:prstGeom prst="rect">
            <a:avLst/>
          </a:prstGeom>
          <a:noFill/>
        </p:spPr>
        <p:txBody>
          <a:bodyPr wrap="square" lIns="36576" rIns="36576" tIns="18288" bIns="18288">
            <a:spAutoFit/>
          </a:bodyPr>
          <a:lstStyle/>
          <a:p>
            <a:pPr algn="ctr"/>
            <a:r>
              <a:rPr sz="750" b="1" i="0">
                <a:solidFill>
                  <a:srgbClr val="FFFFFF"/>
                </a:solidFill>
                <a:latin typeface="Outfit"/>
              </a:rPr>
              <a:t>2</a:t>
            </a:r>
          </a:p>
        </p:txBody>
      </p:sp>
      <p:sp>
        <p:nvSpPr>
          <p:cNvPr id="36" name="TextBox 35"/>
          <p:cNvSpPr txBox="1"/>
          <p:nvPr/>
        </p:nvSpPr>
        <p:spPr>
          <a:xfrm>
            <a:off x="4370832" y="2560320"/>
            <a:ext cx="1005840" cy="228600"/>
          </a:xfrm>
          <a:prstGeom prst="rect">
            <a:avLst/>
          </a:prstGeom>
          <a:noFill/>
        </p:spPr>
        <p:txBody>
          <a:bodyPr wrap="square" lIns="36576" rIns="36576" tIns="18288" bIns="18288">
            <a:spAutoFit/>
          </a:bodyPr>
          <a:lstStyle/>
          <a:p>
            <a:pPr algn="l"/>
            <a:r>
              <a:rPr sz="650" b="1" i="0">
                <a:solidFill>
                  <a:srgbClr val="DC2626"/>
                </a:solidFill>
                <a:latin typeface="Inter"/>
              </a:rPr>
              <a:t>Competitor Price</a:t>
            </a:r>
          </a:p>
        </p:txBody>
      </p:sp>
      <p:sp>
        <p:nvSpPr>
          <p:cNvPr id="37" name="Oval 36"/>
          <p:cNvSpPr/>
          <p:nvPr/>
        </p:nvSpPr>
        <p:spPr>
          <a:xfrm>
            <a:off x="1920240" y="2377440"/>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2377440"/>
            <a:ext cx="219456" cy="219456"/>
          </a:xfrm>
          <a:prstGeom prst="rect">
            <a:avLst/>
          </a:prstGeom>
          <a:noFill/>
        </p:spPr>
        <p:txBody>
          <a:bodyPr wrap="square" lIns="36576" rIns="36576" tIns="18288" bIns="18288">
            <a:spAutoFit/>
          </a:bodyPr>
          <a:lstStyle/>
          <a:p>
            <a:pPr algn="ctr"/>
            <a:r>
              <a:rPr sz="750" b="1" i="0">
                <a:solidFill>
                  <a:srgbClr val="FFFFFF"/>
                </a:solidFill>
                <a:latin typeface="Outfit"/>
              </a:rPr>
              <a:t>3</a:t>
            </a:r>
          </a:p>
        </p:txBody>
      </p:sp>
      <p:sp>
        <p:nvSpPr>
          <p:cNvPr id="39" name="TextBox 38"/>
          <p:cNvSpPr txBox="1"/>
          <p:nvPr/>
        </p:nvSpPr>
        <p:spPr>
          <a:xfrm>
            <a:off x="2176272" y="2377440"/>
            <a:ext cx="1005840" cy="228600"/>
          </a:xfrm>
          <a:prstGeom prst="rect">
            <a:avLst/>
          </a:prstGeom>
          <a:noFill/>
        </p:spPr>
        <p:txBody>
          <a:bodyPr wrap="square" lIns="36576" rIns="36576" tIns="18288" bIns="18288">
            <a:spAutoFit/>
          </a:bodyPr>
          <a:lstStyle/>
          <a:p>
            <a:pPr algn="l"/>
            <a:r>
              <a:rPr sz="650" b="1" i="0">
                <a:solidFill>
                  <a:srgbClr val="F59E0B"/>
                </a:solidFill>
                <a:latin typeface="Inter"/>
              </a:rPr>
              <a:t>Supply Chain</a:t>
            </a:r>
          </a:p>
        </p:txBody>
      </p:sp>
      <p:sp>
        <p:nvSpPr>
          <p:cNvPr id="40" name="Oval 39"/>
          <p:cNvSpPr/>
          <p:nvPr/>
        </p:nvSpPr>
        <p:spPr>
          <a:xfrm>
            <a:off x="3749039" y="3931920"/>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39" y="3931920"/>
            <a:ext cx="219456" cy="219456"/>
          </a:xfrm>
          <a:prstGeom prst="rect">
            <a:avLst/>
          </a:prstGeom>
          <a:noFill/>
        </p:spPr>
        <p:txBody>
          <a:bodyPr wrap="square" lIns="36576" rIns="36576" tIns="18288" bIns="18288">
            <a:spAutoFit/>
          </a:bodyPr>
          <a:lstStyle/>
          <a:p>
            <a:pPr algn="ctr"/>
            <a:r>
              <a:rPr sz="750" b="1" i="0">
                <a:solidFill>
                  <a:srgbClr val="FFFFFF"/>
                </a:solidFill>
                <a:latin typeface="Outfit"/>
              </a:rPr>
              <a:t>4</a:t>
            </a:r>
          </a:p>
        </p:txBody>
      </p:sp>
      <p:sp>
        <p:nvSpPr>
          <p:cNvPr id="42" name="TextBox 41"/>
          <p:cNvSpPr txBox="1"/>
          <p:nvPr/>
        </p:nvSpPr>
        <p:spPr>
          <a:xfrm>
            <a:off x="4005071" y="3931920"/>
            <a:ext cx="1005840" cy="228600"/>
          </a:xfrm>
          <a:prstGeom prst="rect">
            <a:avLst/>
          </a:prstGeom>
          <a:noFill/>
        </p:spPr>
        <p:txBody>
          <a:bodyPr wrap="square" lIns="36576" rIns="36576" tIns="18288" bIns="18288">
            <a:spAutoFit/>
          </a:bodyPr>
          <a:lstStyle/>
          <a:p>
            <a:pPr algn="l"/>
            <a:r>
              <a:rPr sz="650" b="1" i="0">
                <a:solidFill>
                  <a:srgbClr val="F59E0B"/>
                </a:solidFill>
                <a:latin typeface="Inter"/>
              </a:rPr>
              <a:t>Consumer Adoption</a:t>
            </a:r>
          </a:p>
        </p:txBody>
      </p:sp>
      <p:sp>
        <p:nvSpPr>
          <p:cNvPr id="43" name="Oval 42"/>
          <p:cNvSpPr/>
          <p:nvPr/>
        </p:nvSpPr>
        <p:spPr>
          <a:xfrm>
            <a:off x="2286000" y="3749039"/>
            <a:ext cx="219456" cy="21945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86000" y="3749039"/>
            <a:ext cx="219456" cy="219456"/>
          </a:xfrm>
          <a:prstGeom prst="rect">
            <a:avLst/>
          </a:prstGeom>
          <a:noFill/>
        </p:spPr>
        <p:txBody>
          <a:bodyPr wrap="square" lIns="36576" rIns="36576" tIns="18288" bIns="18288">
            <a:spAutoFit/>
          </a:bodyPr>
          <a:lstStyle/>
          <a:p>
            <a:pPr algn="ctr"/>
            <a:r>
              <a:rPr sz="750" b="1" i="0">
                <a:solidFill>
                  <a:srgbClr val="FFFFFF"/>
                </a:solidFill>
                <a:latin typeface="Outfit"/>
              </a:rPr>
              <a:t>5</a:t>
            </a:r>
          </a:p>
        </p:txBody>
      </p:sp>
      <p:sp>
        <p:nvSpPr>
          <p:cNvPr id="45" name="TextBox 44"/>
          <p:cNvSpPr txBox="1"/>
          <p:nvPr/>
        </p:nvSpPr>
        <p:spPr>
          <a:xfrm>
            <a:off x="2542032" y="3749039"/>
            <a:ext cx="1005840" cy="228600"/>
          </a:xfrm>
          <a:prstGeom prst="rect">
            <a:avLst/>
          </a:prstGeom>
          <a:noFill/>
        </p:spPr>
        <p:txBody>
          <a:bodyPr wrap="square" lIns="36576" rIns="36576" tIns="18288" bIns="18288">
            <a:spAutoFit/>
          </a:bodyPr>
          <a:lstStyle/>
          <a:p>
            <a:pPr algn="l"/>
            <a:r>
              <a:rPr sz="650" b="1" i="0">
                <a:solidFill>
                  <a:srgbClr val="059669"/>
                </a:solidFill>
                <a:latin typeface="Inter"/>
              </a:rPr>
              <a:t>HCP ROI</a:t>
            </a:r>
          </a:p>
        </p:txBody>
      </p:sp>
      <p:sp>
        <p:nvSpPr>
          <p:cNvPr id="46" name="TextBox 45"/>
          <p:cNvSpPr txBox="1"/>
          <p:nvPr/>
        </p:nvSpPr>
        <p:spPr>
          <a:xfrm>
            <a:off x="1645920" y="4956048"/>
            <a:ext cx="3017520" cy="182880"/>
          </a:xfrm>
          <a:prstGeom prst="rect">
            <a:avLst/>
          </a:prstGeom>
          <a:noFill/>
        </p:spPr>
        <p:txBody>
          <a:bodyPr wrap="square" lIns="36576" rIns="36576" tIns="18288" bIns="18288">
            <a:spAutoFit/>
          </a:bodyPr>
          <a:lstStyle/>
          <a:p>
            <a:pPr algn="ctr"/>
            <a:r>
              <a:rPr sz="700" b="1" i="0">
                <a:solidFill>
                  <a:srgbClr val="64748B"/>
                </a:solidFill>
                <a:latin typeface="Outfit"/>
              </a:rPr>
              <a:t>← LOW IMPACT   HIGH IMPACT →</a:t>
            </a:r>
          </a:p>
        </p:txBody>
      </p:sp>
      <p:sp>
        <p:nvSpPr>
          <p:cNvPr id="47" name="TextBox 46"/>
          <p:cNvSpPr txBox="1"/>
          <p:nvPr/>
        </p:nvSpPr>
        <p:spPr>
          <a:xfrm>
            <a:off x="1188720" y="2103120"/>
            <a:ext cx="365760" cy="2560320"/>
          </a:xfrm>
          <a:prstGeom prst="rect">
            <a:avLst/>
          </a:prstGeom>
          <a:noFill/>
        </p:spPr>
        <p:txBody>
          <a:bodyPr wrap="square" lIns="36576" rIns="36576" tIns="18288" bIns="18288">
            <a:spAutoFit/>
          </a:bodyPr>
          <a:lstStyle/>
          <a:p>
            <a:pPr algn="ctr"/>
            <a:r>
              <a:rPr sz="700" b="1" i="0">
                <a:solidFill>
                  <a:srgbClr val="64748B"/>
                </a:solidFill>
                <a:latin typeface="Outfit"/>
              </a:rPr>
              <a:t>↑
H
I
G
H
P
R
O
B
L
O
W
↓</a:t>
            </a:r>
          </a:p>
        </p:txBody>
      </p:sp>
      <p:sp>
        <p:nvSpPr>
          <p:cNvPr id="48" name="Rounded Rectangle 47"/>
          <p:cNvSpPr/>
          <p:nvPr/>
        </p:nvSpPr>
        <p:spPr>
          <a:xfrm>
            <a:off x="6217920" y="1463040"/>
            <a:ext cx="5486400" cy="35661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1554480"/>
            <a:ext cx="5120640" cy="228600"/>
          </a:xfrm>
          <a:prstGeom prst="rect">
            <a:avLst/>
          </a:prstGeom>
          <a:noFill/>
        </p:spPr>
        <p:txBody>
          <a:bodyPr wrap="square" lIns="36576" rIns="36576" tIns="18288" bIns="18288">
            <a:spAutoFit/>
          </a:bodyPr>
          <a:lstStyle/>
          <a:p>
            <a:pPr algn="l"/>
            <a:r>
              <a:rPr sz="950" b="1" i="0">
                <a:solidFill>
                  <a:srgbClr val="0284C7"/>
                </a:solidFill>
                <a:latin typeface="Outfit"/>
              </a:rPr>
              <a:t>CHALLENGES &amp; MITIGATIONS</a:t>
            </a:r>
          </a:p>
        </p:txBody>
      </p:sp>
      <p:sp>
        <p:nvSpPr>
          <p:cNvPr id="50" name="Rounded Rectangle 49"/>
          <p:cNvSpPr/>
          <p:nvPr/>
        </p:nvSpPr>
        <p:spPr>
          <a:xfrm>
            <a:off x="6400800" y="1874519"/>
            <a:ext cx="2377440" cy="5303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0" y="1911095"/>
            <a:ext cx="2377440" cy="457200"/>
          </a:xfrm>
          <a:prstGeom prst="rect">
            <a:avLst/>
          </a:prstGeom>
          <a:noFill/>
        </p:spPr>
        <p:txBody>
          <a:bodyPr wrap="square" lIns="36576" rIns="36576" tIns="18288" bIns="18288">
            <a:spAutoFit/>
          </a:bodyPr>
          <a:lstStyle/>
          <a:p>
            <a:pPr algn="ctr"/>
            <a:r>
              <a:rPr sz="780" b="1" i="0">
                <a:solidFill>
                  <a:srgbClr val="FFFFFF"/>
                </a:solidFill>
                <a:latin typeface="Outfit"/>
              </a:rPr>
              <a:t>1. BIS CRS Formulations Delay</a:t>
            </a:r>
          </a:p>
        </p:txBody>
      </p:sp>
      <p:sp>
        <p:nvSpPr>
          <p:cNvPr id="52" name="Rounded Rectangle 51"/>
          <p:cNvSpPr/>
          <p:nvPr/>
        </p:nvSpPr>
        <p:spPr>
          <a:xfrm>
            <a:off x="8823960" y="1874519"/>
            <a:ext cx="2697480" cy="530352"/>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69680" y="1911095"/>
            <a:ext cx="2606040" cy="457200"/>
          </a:xfrm>
          <a:prstGeom prst="rect">
            <a:avLst/>
          </a:prstGeom>
          <a:noFill/>
        </p:spPr>
        <p:txBody>
          <a:bodyPr wrap="square" lIns="36576" rIns="36576" tIns="18288" bIns="18288">
            <a:spAutoFit/>
          </a:bodyPr>
          <a:lstStyle/>
          <a:p>
            <a:pPr algn="l"/>
            <a:r>
              <a:rPr sz="750" b="0" i="0">
                <a:solidFill>
                  <a:srgbClr val="0F172A"/>
                </a:solidFill>
                <a:latin typeface="Inter"/>
              </a:rPr>
              <a:t>Trigger early stability studies in parallel with clinical trials; backup global base formulas.</a:t>
            </a:r>
          </a:p>
        </p:txBody>
      </p:sp>
      <p:sp>
        <p:nvSpPr>
          <p:cNvPr id="54" name="Rounded Rectangle 53"/>
          <p:cNvSpPr/>
          <p:nvPr/>
        </p:nvSpPr>
        <p:spPr>
          <a:xfrm>
            <a:off x="6400800" y="2478023"/>
            <a:ext cx="2377440" cy="5303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0" y="2514599"/>
            <a:ext cx="2377440" cy="457200"/>
          </a:xfrm>
          <a:prstGeom prst="rect">
            <a:avLst/>
          </a:prstGeom>
          <a:noFill/>
        </p:spPr>
        <p:txBody>
          <a:bodyPr wrap="square" lIns="36576" rIns="36576" tIns="18288" bIns="18288">
            <a:spAutoFit/>
          </a:bodyPr>
          <a:lstStyle/>
          <a:p>
            <a:pPr algn="ctr"/>
            <a:r>
              <a:rPr sz="780" b="1" i="0">
                <a:solidFill>
                  <a:srgbClr val="FFFFFF"/>
                </a:solidFill>
                <a:latin typeface="Outfit"/>
              </a:rPr>
              <a:t>2. Competitor Price Undercutting</a:t>
            </a:r>
          </a:p>
        </p:txBody>
      </p:sp>
      <p:sp>
        <p:nvSpPr>
          <p:cNvPr id="56" name="Rounded Rectangle 55"/>
          <p:cNvSpPr/>
          <p:nvPr/>
        </p:nvSpPr>
        <p:spPr>
          <a:xfrm>
            <a:off x="8823960" y="2478023"/>
            <a:ext cx="2697480" cy="530352"/>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869680" y="2514599"/>
            <a:ext cx="2606040" cy="457200"/>
          </a:xfrm>
          <a:prstGeom prst="rect">
            <a:avLst/>
          </a:prstGeom>
          <a:noFill/>
        </p:spPr>
        <p:txBody>
          <a:bodyPr wrap="square" lIns="36576" rIns="36576" tIns="18288" bIns="18288">
            <a:spAutoFit/>
          </a:bodyPr>
          <a:lstStyle/>
          <a:p>
            <a:pPr algn="l"/>
            <a:r>
              <a:rPr sz="750" b="0" i="0">
                <a:solidFill>
                  <a:srgbClr val="0F172A"/>
                </a:solidFill>
                <a:latin typeface="Inter"/>
              </a:rPr>
              <a:t>Reinforce Cetaphil's medical clinical superiority in derm prescriptions; launch 100ml Yr 4 economy.</a:t>
            </a:r>
          </a:p>
        </p:txBody>
      </p:sp>
      <p:sp>
        <p:nvSpPr>
          <p:cNvPr id="58" name="Rounded Rectangle 57"/>
          <p:cNvSpPr/>
          <p:nvPr/>
        </p:nvSpPr>
        <p:spPr>
          <a:xfrm>
            <a:off x="6400800" y="3081527"/>
            <a:ext cx="2377440" cy="5303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0" y="3118103"/>
            <a:ext cx="2377440" cy="457200"/>
          </a:xfrm>
          <a:prstGeom prst="rect">
            <a:avLst/>
          </a:prstGeom>
          <a:noFill/>
        </p:spPr>
        <p:txBody>
          <a:bodyPr wrap="square" lIns="36576" rIns="36576" tIns="18288" bIns="18288">
            <a:spAutoFit/>
          </a:bodyPr>
          <a:lstStyle/>
          <a:p>
            <a:pPr algn="ctr"/>
            <a:r>
              <a:rPr sz="780" b="1" i="0">
                <a:solidFill>
                  <a:srgbClr val="FFFFFF"/>
                </a:solidFill>
                <a:latin typeface="Outfit"/>
              </a:rPr>
              <a:t>3. Supply Chain Stockouts</a:t>
            </a:r>
          </a:p>
        </p:txBody>
      </p:sp>
      <p:sp>
        <p:nvSpPr>
          <p:cNvPr id="60" name="Rounded Rectangle 59"/>
          <p:cNvSpPr/>
          <p:nvPr/>
        </p:nvSpPr>
        <p:spPr>
          <a:xfrm>
            <a:off x="8823960" y="3081527"/>
            <a:ext cx="2697480" cy="530352"/>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69680" y="3118103"/>
            <a:ext cx="2606040" cy="457200"/>
          </a:xfrm>
          <a:prstGeom prst="rect">
            <a:avLst/>
          </a:prstGeom>
          <a:noFill/>
        </p:spPr>
        <p:txBody>
          <a:bodyPr wrap="square" lIns="36576" rIns="36576" tIns="18288" bIns="18288">
            <a:spAutoFit/>
          </a:bodyPr>
          <a:lstStyle/>
          <a:p>
            <a:pPr algn="l"/>
            <a:r>
              <a:rPr sz="750" b="0" i="0">
                <a:solidFill>
                  <a:srgbClr val="0F172A"/>
                </a:solidFill>
                <a:latin typeface="Inter"/>
              </a:rPr>
              <a:t>Contract local contract manufacturing (Third-party) in India to secure high-volume demand.</a:t>
            </a:r>
          </a:p>
        </p:txBody>
      </p:sp>
      <p:sp>
        <p:nvSpPr>
          <p:cNvPr id="62" name="Rounded Rectangle 61"/>
          <p:cNvSpPr/>
          <p:nvPr/>
        </p:nvSpPr>
        <p:spPr>
          <a:xfrm>
            <a:off x="6400800" y="3685031"/>
            <a:ext cx="2377440" cy="5303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3721607"/>
            <a:ext cx="2377440" cy="457200"/>
          </a:xfrm>
          <a:prstGeom prst="rect">
            <a:avLst/>
          </a:prstGeom>
          <a:noFill/>
        </p:spPr>
        <p:txBody>
          <a:bodyPr wrap="square" lIns="36576" rIns="36576" tIns="18288" bIns="18288">
            <a:spAutoFit/>
          </a:bodyPr>
          <a:lstStyle/>
          <a:p>
            <a:pPr algn="ctr"/>
            <a:r>
              <a:rPr sz="780" b="1" i="0">
                <a:solidFill>
                  <a:srgbClr val="FFFFFF"/>
                </a:solidFill>
                <a:latin typeface="Outfit"/>
              </a:rPr>
              <a:t>4. Low D2C Consumer Adoption</a:t>
            </a:r>
          </a:p>
        </p:txBody>
      </p:sp>
      <p:sp>
        <p:nvSpPr>
          <p:cNvPr id="64" name="Rounded Rectangle 63"/>
          <p:cNvSpPr/>
          <p:nvPr/>
        </p:nvSpPr>
        <p:spPr>
          <a:xfrm>
            <a:off x="8823960" y="3685031"/>
            <a:ext cx="2697480" cy="530352"/>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869680" y="3721607"/>
            <a:ext cx="2606040" cy="457200"/>
          </a:xfrm>
          <a:prstGeom prst="rect">
            <a:avLst/>
          </a:prstGeom>
          <a:noFill/>
        </p:spPr>
        <p:txBody>
          <a:bodyPr wrap="square" lIns="36576" rIns="36576" tIns="18288" bIns="18288">
            <a:spAutoFit/>
          </a:bodyPr>
          <a:lstStyle/>
          <a:p>
            <a:pPr algn="l"/>
            <a:r>
              <a:rPr sz="750" b="0" i="0">
                <a:solidFill>
                  <a:srgbClr val="0F172A"/>
                </a:solidFill>
                <a:latin typeface="Inter"/>
              </a:rPr>
              <a:t>Increase seeding via SunMatch AI skin quiz and offer auto-refill subscription discounts.</a:t>
            </a:r>
          </a:p>
        </p:txBody>
      </p:sp>
      <p:sp>
        <p:nvSpPr>
          <p:cNvPr id="66" name="Rounded Rectangle 65"/>
          <p:cNvSpPr/>
          <p:nvPr/>
        </p:nvSpPr>
        <p:spPr>
          <a:xfrm>
            <a:off x="6400800" y="4288535"/>
            <a:ext cx="2377440" cy="5303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0" y="4325111"/>
            <a:ext cx="2377440" cy="457200"/>
          </a:xfrm>
          <a:prstGeom prst="rect">
            <a:avLst/>
          </a:prstGeom>
          <a:noFill/>
        </p:spPr>
        <p:txBody>
          <a:bodyPr wrap="square" lIns="36576" rIns="36576" tIns="18288" bIns="18288">
            <a:spAutoFit/>
          </a:bodyPr>
          <a:lstStyle/>
          <a:p>
            <a:pPr algn="ctr"/>
            <a:r>
              <a:rPr sz="780" b="1" i="0">
                <a:solidFill>
                  <a:srgbClr val="FFFFFF"/>
                </a:solidFill>
                <a:latin typeface="Outfit"/>
              </a:rPr>
              <a:t>5. Low HCP Seeding conversion</a:t>
            </a:r>
          </a:p>
        </p:txBody>
      </p:sp>
      <p:sp>
        <p:nvSpPr>
          <p:cNvPr id="68" name="Rounded Rectangle 67"/>
          <p:cNvSpPr/>
          <p:nvPr/>
        </p:nvSpPr>
        <p:spPr>
          <a:xfrm>
            <a:off x="8823960" y="4288535"/>
            <a:ext cx="2697480" cy="530352"/>
          </a:xfrm>
          <a:prstGeom prst="roundRect">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69680" y="4325111"/>
            <a:ext cx="2606040" cy="457200"/>
          </a:xfrm>
          <a:prstGeom prst="rect">
            <a:avLst/>
          </a:prstGeom>
          <a:noFill/>
        </p:spPr>
        <p:txBody>
          <a:bodyPr wrap="square" lIns="36576" rIns="36576" tIns="18288" bIns="18288">
            <a:spAutoFit/>
          </a:bodyPr>
          <a:lstStyle/>
          <a:p>
            <a:pPr algn="l"/>
            <a:r>
              <a:rPr sz="750" b="0" i="0">
                <a:solidFill>
                  <a:srgbClr val="0F172A"/>
                </a:solidFill>
                <a:latin typeface="Inter"/>
              </a:rPr>
              <a:t>Launch the aesthetic dermatologist advisory board and IADVL local CME sponsorships.</a:t>
            </a:r>
          </a:p>
        </p:txBody>
      </p:sp>
      <p:sp>
        <p:nvSpPr>
          <p:cNvPr id="70" name="Rounded Rectangle 69"/>
          <p:cNvSpPr/>
          <p:nvPr/>
        </p:nvSpPr>
        <p:spPr>
          <a:xfrm>
            <a:off x="411480" y="5166360"/>
            <a:ext cx="11365992" cy="1188720"/>
          </a:xfrm>
          <a:prstGeom prst="roundRect">
            <a:avLst/>
          </a:prstGeom>
          <a:solidFill>
            <a:srgbClr val="FFFBEB"/>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94360" y="5257800"/>
            <a:ext cx="10972800" cy="1005840"/>
          </a:xfrm>
          <a:prstGeom prst="rect">
            <a:avLst/>
          </a:prstGeom>
          <a:noFill/>
        </p:spPr>
        <p:txBody>
          <a:bodyPr wrap="square" lIns="36576" rIns="36576" tIns="18288" bIns="18288">
            <a:spAutoFit/>
          </a:bodyPr>
          <a:lstStyle/>
          <a:p>
            <a:pPr algn="l"/>
            <a:r>
              <a:rPr sz="950" b="0" i="0">
                <a:solidFill>
                  <a:srgbClr val="0F172A"/>
                </a:solidFill>
                <a:latin typeface="Inter"/>
              </a:rPr>
              <a:t>Risk Governance: Form a dedicated cross-functional Sunshield committee (R&amp;D, Regulatory, Marketing, Sales) meeting bi-weekly. Active monitoring of competitor launches in the ₹400-800 price range, and monthly tracking of HCP sampling ROI and clinic prescription conversion rates.</a:t>
            </a:r>
          </a:p>
        </p:txBody>
      </p:sp>
      <p:sp>
        <p:nvSpPr>
          <p:cNvPr id="72" name="Rectangle 71"/>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Risk probability/impact assessed via qualitative scenario analysis (1–5 scale) | BIS = Bureau of Indian Standards</a:t>
            </a:r>
          </a:p>
        </p:txBody>
      </p:sp>
      <p:sp>
        <p:nvSpPr>
          <p:cNvPr id="74" name="TextBox 73"/>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13 of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91695" cy="9144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7315200" cy="201168"/>
          </a:xfrm>
          <a:prstGeom prst="rect">
            <a:avLst/>
          </a:prstGeom>
          <a:noFill/>
        </p:spPr>
        <p:txBody>
          <a:bodyPr wrap="square" lIns="36576" rIns="36576" tIns="18288" bIns="18288">
            <a:spAutoFit/>
          </a:bodyPr>
          <a:lstStyle/>
          <a:p>
            <a:pPr algn="l"/>
            <a:r>
              <a:rPr sz="800" b="1" i="0">
                <a:solidFill>
                  <a:srgbClr val="EA580C"/>
                </a:solidFill>
                <a:latin typeface="Outfit"/>
              </a:rPr>
              <a:t>GRAD 3.0 · GALDERMA RISING ACHIEVERS IN DERMATOLOGY</a:t>
            </a:r>
          </a:p>
        </p:txBody>
      </p:sp>
      <p:sp>
        <p:nvSpPr>
          <p:cNvPr id="5" name="TextBox 4"/>
          <p:cNvSpPr txBox="1"/>
          <p:nvPr/>
        </p:nvSpPr>
        <p:spPr>
          <a:xfrm>
            <a:off x="457200" y="301752"/>
            <a:ext cx="8686800" cy="594360"/>
          </a:xfrm>
          <a:prstGeom prst="rect">
            <a:avLst/>
          </a:prstGeom>
          <a:noFill/>
        </p:spPr>
        <p:txBody>
          <a:bodyPr wrap="square" lIns="36576" rIns="36576" tIns="18288" bIns="18288">
            <a:spAutoFit/>
          </a:bodyPr>
          <a:lstStyle/>
          <a:p>
            <a:pPr algn="l"/>
            <a:r>
              <a:rPr sz="2000" b="1" i="0">
                <a:solidFill>
                  <a:srgbClr val="0F172A"/>
                </a:solidFill>
                <a:latin typeface="Outfit"/>
              </a:rPr>
              <a:t>Appendix: Data Sources, Audits &amp; References</a:t>
            </a:r>
          </a:p>
        </p:txBody>
      </p:sp>
      <p:sp>
        <p:nvSpPr>
          <p:cNvPr id="6" name="TextBox 5"/>
          <p:cNvSpPr txBox="1"/>
          <p:nvPr/>
        </p:nvSpPr>
        <p:spPr>
          <a:xfrm>
            <a:off x="8412480" y="91440"/>
            <a:ext cx="3657600" cy="201168"/>
          </a:xfrm>
          <a:prstGeom prst="rect">
            <a:avLst/>
          </a:prstGeom>
          <a:noFill/>
        </p:spPr>
        <p:txBody>
          <a:bodyPr wrap="square" lIns="36576" rIns="36576" tIns="18288" bIns="18288">
            <a:spAutoFit/>
          </a:bodyPr>
          <a:lstStyle/>
          <a:p>
            <a:pPr algn="r"/>
            <a:r>
              <a:rPr sz="800" b="1" i="0">
                <a:solidFill>
                  <a:srgbClr val="64748B"/>
                </a:solidFill>
                <a:latin typeface="Outfit"/>
              </a:rPr>
              <a:t>SLIDE 14 · APPENDIX</a:t>
            </a:r>
          </a:p>
        </p:txBody>
      </p:sp>
      <p:sp>
        <p:nvSpPr>
          <p:cNvPr id="7" name="Rounded Rectangle 6"/>
          <p:cNvSpPr/>
          <p:nvPr/>
        </p:nvSpPr>
        <p:spPr>
          <a:xfrm>
            <a:off x="457200" y="1371600"/>
            <a:ext cx="5486400" cy="4937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5120640" cy="228600"/>
          </a:xfrm>
          <a:prstGeom prst="rect">
            <a:avLst/>
          </a:prstGeom>
          <a:noFill/>
        </p:spPr>
        <p:txBody>
          <a:bodyPr wrap="square" lIns="36576" rIns="36576" tIns="18288" bIns="18288">
            <a:spAutoFit/>
          </a:bodyPr>
          <a:lstStyle/>
          <a:p>
            <a:pPr algn="l"/>
            <a:r>
              <a:rPr sz="950" b="1" i="0">
                <a:solidFill>
                  <a:srgbClr val="0284C7"/>
                </a:solidFill>
                <a:latin typeface="Outfit"/>
              </a:rPr>
              <a:t>A. PREMIUM SUNSCREEN PRICING AUDIT DETAIL (N=50)</a:t>
            </a:r>
          </a:p>
        </p:txBody>
      </p:sp>
      <p:sp>
        <p:nvSpPr>
          <p:cNvPr id="9" name="Rectangle 8"/>
          <p:cNvSpPr/>
          <p:nvPr/>
        </p:nvSpPr>
        <p:spPr>
          <a:xfrm>
            <a:off x="640080" y="1737360"/>
            <a:ext cx="1645920" cy="43891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37360"/>
            <a:ext cx="1645920" cy="43891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47088"/>
            <a:ext cx="1572768" cy="228600"/>
          </a:xfrm>
          <a:prstGeom prst="rect">
            <a:avLst/>
          </a:prstGeom>
          <a:noFill/>
        </p:spPr>
        <p:txBody>
          <a:bodyPr wrap="square" lIns="36576" rIns="36576" tIns="18288" bIns="18288">
            <a:spAutoFit/>
          </a:bodyPr>
          <a:lstStyle/>
          <a:p>
            <a:pPr algn="l"/>
            <a:r>
              <a:rPr sz="800" b="1" i="0">
                <a:solidFill>
                  <a:srgbClr val="FFFFFF"/>
                </a:solidFill>
                <a:latin typeface="Outfit"/>
              </a:rPr>
              <a:t>Brand SKU</a:t>
            </a:r>
          </a:p>
        </p:txBody>
      </p:sp>
      <p:sp>
        <p:nvSpPr>
          <p:cNvPr id="12" name="Rectangle 11"/>
          <p:cNvSpPr/>
          <p:nvPr/>
        </p:nvSpPr>
        <p:spPr>
          <a:xfrm>
            <a:off x="2304288" y="1737360"/>
            <a:ext cx="731520" cy="43891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04288" y="1737360"/>
            <a:ext cx="731520" cy="43891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50008" y="1847088"/>
            <a:ext cx="658368" cy="228600"/>
          </a:xfrm>
          <a:prstGeom prst="rect">
            <a:avLst/>
          </a:prstGeom>
          <a:noFill/>
        </p:spPr>
        <p:txBody>
          <a:bodyPr wrap="square" lIns="36576" rIns="36576" tIns="18288" bIns="18288">
            <a:spAutoFit/>
          </a:bodyPr>
          <a:lstStyle/>
          <a:p>
            <a:pPr algn="l"/>
            <a:r>
              <a:rPr sz="800" b="1" i="0">
                <a:solidFill>
                  <a:srgbClr val="FFFFFF"/>
                </a:solidFill>
                <a:latin typeface="Outfit"/>
              </a:rPr>
              <a:t>MRP (₹)</a:t>
            </a:r>
          </a:p>
        </p:txBody>
      </p:sp>
      <p:sp>
        <p:nvSpPr>
          <p:cNvPr id="15" name="Rectangle 14"/>
          <p:cNvSpPr/>
          <p:nvPr/>
        </p:nvSpPr>
        <p:spPr>
          <a:xfrm>
            <a:off x="3054096" y="1737360"/>
            <a:ext cx="731520" cy="43891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54096" y="1737360"/>
            <a:ext cx="731520" cy="43891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9816" y="1847088"/>
            <a:ext cx="658368" cy="228600"/>
          </a:xfrm>
          <a:prstGeom prst="rect">
            <a:avLst/>
          </a:prstGeom>
          <a:noFill/>
        </p:spPr>
        <p:txBody>
          <a:bodyPr wrap="square" lIns="36576" rIns="36576" tIns="18288" bIns="18288">
            <a:spAutoFit/>
          </a:bodyPr>
          <a:lstStyle/>
          <a:p>
            <a:pPr algn="l"/>
            <a:r>
              <a:rPr sz="800" b="1" i="0">
                <a:solidFill>
                  <a:srgbClr val="FFFFFF"/>
                </a:solidFill>
                <a:latin typeface="Outfit"/>
              </a:rPr>
              <a:t>Vol (ml)</a:t>
            </a:r>
          </a:p>
        </p:txBody>
      </p:sp>
      <p:sp>
        <p:nvSpPr>
          <p:cNvPr id="18" name="Rectangle 17"/>
          <p:cNvSpPr/>
          <p:nvPr/>
        </p:nvSpPr>
        <p:spPr>
          <a:xfrm>
            <a:off x="3803904" y="1737360"/>
            <a:ext cx="640080" cy="43891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03904" y="1737360"/>
            <a:ext cx="640080" cy="43891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9624" y="1847088"/>
            <a:ext cx="566928" cy="228600"/>
          </a:xfrm>
          <a:prstGeom prst="rect">
            <a:avLst/>
          </a:prstGeom>
          <a:noFill/>
        </p:spPr>
        <p:txBody>
          <a:bodyPr wrap="square" lIns="36576" rIns="36576" tIns="18288" bIns="18288">
            <a:spAutoFit/>
          </a:bodyPr>
          <a:lstStyle/>
          <a:p>
            <a:pPr algn="l"/>
            <a:r>
              <a:rPr sz="800" b="1" i="0">
                <a:solidFill>
                  <a:srgbClr val="FFFFFF"/>
                </a:solidFill>
                <a:latin typeface="Outfit"/>
              </a:rPr>
              <a:t>Derm?</a:t>
            </a:r>
          </a:p>
        </p:txBody>
      </p:sp>
      <p:sp>
        <p:nvSpPr>
          <p:cNvPr id="21" name="Rectangle 20"/>
          <p:cNvSpPr/>
          <p:nvPr/>
        </p:nvSpPr>
        <p:spPr>
          <a:xfrm>
            <a:off x="4462272" y="1737360"/>
            <a:ext cx="1371600" cy="438912"/>
          </a:xfrm>
          <a:prstGeom prst="rect">
            <a:avLst/>
          </a:prstGeom>
          <a:solidFill>
            <a:srgbClr val="F0F9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62272" y="1737360"/>
            <a:ext cx="1371600" cy="438912"/>
          </a:xfrm>
          <a:prstGeom prst="rect">
            <a:avLst/>
          </a:prstGeom>
          <a:solidFill>
            <a:srgbClr val="0284C7"/>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7992" y="1847088"/>
            <a:ext cx="1298448" cy="228600"/>
          </a:xfrm>
          <a:prstGeom prst="rect">
            <a:avLst/>
          </a:prstGeom>
          <a:noFill/>
        </p:spPr>
        <p:txBody>
          <a:bodyPr wrap="square" lIns="36576" rIns="36576" tIns="18288" bIns="18288">
            <a:spAutoFit/>
          </a:bodyPr>
          <a:lstStyle/>
          <a:p>
            <a:pPr algn="l"/>
            <a:r>
              <a:rPr sz="800" b="1" i="0">
                <a:solidFill>
                  <a:srgbClr val="FFFFFF"/>
                </a:solidFill>
                <a:latin typeface="Outfit"/>
              </a:rPr>
              <a:t>Est. Share</a:t>
            </a:r>
          </a:p>
        </p:txBody>
      </p:sp>
      <p:sp>
        <p:nvSpPr>
          <p:cNvPr id="24" name="Rectangle 23"/>
          <p:cNvSpPr/>
          <p:nvPr/>
        </p:nvSpPr>
        <p:spPr>
          <a:xfrm>
            <a:off x="640080" y="2176272"/>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2286000"/>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Minimalist Fluid</a:t>
            </a:r>
          </a:p>
        </p:txBody>
      </p:sp>
      <p:sp>
        <p:nvSpPr>
          <p:cNvPr id="26" name="Rectangle 25"/>
          <p:cNvSpPr/>
          <p:nvPr/>
        </p:nvSpPr>
        <p:spPr>
          <a:xfrm>
            <a:off x="2304288" y="2176272"/>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50008" y="2286000"/>
            <a:ext cx="658368" cy="228600"/>
          </a:xfrm>
          <a:prstGeom prst="rect">
            <a:avLst/>
          </a:prstGeom>
          <a:noFill/>
        </p:spPr>
        <p:txBody>
          <a:bodyPr wrap="square" lIns="36576" rIns="36576" tIns="18288" bIns="18288">
            <a:spAutoFit/>
          </a:bodyPr>
          <a:lstStyle/>
          <a:p>
            <a:pPr algn="l"/>
            <a:r>
              <a:rPr sz="780" b="0" i="0">
                <a:solidFill>
                  <a:srgbClr val="0F172A"/>
                </a:solidFill>
                <a:latin typeface="Inter"/>
              </a:rPr>
              <a:t>₹399</a:t>
            </a:r>
          </a:p>
        </p:txBody>
      </p:sp>
      <p:sp>
        <p:nvSpPr>
          <p:cNvPr id="28" name="Rectangle 27"/>
          <p:cNvSpPr/>
          <p:nvPr/>
        </p:nvSpPr>
        <p:spPr>
          <a:xfrm>
            <a:off x="3054096" y="2176272"/>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99816" y="2286000"/>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50ml</a:t>
            </a:r>
          </a:p>
        </p:txBody>
      </p:sp>
      <p:sp>
        <p:nvSpPr>
          <p:cNvPr id="30" name="Rectangle 29"/>
          <p:cNvSpPr/>
          <p:nvPr/>
        </p:nvSpPr>
        <p:spPr>
          <a:xfrm>
            <a:off x="3803904" y="2176272"/>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9624" y="2286000"/>
            <a:ext cx="566928" cy="228600"/>
          </a:xfrm>
          <a:prstGeom prst="rect">
            <a:avLst/>
          </a:prstGeom>
          <a:noFill/>
        </p:spPr>
        <p:txBody>
          <a:bodyPr wrap="square" lIns="36576" rIns="36576" tIns="18288" bIns="18288">
            <a:spAutoFit/>
          </a:bodyPr>
          <a:lstStyle/>
          <a:p>
            <a:pPr algn="l"/>
            <a:r>
              <a:rPr sz="780" b="0" i="0">
                <a:solidFill>
                  <a:srgbClr val="0F172A"/>
                </a:solidFill>
                <a:latin typeface="Inter"/>
              </a:rPr>
              <a:t>No</a:t>
            </a:r>
          </a:p>
        </p:txBody>
      </p:sp>
      <p:sp>
        <p:nvSpPr>
          <p:cNvPr id="32" name="Rectangle 31"/>
          <p:cNvSpPr/>
          <p:nvPr/>
        </p:nvSpPr>
        <p:spPr>
          <a:xfrm>
            <a:off x="4462272" y="2176272"/>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7992" y="2286000"/>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18%</a:t>
            </a:r>
          </a:p>
        </p:txBody>
      </p:sp>
      <p:sp>
        <p:nvSpPr>
          <p:cNvPr id="34" name="Rectangle 33"/>
          <p:cNvSpPr/>
          <p:nvPr/>
        </p:nvSpPr>
        <p:spPr>
          <a:xfrm>
            <a:off x="640080" y="2615184"/>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2724912"/>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Derma Co Gel</a:t>
            </a:r>
          </a:p>
        </p:txBody>
      </p:sp>
      <p:sp>
        <p:nvSpPr>
          <p:cNvPr id="36" name="Rectangle 35"/>
          <p:cNvSpPr/>
          <p:nvPr/>
        </p:nvSpPr>
        <p:spPr>
          <a:xfrm>
            <a:off x="2304288" y="2615184"/>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50008" y="2724912"/>
            <a:ext cx="658368" cy="228600"/>
          </a:xfrm>
          <a:prstGeom prst="rect">
            <a:avLst/>
          </a:prstGeom>
          <a:noFill/>
        </p:spPr>
        <p:txBody>
          <a:bodyPr wrap="square" lIns="36576" rIns="36576" tIns="18288" bIns="18288">
            <a:spAutoFit/>
          </a:bodyPr>
          <a:lstStyle/>
          <a:p>
            <a:pPr algn="l"/>
            <a:r>
              <a:rPr sz="780" b="0" i="0">
                <a:solidFill>
                  <a:srgbClr val="0F172A"/>
                </a:solidFill>
                <a:latin typeface="Inter"/>
              </a:rPr>
              <a:t>₹475</a:t>
            </a:r>
          </a:p>
        </p:txBody>
      </p:sp>
      <p:sp>
        <p:nvSpPr>
          <p:cNvPr id="38" name="Rectangle 37"/>
          <p:cNvSpPr/>
          <p:nvPr/>
        </p:nvSpPr>
        <p:spPr>
          <a:xfrm>
            <a:off x="3054096" y="2615184"/>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99816" y="2724912"/>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50ml</a:t>
            </a:r>
          </a:p>
        </p:txBody>
      </p:sp>
      <p:sp>
        <p:nvSpPr>
          <p:cNvPr id="40" name="Rectangle 39"/>
          <p:cNvSpPr/>
          <p:nvPr/>
        </p:nvSpPr>
        <p:spPr>
          <a:xfrm>
            <a:off x="3803904" y="2615184"/>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49624" y="2724912"/>
            <a:ext cx="566928" cy="228600"/>
          </a:xfrm>
          <a:prstGeom prst="rect">
            <a:avLst/>
          </a:prstGeom>
          <a:noFill/>
        </p:spPr>
        <p:txBody>
          <a:bodyPr wrap="square" lIns="36576" rIns="36576" tIns="18288" bIns="18288">
            <a:spAutoFit/>
          </a:bodyPr>
          <a:lstStyle/>
          <a:p>
            <a:pPr algn="l"/>
            <a:r>
              <a:rPr sz="780" b="0" i="0">
                <a:solidFill>
                  <a:srgbClr val="0F172A"/>
                </a:solidFill>
                <a:latin typeface="Inter"/>
              </a:rPr>
              <a:t>Partial</a:t>
            </a:r>
          </a:p>
        </p:txBody>
      </p:sp>
      <p:sp>
        <p:nvSpPr>
          <p:cNvPr id="42" name="Rectangle 41"/>
          <p:cNvSpPr/>
          <p:nvPr/>
        </p:nvSpPr>
        <p:spPr>
          <a:xfrm>
            <a:off x="4462272" y="2615184"/>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07992" y="2724912"/>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12%</a:t>
            </a:r>
          </a:p>
        </p:txBody>
      </p:sp>
      <p:sp>
        <p:nvSpPr>
          <p:cNvPr id="44" name="Rectangle 43"/>
          <p:cNvSpPr/>
          <p:nvPr/>
        </p:nvSpPr>
        <p:spPr>
          <a:xfrm>
            <a:off x="640080" y="3054096"/>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3163824"/>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Re'equil Ultra Gel</a:t>
            </a:r>
          </a:p>
        </p:txBody>
      </p:sp>
      <p:sp>
        <p:nvSpPr>
          <p:cNvPr id="46" name="Rectangle 45"/>
          <p:cNvSpPr/>
          <p:nvPr/>
        </p:nvSpPr>
        <p:spPr>
          <a:xfrm>
            <a:off x="2304288" y="3054096"/>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50008" y="3163824"/>
            <a:ext cx="658368" cy="228600"/>
          </a:xfrm>
          <a:prstGeom prst="rect">
            <a:avLst/>
          </a:prstGeom>
          <a:noFill/>
        </p:spPr>
        <p:txBody>
          <a:bodyPr wrap="square" lIns="36576" rIns="36576" tIns="18288" bIns="18288">
            <a:spAutoFit/>
          </a:bodyPr>
          <a:lstStyle/>
          <a:p>
            <a:pPr algn="l"/>
            <a:r>
              <a:rPr sz="780" b="0" i="0">
                <a:solidFill>
                  <a:srgbClr val="0F172A"/>
                </a:solidFill>
                <a:latin typeface="Inter"/>
              </a:rPr>
              <a:t>₹695</a:t>
            </a:r>
          </a:p>
        </p:txBody>
      </p:sp>
      <p:sp>
        <p:nvSpPr>
          <p:cNvPr id="48" name="Rectangle 47"/>
          <p:cNvSpPr/>
          <p:nvPr/>
        </p:nvSpPr>
        <p:spPr>
          <a:xfrm>
            <a:off x="3054096" y="3054096"/>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99816" y="3163824"/>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50ml</a:t>
            </a:r>
          </a:p>
        </p:txBody>
      </p:sp>
      <p:sp>
        <p:nvSpPr>
          <p:cNvPr id="50" name="Rectangle 49"/>
          <p:cNvSpPr/>
          <p:nvPr/>
        </p:nvSpPr>
        <p:spPr>
          <a:xfrm>
            <a:off x="3803904" y="3054096"/>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49624" y="3163824"/>
            <a:ext cx="56692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52" name="Rectangle 51"/>
          <p:cNvSpPr/>
          <p:nvPr/>
        </p:nvSpPr>
        <p:spPr>
          <a:xfrm>
            <a:off x="4462272" y="3054096"/>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07992" y="3163824"/>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15%</a:t>
            </a:r>
          </a:p>
        </p:txBody>
      </p:sp>
      <p:sp>
        <p:nvSpPr>
          <p:cNvPr id="54" name="Rectangle 53"/>
          <p:cNvSpPr/>
          <p:nvPr/>
        </p:nvSpPr>
        <p:spPr>
          <a:xfrm>
            <a:off x="640080" y="3493008"/>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800" y="3602736"/>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La Shield Matte</a:t>
            </a:r>
          </a:p>
        </p:txBody>
      </p:sp>
      <p:sp>
        <p:nvSpPr>
          <p:cNvPr id="56" name="Rectangle 55"/>
          <p:cNvSpPr/>
          <p:nvPr/>
        </p:nvSpPr>
        <p:spPr>
          <a:xfrm>
            <a:off x="2304288" y="3493008"/>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50008" y="3602736"/>
            <a:ext cx="658368" cy="228600"/>
          </a:xfrm>
          <a:prstGeom prst="rect">
            <a:avLst/>
          </a:prstGeom>
          <a:noFill/>
        </p:spPr>
        <p:txBody>
          <a:bodyPr wrap="square" lIns="36576" rIns="36576" tIns="18288" bIns="18288">
            <a:spAutoFit/>
          </a:bodyPr>
          <a:lstStyle/>
          <a:p>
            <a:pPr algn="l"/>
            <a:r>
              <a:rPr sz="780" b="0" i="0">
                <a:solidFill>
                  <a:srgbClr val="0F172A"/>
                </a:solidFill>
                <a:latin typeface="Inter"/>
              </a:rPr>
              <a:t>₹780</a:t>
            </a:r>
          </a:p>
        </p:txBody>
      </p:sp>
      <p:sp>
        <p:nvSpPr>
          <p:cNvPr id="58" name="Rectangle 57"/>
          <p:cNvSpPr/>
          <p:nvPr/>
        </p:nvSpPr>
        <p:spPr>
          <a:xfrm>
            <a:off x="3054096" y="3493008"/>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99816" y="3602736"/>
            <a:ext cx="658368" cy="228600"/>
          </a:xfrm>
          <a:prstGeom prst="rect">
            <a:avLst/>
          </a:prstGeom>
          <a:noFill/>
        </p:spPr>
        <p:txBody>
          <a:bodyPr wrap="square" lIns="36576" rIns="36576" tIns="18288" bIns="18288">
            <a:spAutoFit/>
          </a:bodyPr>
          <a:lstStyle/>
          <a:p>
            <a:pPr algn="l"/>
            <a:r>
              <a:rPr sz="780" b="0" i="0">
                <a:solidFill>
                  <a:srgbClr val="0F172A"/>
                </a:solidFill>
                <a:latin typeface="Inter"/>
              </a:rPr>
              <a:t>60g</a:t>
            </a:r>
          </a:p>
        </p:txBody>
      </p:sp>
      <p:sp>
        <p:nvSpPr>
          <p:cNvPr id="60" name="Rectangle 59"/>
          <p:cNvSpPr/>
          <p:nvPr/>
        </p:nvSpPr>
        <p:spPr>
          <a:xfrm>
            <a:off x="3803904" y="3493008"/>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9624" y="3602736"/>
            <a:ext cx="56692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62" name="Rectangle 61"/>
          <p:cNvSpPr/>
          <p:nvPr/>
        </p:nvSpPr>
        <p:spPr>
          <a:xfrm>
            <a:off x="4462272" y="3493008"/>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07992" y="3602736"/>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8%</a:t>
            </a:r>
          </a:p>
        </p:txBody>
      </p:sp>
      <p:sp>
        <p:nvSpPr>
          <p:cNvPr id="64" name="Rectangle 63"/>
          <p:cNvSpPr/>
          <p:nvPr/>
        </p:nvSpPr>
        <p:spPr>
          <a:xfrm>
            <a:off x="640080" y="3931920"/>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5800" y="4041648"/>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IPCA Acne-UV Gel</a:t>
            </a:r>
          </a:p>
        </p:txBody>
      </p:sp>
      <p:sp>
        <p:nvSpPr>
          <p:cNvPr id="66" name="Rectangle 65"/>
          <p:cNvSpPr/>
          <p:nvPr/>
        </p:nvSpPr>
        <p:spPr>
          <a:xfrm>
            <a:off x="2304288" y="3931920"/>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350008" y="4041648"/>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₹580</a:t>
            </a:r>
          </a:p>
        </p:txBody>
      </p:sp>
      <p:sp>
        <p:nvSpPr>
          <p:cNvPr id="68" name="Rectangle 67"/>
          <p:cNvSpPr/>
          <p:nvPr/>
        </p:nvSpPr>
        <p:spPr>
          <a:xfrm>
            <a:off x="3054096" y="3931920"/>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99816" y="4041648"/>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50g</a:t>
            </a:r>
          </a:p>
        </p:txBody>
      </p:sp>
      <p:sp>
        <p:nvSpPr>
          <p:cNvPr id="70" name="Rectangle 69"/>
          <p:cNvSpPr/>
          <p:nvPr/>
        </p:nvSpPr>
        <p:spPr>
          <a:xfrm>
            <a:off x="3803904" y="3931920"/>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49624" y="4041648"/>
            <a:ext cx="566928" cy="228600"/>
          </a:xfrm>
          <a:prstGeom prst="rect">
            <a:avLst/>
          </a:prstGeom>
          <a:noFill/>
        </p:spPr>
        <p:txBody>
          <a:bodyPr wrap="square" lIns="36576" rIns="36576" tIns="18288" bIns="18288">
            <a:spAutoFit/>
          </a:bodyPr>
          <a:lstStyle/>
          <a:p>
            <a:pPr algn="l"/>
            <a:r>
              <a:rPr sz="780" b="0" i="0">
                <a:solidFill>
                  <a:srgbClr val="0F172A"/>
                </a:solidFill>
                <a:latin typeface="Inter"/>
              </a:rPr>
              <a:t>Rx</a:t>
            </a:r>
          </a:p>
        </p:txBody>
      </p:sp>
      <p:sp>
        <p:nvSpPr>
          <p:cNvPr id="72" name="Rectangle 71"/>
          <p:cNvSpPr/>
          <p:nvPr/>
        </p:nvSpPr>
        <p:spPr>
          <a:xfrm>
            <a:off x="4462272" y="3931920"/>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07992" y="4041648"/>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10%</a:t>
            </a:r>
          </a:p>
        </p:txBody>
      </p:sp>
      <p:sp>
        <p:nvSpPr>
          <p:cNvPr id="74" name="Rectangle 73"/>
          <p:cNvSpPr/>
          <p:nvPr/>
        </p:nvSpPr>
        <p:spPr>
          <a:xfrm>
            <a:off x="640080" y="4370832"/>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85800" y="4480560"/>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Bioderma Photoderm</a:t>
            </a:r>
          </a:p>
        </p:txBody>
      </p:sp>
      <p:sp>
        <p:nvSpPr>
          <p:cNvPr id="76" name="Rectangle 75"/>
          <p:cNvSpPr/>
          <p:nvPr/>
        </p:nvSpPr>
        <p:spPr>
          <a:xfrm>
            <a:off x="2304288" y="4370832"/>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350008" y="4480560"/>
            <a:ext cx="658368" cy="228600"/>
          </a:xfrm>
          <a:prstGeom prst="rect">
            <a:avLst/>
          </a:prstGeom>
          <a:noFill/>
        </p:spPr>
        <p:txBody>
          <a:bodyPr wrap="square" lIns="36576" rIns="36576" tIns="18288" bIns="18288">
            <a:spAutoFit/>
          </a:bodyPr>
          <a:lstStyle/>
          <a:p>
            <a:pPr algn="l"/>
            <a:r>
              <a:rPr sz="780" b="0" i="0">
                <a:solidFill>
                  <a:srgbClr val="0F172A"/>
                </a:solidFill>
                <a:latin typeface="Inter"/>
              </a:rPr>
              <a:t>₹1,575</a:t>
            </a:r>
          </a:p>
        </p:txBody>
      </p:sp>
      <p:sp>
        <p:nvSpPr>
          <p:cNvPr id="78" name="Rectangle 77"/>
          <p:cNvSpPr/>
          <p:nvPr/>
        </p:nvSpPr>
        <p:spPr>
          <a:xfrm>
            <a:off x="3054096" y="4370832"/>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099816" y="4480560"/>
            <a:ext cx="658368" cy="228600"/>
          </a:xfrm>
          <a:prstGeom prst="rect">
            <a:avLst/>
          </a:prstGeom>
          <a:noFill/>
        </p:spPr>
        <p:txBody>
          <a:bodyPr wrap="square" lIns="36576" rIns="36576" tIns="18288" bIns="18288">
            <a:spAutoFit/>
          </a:bodyPr>
          <a:lstStyle/>
          <a:p>
            <a:pPr algn="l"/>
            <a:r>
              <a:rPr sz="780" b="0" i="0">
                <a:solidFill>
                  <a:srgbClr val="0F172A"/>
                </a:solidFill>
                <a:latin typeface="Inter"/>
              </a:rPr>
              <a:t>40ml</a:t>
            </a:r>
          </a:p>
        </p:txBody>
      </p:sp>
      <p:sp>
        <p:nvSpPr>
          <p:cNvPr id="80" name="Rectangle 79"/>
          <p:cNvSpPr/>
          <p:nvPr/>
        </p:nvSpPr>
        <p:spPr>
          <a:xfrm>
            <a:off x="3803904" y="4370832"/>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849624" y="4480560"/>
            <a:ext cx="56692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82" name="Rectangle 81"/>
          <p:cNvSpPr/>
          <p:nvPr/>
        </p:nvSpPr>
        <p:spPr>
          <a:xfrm>
            <a:off x="4462272" y="4370832"/>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07992" y="4480560"/>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5%</a:t>
            </a:r>
          </a:p>
        </p:txBody>
      </p:sp>
      <p:sp>
        <p:nvSpPr>
          <p:cNvPr id="84" name="Rectangle 83"/>
          <p:cNvSpPr/>
          <p:nvPr/>
        </p:nvSpPr>
        <p:spPr>
          <a:xfrm>
            <a:off x="640080" y="4809744"/>
            <a:ext cx="16459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85800" y="4919472"/>
            <a:ext cx="1572768" cy="228600"/>
          </a:xfrm>
          <a:prstGeom prst="rect">
            <a:avLst/>
          </a:prstGeom>
          <a:noFill/>
        </p:spPr>
        <p:txBody>
          <a:bodyPr wrap="square" lIns="36576" rIns="36576" tIns="18288" bIns="18288">
            <a:spAutoFit/>
          </a:bodyPr>
          <a:lstStyle/>
          <a:p>
            <a:pPr algn="l"/>
            <a:r>
              <a:rPr sz="780" b="0" i="0">
                <a:solidFill>
                  <a:srgbClr val="0F172A"/>
                </a:solidFill>
                <a:latin typeface="Inter"/>
              </a:rPr>
              <a:t>Cetaphil Sun Gel</a:t>
            </a:r>
          </a:p>
        </p:txBody>
      </p:sp>
      <p:sp>
        <p:nvSpPr>
          <p:cNvPr id="86" name="Rectangle 85"/>
          <p:cNvSpPr/>
          <p:nvPr/>
        </p:nvSpPr>
        <p:spPr>
          <a:xfrm>
            <a:off x="2304288" y="4809744"/>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350008" y="4919472"/>
            <a:ext cx="658368" cy="228600"/>
          </a:xfrm>
          <a:prstGeom prst="rect">
            <a:avLst/>
          </a:prstGeom>
          <a:noFill/>
        </p:spPr>
        <p:txBody>
          <a:bodyPr wrap="square" lIns="36576" rIns="36576" tIns="18288" bIns="18288">
            <a:spAutoFit/>
          </a:bodyPr>
          <a:lstStyle/>
          <a:p>
            <a:pPr algn="l"/>
            <a:r>
              <a:rPr sz="780" b="0" i="0">
                <a:solidFill>
                  <a:srgbClr val="0F172A"/>
                </a:solidFill>
                <a:latin typeface="Inter"/>
              </a:rPr>
              <a:t>₹1,080</a:t>
            </a:r>
          </a:p>
        </p:txBody>
      </p:sp>
      <p:sp>
        <p:nvSpPr>
          <p:cNvPr id="88" name="Rectangle 87"/>
          <p:cNvSpPr/>
          <p:nvPr/>
        </p:nvSpPr>
        <p:spPr>
          <a:xfrm>
            <a:off x="3054096" y="4809744"/>
            <a:ext cx="73152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099816" y="4919472"/>
            <a:ext cx="658368" cy="228600"/>
          </a:xfrm>
          <a:prstGeom prst="rect">
            <a:avLst/>
          </a:prstGeom>
          <a:noFill/>
        </p:spPr>
        <p:txBody>
          <a:bodyPr wrap="square" lIns="36576" rIns="36576" tIns="18288" bIns="18288">
            <a:spAutoFit/>
          </a:bodyPr>
          <a:lstStyle/>
          <a:p>
            <a:pPr algn="l"/>
            <a:r>
              <a:rPr sz="780" b="0" i="0">
                <a:solidFill>
                  <a:srgbClr val="0F172A"/>
                </a:solidFill>
                <a:latin typeface="Inter"/>
              </a:rPr>
              <a:t>50ml</a:t>
            </a:r>
          </a:p>
        </p:txBody>
      </p:sp>
      <p:sp>
        <p:nvSpPr>
          <p:cNvPr id="90" name="Rectangle 89"/>
          <p:cNvSpPr/>
          <p:nvPr/>
        </p:nvSpPr>
        <p:spPr>
          <a:xfrm>
            <a:off x="3803904" y="4809744"/>
            <a:ext cx="64008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49624" y="4919472"/>
            <a:ext cx="566928" cy="228600"/>
          </a:xfrm>
          <a:prstGeom prst="rect">
            <a:avLst/>
          </a:prstGeom>
          <a:noFill/>
        </p:spPr>
        <p:txBody>
          <a:bodyPr wrap="square" lIns="36576" rIns="36576" tIns="18288" bIns="18288">
            <a:spAutoFit/>
          </a:bodyPr>
          <a:lstStyle/>
          <a:p>
            <a:pPr algn="l"/>
            <a:r>
              <a:rPr sz="780" b="0" i="0">
                <a:solidFill>
                  <a:srgbClr val="0F172A"/>
                </a:solidFill>
                <a:latin typeface="Inter"/>
              </a:rPr>
              <a:t>Yes</a:t>
            </a:r>
          </a:p>
        </p:txBody>
      </p:sp>
      <p:sp>
        <p:nvSpPr>
          <p:cNvPr id="92" name="Rectangle 91"/>
          <p:cNvSpPr/>
          <p:nvPr/>
        </p:nvSpPr>
        <p:spPr>
          <a:xfrm>
            <a:off x="4462272" y="4809744"/>
            <a:ext cx="1371600" cy="438912"/>
          </a:xfrm>
          <a:prstGeom prst="rect">
            <a:avLst/>
          </a:prstGeom>
          <a:solidFill>
            <a:srgbClr val="FFFFFF"/>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07992" y="4919472"/>
            <a:ext cx="1298448" cy="228600"/>
          </a:xfrm>
          <a:prstGeom prst="rect">
            <a:avLst/>
          </a:prstGeom>
          <a:noFill/>
        </p:spPr>
        <p:txBody>
          <a:bodyPr wrap="square" lIns="36576" rIns="36576" tIns="18288" bIns="18288">
            <a:spAutoFit/>
          </a:bodyPr>
          <a:lstStyle/>
          <a:p>
            <a:pPr algn="l"/>
            <a:r>
              <a:rPr sz="780" b="0" i="0">
                <a:solidFill>
                  <a:srgbClr val="0F172A"/>
                </a:solidFill>
                <a:latin typeface="Inter"/>
              </a:rPr>
              <a:t>● current</a:t>
            </a:r>
          </a:p>
        </p:txBody>
      </p:sp>
      <p:sp>
        <p:nvSpPr>
          <p:cNvPr id="94" name="Rectangle 93"/>
          <p:cNvSpPr/>
          <p:nvPr/>
        </p:nvSpPr>
        <p:spPr>
          <a:xfrm>
            <a:off x="640080" y="5248656"/>
            <a:ext cx="1645920" cy="43891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85800" y="5358384"/>
            <a:ext cx="1572768" cy="228600"/>
          </a:xfrm>
          <a:prstGeom prst="rect">
            <a:avLst/>
          </a:prstGeom>
          <a:noFill/>
        </p:spPr>
        <p:txBody>
          <a:bodyPr wrap="square" lIns="36576" rIns="36576" tIns="18288" bIns="18288">
            <a:spAutoFit/>
          </a:bodyPr>
          <a:lstStyle/>
          <a:p>
            <a:pPr algn="l"/>
            <a:r>
              <a:rPr sz="780" b="1" i="0">
                <a:solidFill>
                  <a:srgbClr val="0F172A"/>
                </a:solidFill>
                <a:latin typeface="Inter"/>
              </a:rPr>
              <a:t>★ Proposed Entry</a:t>
            </a:r>
          </a:p>
        </p:txBody>
      </p:sp>
      <p:sp>
        <p:nvSpPr>
          <p:cNvPr id="96" name="Rectangle 95"/>
          <p:cNvSpPr/>
          <p:nvPr/>
        </p:nvSpPr>
        <p:spPr>
          <a:xfrm>
            <a:off x="2304288" y="5248656"/>
            <a:ext cx="731520" cy="43891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50008" y="5358384"/>
            <a:ext cx="658368" cy="228600"/>
          </a:xfrm>
          <a:prstGeom prst="rect">
            <a:avLst/>
          </a:prstGeom>
          <a:noFill/>
        </p:spPr>
        <p:txBody>
          <a:bodyPr wrap="square" lIns="36576" rIns="36576" tIns="18288" bIns="18288">
            <a:spAutoFit/>
          </a:bodyPr>
          <a:lstStyle/>
          <a:p>
            <a:pPr algn="l"/>
            <a:r>
              <a:rPr sz="780" b="1" i="0">
                <a:solidFill>
                  <a:srgbClr val="EA580C"/>
                </a:solidFill>
                <a:latin typeface="Inter"/>
              </a:rPr>
              <a:t>₹449</a:t>
            </a:r>
          </a:p>
        </p:txBody>
      </p:sp>
      <p:sp>
        <p:nvSpPr>
          <p:cNvPr id="98" name="Rectangle 97"/>
          <p:cNvSpPr/>
          <p:nvPr/>
        </p:nvSpPr>
        <p:spPr>
          <a:xfrm>
            <a:off x="3054096" y="5248656"/>
            <a:ext cx="731520" cy="43891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99816" y="5358384"/>
            <a:ext cx="658368" cy="228600"/>
          </a:xfrm>
          <a:prstGeom prst="rect">
            <a:avLst/>
          </a:prstGeom>
          <a:noFill/>
        </p:spPr>
        <p:txBody>
          <a:bodyPr wrap="square" lIns="36576" rIns="36576" tIns="18288" bIns="18288">
            <a:spAutoFit/>
          </a:bodyPr>
          <a:lstStyle/>
          <a:p>
            <a:pPr algn="l"/>
            <a:r>
              <a:rPr sz="780" b="1" i="0">
                <a:solidFill>
                  <a:srgbClr val="EA580C"/>
                </a:solidFill>
                <a:latin typeface="Inter"/>
              </a:rPr>
              <a:t>50ml</a:t>
            </a:r>
          </a:p>
        </p:txBody>
      </p:sp>
      <p:sp>
        <p:nvSpPr>
          <p:cNvPr id="100" name="Rectangle 99"/>
          <p:cNvSpPr/>
          <p:nvPr/>
        </p:nvSpPr>
        <p:spPr>
          <a:xfrm>
            <a:off x="3803904" y="5248656"/>
            <a:ext cx="640080" cy="43891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849624" y="5358384"/>
            <a:ext cx="566928" cy="228600"/>
          </a:xfrm>
          <a:prstGeom prst="rect">
            <a:avLst/>
          </a:prstGeom>
          <a:noFill/>
        </p:spPr>
        <p:txBody>
          <a:bodyPr wrap="square" lIns="36576" rIns="36576" tIns="18288" bIns="18288">
            <a:spAutoFit/>
          </a:bodyPr>
          <a:lstStyle/>
          <a:p>
            <a:pPr algn="l"/>
            <a:r>
              <a:rPr sz="780" b="1" i="0">
                <a:solidFill>
                  <a:srgbClr val="EA580C"/>
                </a:solidFill>
                <a:latin typeface="Inter"/>
              </a:rPr>
              <a:t>Yes</a:t>
            </a:r>
          </a:p>
        </p:txBody>
      </p:sp>
      <p:sp>
        <p:nvSpPr>
          <p:cNvPr id="102" name="Rectangle 101"/>
          <p:cNvSpPr/>
          <p:nvPr/>
        </p:nvSpPr>
        <p:spPr>
          <a:xfrm>
            <a:off x="4462272" y="5248656"/>
            <a:ext cx="1371600" cy="438912"/>
          </a:xfrm>
          <a:prstGeom prst="rect">
            <a:avLst/>
          </a:prstGeom>
          <a:solidFill>
            <a:srgbClr val="FFF7ED"/>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07992" y="5358384"/>
            <a:ext cx="1298448" cy="228600"/>
          </a:xfrm>
          <a:prstGeom prst="rect">
            <a:avLst/>
          </a:prstGeom>
          <a:noFill/>
        </p:spPr>
        <p:txBody>
          <a:bodyPr wrap="square" lIns="36576" rIns="36576" tIns="18288" bIns="18288">
            <a:spAutoFit/>
          </a:bodyPr>
          <a:lstStyle/>
          <a:p>
            <a:pPr algn="l"/>
            <a:r>
              <a:rPr sz="780" b="1" i="0">
                <a:solidFill>
                  <a:srgbClr val="EA580C"/>
                </a:solidFill>
                <a:latin typeface="Inter"/>
              </a:rPr>
              <a:t>15% (Yr2)</a:t>
            </a:r>
          </a:p>
        </p:txBody>
      </p:sp>
      <p:sp>
        <p:nvSpPr>
          <p:cNvPr id="104" name="Rounded Rectangle 103"/>
          <p:cNvSpPr/>
          <p:nvPr/>
        </p:nvSpPr>
        <p:spPr>
          <a:xfrm>
            <a:off x="6217920" y="1371600"/>
            <a:ext cx="5486400" cy="493776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400800" y="1463040"/>
            <a:ext cx="5120640" cy="228600"/>
          </a:xfrm>
          <a:prstGeom prst="rect">
            <a:avLst/>
          </a:prstGeom>
          <a:noFill/>
        </p:spPr>
        <p:txBody>
          <a:bodyPr wrap="square" lIns="36576" rIns="36576" tIns="18288" bIns="18288">
            <a:spAutoFit/>
          </a:bodyPr>
          <a:lstStyle/>
          <a:p>
            <a:pPr algn="l"/>
            <a:r>
              <a:rPr sz="950" b="1" i="0">
                <a:solidFill>
                  <a:srgbClr val="EA580C"/>
                </a:solidFill>
                <a:latin typeface="Outfit"/>
              </a:rPr>
              <a:t>B. CONSUMER SURVEY INSIGHTS (N=500)</a:t>
            </a:r>
          </a:p>
        </p:txBody>
      </p:sp>
      <p:sp>
        <p:nvSpPr>
          <p:cNvPr id="106" name="TextBox 105"/>
          <p:cNvSpPr txBox="1"/>
          <p:nvPr/>
        </p:nvSpPr>
        <p:spPr>
          <a:xfrm>
            <a:off x="6400800" y="1737360"/>
            <a:ext cx="5120640" cy="1280160"/>
          </a:xfrm>
          <a:prstGeom prst="rect">
            <a:avLst/>
          </a:prstGeom>
          <a:noFill/>
        </p:spPr>
        <p:txBody>
          <a:bodyPr wrap="square" lIns="36576" rIns="36576" tIns="18288" bIns="18288">
            <a:spAutoFit/>
          </a:bodyPr>
          <a:lstStyle/>
          <a:p>
            <a:pPr algn="l"/>
            <a:r>
              <a:rPr sz="819" b="0" i="0">
                <a:solidFill>
                  <a:srgbClr val="0F172A"/>
                </a:solidFill>
                <a:latin typeface="Inter"/>
              </a:rPr>
              <a:t>• 72% reject thick sunscreens due to greasy feel and sweat breakouts.
• 68% prefer lightweight gel/serum formulations over heavy cream.
• 78% indicate a doctor's recommendation is the top switch trigger.
• 65% research skincare ingredients on Instagram/YouTube.
• 48% target the ₹400-800 price range as their sunscreen sweet-spot.</a:t>
            </a:r>
          </a:p>
        </p:txBody>
      </p:sp>
      <p:sp>
        <p:nvSpPr>
          <p:cNvPr id="107" name="TextBox 106"/>
          <p:cNvSpPr txBox="1"/>
          <p:nvPr/>
        </p:nvSpPr>
        <p:spPr>
          <a:xfrm>
            <a:off x="6400800" y="3154680"/>
            <a:ext cx="5120640" cy="228600"/>
          </a:xfrm>
          <a:prstGeom prst="rect">
            <a:avLst/>
          </a:prstGeom>
          <a:noFill/>
        </p:spPr>
        <p:txBody>
          <a:bodyPr wrap="square" lIns="36576" rIns="36576" tIns="18288" bIns="18288">
            <a:spAutoFit/>
          </a:bodyPr>
          <a:lstStyle/>
          <a:p>
            <a:pPr algn="l"/>
            <a:r>
              <a:rPr sz="950" b="1" i="0">
                <a:solidFill>
                  <a:srgbClr val="059669"/>
                </a:solidFill>
                <a:latin typeface="Outfit"/>
              </a:rPr>
              <a:t>C. PRICE LADDER UNIT ECONOMICS DETAIL</a:t>
            </a:r>
          </a:p>
        </p:txBody>
      </p:sp>
      <p:sp>
        <p:nvSpPr>
          <p:cNvPr id="108" name="TextBox 107"/>
          <p:cNvSpPr txBox="1"/>
          <p:nvPr/>
        </p:nvSpPr>
        <p:spPr>
          <a:xfrm>
            <a:off x="6400800" y="3429000"/>
            <a:ext cx="5120640" cy="1097280"/>
          </a:xfrm>
          <a:prstGeom prst="rect">
            <a:avLst/>
          </a:prstGeom>
          <a:noFill/>
        </p:spPr>
        <p:txBody>
          <a:bodyPr wrap="square" lIns="36576" rIns="36576" tIns="18288" bIns="18288">
            <a:spAutoFit/>
          </a:bodyPr>
          <a:lstStyle/>
          <a:p>
            <a:pPr algn="l"/>
            <a:r>
              <a:rPr sz="819" b="0" i="0">
                <a:solidFill>
                  <a:srgbClr val="0F172A"/>
                </a:solidFill>
                <a:latin typeface="Inter"/>
              </a:rPr>
              <a:t>• COGS per unit: ₹200 (MRP ₹449 Entry SKU) | ₹205 (MRP ₹930 Age Defense SKU).
• Distributor margins: 8% of selling price; Retail margin: 20–22% of selling price.
• Nykaa commission: 32–35% of MRP; Q-commerce margins: 28% of MRP.
• Marketing A&amp;P allocation: Year 1 15% of revenue, Year 3+ 10% of revenue.</a:t>
            </a:r>
          </a:p>
        </p:txBody>
      </p:sp>
      <p:sp>
        <p:nvSpPr>
          <p:cNvPr id="109" name="TextBox 108"/>
          <p:cNvSpPr txBox="1"/>
          <p:nvPr/>
        </p:nvSpPr>
        <p:spPr>
          <a:xfrm>
            <a:off x="6400800" y="4617720"/>
            <a:ext cx="5120640" cy="228600"/>
          </a:xfrm>
          <a:prstGeom prst="rect">
            <a:avLst/>
          </a:prstGeom>
          <a:noFill/>
        </p:spPr>
        <p:txBody>
          <a:bodyPr wrap="square" lIns="36576" rIns="36576" tIns="18288" bIns="18288">
            <a:spAutoFit/>
          </a:bodyPr>
          <a:lstStyle/>
          <a:p>
            <a:pPr algn="l"/>
            <a:r>
              <a:rPr sz="950" b="1" i="0">
                <a:solidFill>
                  <a:srgbClr val="7C3AED"/>
                </a:solidFill>
                <a:latin typeface="Outfit"/>
              </a:rPr>
              <a:t>D. ANALYTICAL REFERENCES &amp; REPORT SOURCES</a:t>
            </a:r>
          </a:p>
        </p:txBody>
      </p:sp>
      <p:sp>
        <p:nvSpPr>
          <p:cNvPr id="110" name="TextBox 109"/>
          <p:cNvSpPr txBox="1"/>
          <p:nvPr/>
        </p:nvSpPr>
        <p:spPr>
          <a:xfrm>
            <a:off x="6400800" y="4892040"/>
            <a:ext cx="5120640" cy="1280160"/>
          </a:xfrm>
          <a:prstGeom prst="rect">
            <a:avLst/>
          </a:prstGeom>
          <a:noFill/>
        </p:spPr>
        <p:txBody>
          <a:bodyPr wrap="square" lIns="36576" rIns="36576" tIns="18288" bIns="18288">
            <a:spAutoFit/>
          </a:bodyPr>
          <a:lstStyle/>
          <a:p>
            <a:pPr algn="l"/>
            <a:r>
              <a:rPr sz="780" b="0" i="0">
                <a:solidFill>
                  <a:srgbClr val="0F172A"/>
                </a:solidFill>
                <a:latin typeface="Inter"/>
              </a:rPr>
              <a:t>[1] Euromonitor Passport: Beauty and Personal Care India Report 2024
[2] Galderma Sunscreen Consumer Survey N=500, India Metros, July 2024
[3] Nykaa &amp; Amazon Sunscreen E-commerce listings audit, N=50 SKUs, Aug 2024
[4] Mintel: Digital Skincare Consumer Report India, October 2023
[5] Nielsen: FMCG Skin Care Category Report &amp; Pricing Elasticity Study, 2023
[6] Nielsen HCP Influence Study: Dermatologist Recommendations Report, 2023</a:t>
            </a:r>
          </a:p>
        </p:txBody>
      </p:sp>
      <p:sp>
        <p:nvSpPr>
          <p:cNvPr id="111" name="Rectangle 110"/>
          <p:cNvSpPr/>
          <p:nvPr/>
        </p:nvSpPr>
        <p:spPr>
          <a:xfrm>
            <a:off x="0" y="6492240"/>
            <a:ext cx="12191695" cy="365760"/>
          </a:xfrm>
          <a:prstGeom prst="rect">
            <a:avLst/>
          </a:prstGeom>
          <a:solidFill>
            <a:srgbClr val="F8FAFC"/>
          </a:solidFill>
          <a:ln w="50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7200" y="6547104"/>
            <a:ext cx="8686800" cy="237744"/>
          </a:xfrm>
          <a:prstGeom prst="rect">
            <a:avLst/>
          </a:prstGeom>
          <a:noFill/>
        </p:spPr>
        <p:txBody>
          <a:bodyPr wrap="square" lIns="36576" rIns="36576" tIns="18288" bIns="18288">
            <a:spAutoFit/>
          </a:bodyPr>
          <a:lstStyle/>
          <a:p>
            <a:pPr algn="l"/>
            <a:r>
              <a:rPr sz="800" b="0" i="0">
                <a:solidFill>
                  <a:srgbClr val="64748B"/>
                </a:solidFill>
                <a:latin typeface="Inter"/>
              </a:rPr>
              <a:t>Appendix references are based on audited reports and consumer surveys executed in 2023-2024</a:t>
            </a:r>
          </a:p>
        </p:txBody>
      </p:sp>
      <p:sp>
        <p:nvSpPr>
          <p:cNvPr id="113" name="TextBox 112"/>
          <p:cNvSpPr txBox="1"/>
          <p:nvPr/>
        </p:nvSpPr>
        <p:spPr>
          <a:xfrm>
            <a:off x="9326880" y="6547104"/>
            <a:ext cx="2377440" cy="237744"/>
          </a:xfrm>
          <a:prstGeom prst="rect">
            <a:avLst/>
          </a:prstGeom>
          <a:noFill/>
        </p:spPr>
        <p:txBody>
          <a:bodyPr wrap="square" lIns="36576" rIns="36576" tIns="18288" bIns="18288">
            <a:spAutoFit/>
          </a:bodyPr>
          <a:lstStyle/>
          <a:p>
            <a:pPr algn="r"/>
            <a:r>
              <a:rPr sz="800" b="1" i="0">
                <a:solidFill>
                  <a:srgbClr val="64748B"/>
                </a:solidFill>
                <a:latin typeface="Outfit"/>
              </a:rPr>
              <a:t>Slide 14 of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